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8" r:id="rId1"/>
  </p:sldMasterIdLst>
  <p:notesMasterIdLst>
    <p:notesMasterId r:id="rId7"/>
  </p:notesMasterIdLst>
  <p:sldIdLst>
    <p:sldId id="262" r:id="rId2"/>
    <p:sldId id="265" r:id="rId3"/>
    <p:sldId id="263" r:id="rId4"/>
    <p:sldId id="264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3E8A91A-6641-4A2C-A33A-DA42D9BB9350}" v="1008" dt="2026-03-14T10:09:54.99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6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99521B-7E01-40CA-A5A1-870F27F89A99}" type="datetimeFigureOut">
              <a:rPr lang="ko-KR" altLang="en-US" smtClean="0"/>
              <a:t>2026-04-01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F62642-B742-43C0-97F1-8487F09BA7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40584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B11B3-3FD2-4703-A0F2-FFA322B3FE15}" type="datetime1">
              <a:rPr lang="en-US" altLang="ko-KR" smtClean="0"/>
              <a:t>4/1/2026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69EE9-9783-BD43-820A-4D3C60EDBE0D}" type="slidenum">
              <a:rPr lang="en-US" altLang="ko-KR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47413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C014F-D90E-4A87-BC7F-CA40DA075553}" type="datetime1">
              <a:rPr lang="en-US" altLang="ko-KR" smtClean="0"/>
              <a:t>4/1/2026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69EE9-9783-BD43-820A-4D3C60EDBE0D}" type="slidenum">
              <a:rPr lang="en-US" altLang="ko-KR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19452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C8750-6230-4544-8CBD-EBE46CC4CC68}" type="datetime1">
              <a:rPr lang="en-US" altLang="ko-KR" smtClean="0"/>
              <a:t>4/1/2026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69EE9-9783-BD43-820A-4D3C60EDBE0D}" type="slidenum">
              <a:rPr lang="en-US" altLang="ko-KR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36051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70C9A-2423-4660-A8C4-BA70C4BF99D9}" type="datetime1">
              <a:rPr lang="en-US" altLang="ko-KR" smtClean="0"/>
              <a:t>4/1/2026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69EE9-9783-BD43-820A-4D3C60EDBE0D}" type="slidenum">
              <a:rPr lang="en-US" altLang="ko-KR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65403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AB169-1CC0-45E1-9B0D-406C0CF1F48C}" type="datetime1">
              <a:rPr lang="en-US" altLang="ko-KR" smtClean="0"/>
              <a:t>4/1/2026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69EE9-9783-BD43-820A-4D3C60EDBE0D}" type="slidenum">
              <a:rPr lang="en-US" altLang="ko-KR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48593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0D6D3-4F8A-4E27-912B-A8E8DD55DD9A}" type="datetime1">
              <a:rPr lang="en-US" altLang="ko-KR" smtClean="0"/>
              <a:t>4/1/2026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69EE9-9783-BD43-820A-4D3C60EDBE0D}" type="slidenum">
              <a:rPr lang="en-US" altLang="ko-KR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96014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38086-00B5-4152-9DC2-F9E98C1086AE}" type="datetime1">
              <a:rPr lang="en-US" altLang="ko-KR" smtClean="0"/>
              <a:t>4/1/2026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69EE9-9783-BD43-820A-4D3C60EDBE0D}" type="slidenum">
              <a:rPr lang="en-US" altLang="ko-KR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05312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4C8F3-41C0-4C7A-BC7B-64F79FC832E3}" type="datetime1">
              <a:rPr lang="en-US" altLang="ko-KR" smtClean="0"/>
              <a:t>4/1/2026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69EE9-9783-BD43-820A-4D3C60EDBE0D}" type="slidenum">
              <a:rPr lang="en-US" altLang="ko-KR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84824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E6BD0-FCFF-41ED-A2E4-BE0D8CA6C6A0}" type="datetime1">
              <a:rPr lang="en-US" altLang="ko-KR" smtClean="0"/>
              <a:t>4/1/2026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69EE9-9783-BD43-820A-4D3C60EDBE0D}" type="slidenum">
              <a:rPr lang="en-US" altLang="ko-KR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34460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16676-822C-4439-B4DF-B04351489C0D}" type="datetime1">
              <a:rPr lang="en-US" altLang="ko-KR" smtClean="0"/>
              <a:t>4/1/2026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69EE9-9783-BD43-820A-4D3C60EDBE0D}" type="slidenum">
              <a:rPr lang="en-US" altLang="ko-KR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79669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DE237-F88C-4A0D-B1D4-5B020EF86211}" type="datetime1">
              <a:rPr lang="en-US" altLang="ko-KR" smtClean="0"/>
              <a:t>4/1/2026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69EE9-9783-BD43-820A-4D3C60EDBE0D}" type="slidenum">
              <a:rPr lang="en-US" altLang="ko-KR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38445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E4E982-DB95-4CF3-8E46-7BD2E06D5ED8}" type="datetime1">
              <a:rPr lang="en-US" altLang="ko-KR" smtClean="0"/>
              <a:t>4/1/2026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269EE9-9783-BD43-820A-4D3C60EDBE0D}" type="slidenum">
              <a:rPr lang="en-US" altLang="ko-KR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43181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hf hd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71CEBC-9776-0A16-00AB-3F6396183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Group 71">
            <a:extLst>
              <a:ext uri="{FF2B5EF4-FFF2-40B4-BE49-F238E27FC236}">
                <a16:creationId xmlns:a16="http://schemas.microsoft.com/office/drawing/2014/main" id="{88950C9D-6355-B152-44A7-E83E10AD6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-29768"/>
            <a:ext cx="12202175" cy="1519356"/>
            <a:chOff x="-1" y="-29768"/>
            <a:chExt cx="12202175" cy="1519356"/>
          </a:xfrm>
        </p:grpSpPr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A1A12840-3509-368D-7C3A-AF82B6CC80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41412" y="-5371175"/>
              <a:ext cx="1519350" cy="12202174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0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9D20F785-F238-727B-F5EF-61EE779D7C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8917093" y="-1801610"/>
              <a:ext cx="1507122" cy="5063040"/>
            </a:xfrm>
            <a:prstGeom prst="rect">
              <a:avLst/>
            </a:prstGeom>
            <a:gradFill>
              <a:gsLst>
                <a:gs pos="5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1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FF11F81E-F9A0-D99C-7A20-531A24DE31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3100712" y="-3130481"/>
              <a:ext cx="1519356" cy="7720782"/>
            </a:xfrm>
            <a:prstGeom prst="rect">
              <a:avLst/>
            </a:prstGeom>
            <a:gradFill>
              <a:gsLst>
                <a:gs pos="2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75000"/>
                  </a:schemeClr>
                </a:gs>
              </a:gsLst>
              <a:lin ang="1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83DB00F1-9E58-8D33-9C30-68EDE1F8FF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1" y="301843"/>
            <a:ext cx="10477109" cy="100353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lang="en-US" altLang="ko-KR" sz="3600" dirty="0">
                <a:solidFill>
                  <a:schemeClr val="bg1"/>
                </a:solidFill>
                <a:latin typeface="HY그래픽M" panose="02030600000101010101" pitchFamily="18" charset="-127"/>
                <a:ea typeface="HY그래픽M" panose="02030600000101010101" pitchFamily="18" charset="-127"/>
              </a:rPr>
              <a:t>Role Definition</a:t>
            </a:r>
            <a:endParaRPr lang="en-US" altLang="ko-KR" sz="3600" kern="1200" dirty="0">
              <a:solidFill>
                <a:schemeClr val="bg1"/>
              </a:solidFill>
              <a:latin typeface="HY그래픽M" panose="02030600000101010101" pitchFamily="18" charset="-127"/>
              <a:ea typeface="HY그래픽M" panose="02030600000101010101" pitchFamily="18" charset="-127"/>
            </a:endParaRPr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F4DD0B6-FAD8-BA56-58D8-0EF66BF8F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FFBCC84-D442-A172-67DE-2238E96BA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69EE9-9783-BD43-820A-4D3C60EDBE0D}" type="slidenum">
              <a:rPr lang="en-US" altLang="ko-KR" smtClean="0"/>
              <a:t>1</a:t>
            </a:fld>
            <a:endParaRPr lang="ko-KR" altLang="en-US" dirty="0"/>
          </a:p>
        </p:txBody>
      </p:sp>
      <p:sp>
        <p:nvSpPr>
          <p:cNvPr id="9" name="내용 개체 틀 8">
            <a:extLst>
              <a:ext uri="{FF2B5EF4-FFF2-40B4-BE49-F238E27FC236}">
                <a16:creationId xmlns:a16="http://schemas.microsoft.com/office/drawing/2014/main" id="{F3395527-6C33-652B-C409-6DB4886C3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프로젝트 참여자의 역할과 책임을 정의</a:t>
            </a:r>
          </a:p>
        </p:txBody>
      </p:sp>
      <p:pic>
        <p:nvPicPr>
          <p:cNvPr id="11" name="비디오 10" title="그리기와 색칠하기를 하는 어린이">
            <a:hlinkClick r:id="" action="ppaction://media"/>
            <a:extLst>
              <a:ext uri="{FF2B5EF4-FFF2-40B4-BE49-F238E27FC236}">
                <a16:creationId xmlns:a16="http://schemas.microsoft.com/office/drawing/2014/main" id="{1330EAB3-A4DF-4070-935F-BFA0E173C782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97429" y="2564261"/>
            <a:ext cx="9024257" cy="3612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8858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10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4045BB-8465-9A35-FA71-009B02172F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Group 71">
            <a:extLst>
              <a:ext uri="{FF2B5EF4-FFF2-40B4-BE49-F238E27FC236}">
                <a16:creationId xmlns:a16="http://schemas.microsoft.com/office/drawing/2014/main" id="{81B2A684-1C28-F9B2-70B5-C2D8F369EB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-29768"/>
            <a:ext cx="12202175" cy="1519356"/>
            <a:chOff x="-1" y="-29768"/>
            <a:chExt cx="12202175" cy="1519356"/>
          </a:xfrm>
        </p:grpSpPr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5D89C377-727A-7380-EADF-64CCEE912C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41412" y="-5371175"/>
              <a:ext cx="1519350" cy="12202174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0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B35B0EE8-0E90-AAA4-3693-7523EE9312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8917093" y="-1801610"/>
              <a:ext cx="1507122" cy="5063040"/>
            </a:xfrm>
            <a:prstGeom prst="rect">
              <a:avLst/>
            </a:prstGeom>
            <a:gradFill>
              <a:gsLst>
                <a:gs pos="5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1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E944619A-2DA8-21EB-1664-0890628864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3100712" y="-3130481"/>
              <a:ext cx="1519356" cy="7720782"/>
            </a:xfrm>
            <a:prstGeom prst="rect">
              <a:avLst/>
            </a:prstGeom>
            <a:gradFill>
              <a:gsLst>
                <a:gs pos="2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75000"/>
                  </a:schemeClr>
                </a:gs>
              </a:gsLst>
              <a:lin ang="1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BEA6BAAB-1CBC-F983-4DE5-32A1553910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1" y="301843"/>
            <a:ext cx="10477109" cy="100353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lang="en-US" altLang="ko-KR" sz="3600" dirty="0">
                <a:solidFill>
                  <a:schemeClr val="bg1"/>
                </a:solidFill>
                <a:latin typeface="HY그래픽M" panose="02030600000101010101" pitchFamily="18" charset="-127"/>
                <a:ea typeface="HY그래픽M" panose="02030600000101010101" pitchFamily="18" charset="-127"/>
              </a:rPr>
              <a:t>System Architecture Design </a:t>
            </a:r>
            <a:endParaRPr lang="en-US" altLang="ko-KR" sz="3600" kern="1200" dirty="0">
              <a:solidFill>
                <a:schemeClr val="bg1"/>
              </a:solidFill>
              <a:latin typeface="HY그래픽M" panose="02030600000101010101" pitchFamily="18" charset="-127"/>
              <a:ea typeface="HY그래픽M" panose="02030600000101010101" pitchFamily="18" charset="-127"/>
            </a:endParaRPr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24F7883-7C43-0C2C-96B4-66BAB84A9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3A49017-AC45-1C90-1ADE-F81C8FE47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69EE9-9783-BD43-820A-4D3C60EDBE0D}" type="slidenum">
              <a:rPr lang="en-US" altLang="ko-KR" smtClean="0"/>
              <a:t>2</a:t>
            </a:fld>
            <a:endParaRPr lang="ko-KR" altLang="en-US" dirty="0"/>
          </a:p>
        </p:txBody>
      </p:sp>
      <p:graphicFrame>
        <p:nvGraphicFramePr>
          <p:cNvPr id="6" name="내용 개체 틀 14">
            <a:extLst>
              <a:ext uri="{FF2B5EF4-FFF2-40B4-BE49-F238E27FC236}">
                <a16:creationId xmlns:a16="http://schemas.microsoft.com/office/drawing/2014/main" id="{1CB2FCC6-2B48-A08B-666A-153C6AD9FFA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19140347"/>
              </p:ext>
            </p:extLst>
          </p:nvPr>
        </p:nvGraphicFramePr>
        <p:xfrm>
          <a:off x="3254830" y="2194192"/>
          <a:ext cx="7881256" cy="4017723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3457497">
                  <a:extLst>
                    <a:ext uri="{9D8B030D-6E8A-4147-A177-3AD203B41FA5}">
                      <a16:colId xmlns:a16="http://schemas.microsoft.com/office/drawing/2014/main" val="1338233715"/>
                    </a:ext>
                  </a:extLst>
                </a:gridCol>
                <a:gridCol w="2580223">
                  <a:extLst>
                    <a:ext uri="{9D8B030D-6E8A-4147-A177-3AD203B41FA5}">
                      <a16:colId xmlns:a16="http://schemas.microsoft.com/office/drawing/2014/main" val="3347503093"/>
                    </a:ext>
                  </a:extLst>
                </a:gridCol>
                <a:gridCol w="1843536">
                  <a:extLst>
                    <a:ext uri="{9D8B030D-6E8A-4147-A177-3AD203B41FA5}">
                      <a16:colId xmlns:a16="http://schemas.microsoft.com/office/drawing/2014/main" val="1221517738"/>
                    </a:ext>
                  </a:extLst>
                </a:gridCol>
              </a:tblGrid>
              <a:tr h="412783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2000" b="0" cap="none" spc="0" dirty="0">
                          <a:solidFill>
                            <a:schemeClr val="tx1"/>
                          </a:solidFill>
                          <a:latin typeface="HY그래픽M" panose="02030600000101010101" pitchFamily="18" charset="-127"/>
                          <a:ea typeface="HY그래픽M" panose="02030600000101010101" pitchFamily="18" charset="-127"/>
                        </a:rPr>
                        <a:t>영역</a:t>
                      </a:r>
                    </a:p>
                  </a:txBody>
                  <a:tcPr marL="139938" marR="139938" marT="73881" marB="73881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2000" b="0" cap="none" spc="0" dirty="0">
                          <a:solidFill>
                            <a:schemeClr val="tx1"/>
                          </a:solidFill>
                          <a:latin typeface="HY그래픽M" panose="02030600000101010101" pitchFamily="18" charset="-127"/>
                          <a:ea typeface="HY그래픽M" panose="02030600000101010101" pitchFamily="18" charset="-127"/>
                        </a:rPr>
                        <a:t>설명</a:t>
                      </a:r>
                    </a:p>
                  </a:txBody>
                  <a:tcPr marL="139938" marR="139938" marT="73881" marB="73881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2000" b="0" cap="none" spc="0" dirty="0">
                          <a:solidFill>
                            <a:schemeClr val="tx1"/>
                          </a:solidFill>
                          <a:latin typeface="HY그래픽M" panose="02030600000101010101" pitchFamily="18" charset="-127"/>
                          <a:ea typeface="HY그래픽M" panose="02030600000101010101" pitchFamily="18" charset="-127"/>
                        </a:rPr>
                        <a:t>담당</a:t>
                      </a:r>
                      <a:endParaRPr lang="en-US" altLang="ko-KR" sz="2000" b="0" cap="none" spc="0" dirty="0">
                        <a:solidFill>
                          <a:schemeClr val="tx1"/>
                        </a:solidFill>
                        <a:latin typeface="HY그래픽M" panose="02030600000101010101" pitchFamily="18" charset="-127"/>
                        <a:ea typeface="HY그래픽M" panose="02030600000101010101" pitchFamily="18" charset="-127"/>
                      </a:endParaRPr>
                    </a:p>
                  </a:txBody>
                  <a:tcPr marL="139938" marR="139938" marT="73881" marB="73881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8307"/>
                  </a:ext>
                </a:extLst>
              </a:tr>
              <a:tr h="80199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>
                          <a:latin typeface="HY그래픽M" panose="02030600000101010101" pitchFamily="18" charset="-127"/>
                          <a:ea typeface="HY그래픽M" panose="02030600000101010101" pitchFamily="18" charset="-127"/>
                        </a:rPr>
                        <a:t>Application Architecture</a:t>
                      </a:r>
                    </a:p>
                  </a:txBody>
                  <a:tcPr marL="139938" marR="139938" marT="73881" marB="73881">
                    <a:lnL w="28575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1600" cap="none" spc="0" dirty="0">
                        <a:solidFill>
                          <a:schemeClr val="tx1"/>
                        </a:solidFill>
                        <a:latin typeface="HY그래픽M" panose="02030600000101010101" pitchFamily="18" charset="-127"/>
                        <a:ea typeface="HY그래픽M" panose="02030600000101010101" pitchFamily="18" charset="-127"/>
                      </a:endParaRPr>
                    </a:p>
                  </a:txBody>
                  <a:tcPr marL="139938" marR="139938" marT="73881" marB="73881">
                    <a:lnL w="12700" cmpd="sng">
                      <a:noFill/>
                      <a:prstDash val="solid"/>
                    </a:lnL>
                    <a:lnR w="28575" cap="flat" cmpd="sng" algn="ctr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1600" cap="none" spc="0">
                        <a:solidFill>
                          <a:schemeClr val="tx1"/>
                        </a:solidFill>
                        <a:latin typeface="HY그래픽M" panose="02030600000101010101" pitchFamily="18" charset="-127"/>
                        <a:ea typeface="HY그래픽M" panose="02030600000101010101" pitchFamily="18" charset="-127"/>
                      </a:endParaRPr>
                    </a:p>
                  </a:txBody>
                  <a:tcPr marL="139938" marR="139938" marT="73881" marB="73881">
                    <a:lnL w="12700" cmpd="sng">
                      <a:noFill/>
                      <a:prstDash val="solid"/>
                    </a:lnL>
                    <a:lnR w="28575" cap="flat" cmpd="sng" algn="ctr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3637338"/>
                  </a:ext>
                </a:extLst>
              </a:tr>
              <a:tr h="801995">
                <a:tc>
                  <a:txBody>
                    <a:bodyPr/>
                    <a:lstStyle/>
                    <a:p>
                      <a:r>
                        <a:rPr lang="en-US" altLang="ko-KR" sz="1600" dirty="0">
                          <a:latin typeface="HY그래픽M" panose="02030600000101010101" pitchFamily="18" charset="-127"/>
                          <a:ea typeface="HY그래픽M" panose="02030600000101010101" pitchFamily="18" charset="-127"/>
                        </a:rPr>
                        <a:t>Cloud Architecture</a:t>
                      </a:r>
                    </a:p>
                  </a:txBody>
                  <a:tcPr marL="139938" marR="139938" marT="73881" marB="7388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cap="none" spc="0" dirty="0">
                        <a:solidFill>
                          <a:schemeClr val="tx1"/>
                        </a:solidFill>
                        <a:latin typeface="HY그래픽M" panose="02030600000101010101" pitchFamily="18" charset="-127"/>
                        <a:ea typeface="HY그래픽M" panose="02030600000101010101" pitchFamily="18" charset="-127"/>
                      </a:endParaRPr>
                    </a:p>
                  </a:txBody>
                  <a:tcPr marL="139938" marR="139938" marT="73881" marB="7388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cap="none" spc="0" dirty="0">
                        <a:solidFill>
                          <a:schemeClr val="tx1"/>
                        </a:solidFill>
                        <a:latin typeface="HY그래픽M" panose="02030600000101010101" pitchFamily="18" charset="-127"/>
                        <a:ea typeface="HY그래픽M" panose="02030600000101010101" pitchFamily="18" charset="-127"/>
                      </a:endParaRPr>
                    </a:p>
                  </a:txBody>
                  <a:tcPr marL="139938" marR="139938" marT="73881" marB="7388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628407"/>
                  </a:ext>
                </a:extLst>
              </a:tr>
              <a:tr h="579588">
                <a:tc>
                  <a:txBody>
                    <a:bodyPr/>
                    <a:lstStyle/>
                    <a:p>
                      <a:r>
                        <a:rPr lang="en-US" altLang="ko-KR" sz="1600" dirty="0">
                          <a:latin typeface="HY그래픽M" panose="02030600000101010101" pitchFamily="18" charset="-127"/>
                          <a:ea typeface="HY그래픽M" panose="02030600000101010101" pitchFamily="18" charset="-127"/>
                        </a:rPr>
                        <a:t>Data Architecture</a:t>
                      </a:r>
                    </a:p>
                  </a:txBody>
                  <a:tcPr marL="139938" marR="139938" marT="73881" marB="73881">
                    <a:lnL w="28575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cap="none" spc="0" dirty="0">
                        <a:solidFill>
                          <a:schemeClr val="tx1"/>
                        </a:solidFill>
                        <a:latin typeface="HY그래픽M" panose="02030600000101010101" pitchFamily="18" charset="-127"/>
                        <a:ea typeface="HY그래픽M" panose="02030600000101010101" pitchFamily="18" charset="-127"/>
                      </a:endParaRPr>
                    </a:p>
                  </a:txBody>
                  <a:tcPr marL="139938" marR="139938" marT="73881" marB="73881">
                    <a:lnL w="12700" cmpd="sng">
                      <a:noFill/>
                      <a:prstDash val="solid"/>
                    </a:lnL>
                    <a:lnR w="28575" cap="flat" cmpd="sng" algn="ctr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cap="none" spc="0" dirty="0">
                        <a:solidFill>
                          <a:schemeClr val="tx1"/>
                        </a:solidFill>
                        <a:latin typeface="HY그래픽M" panose="02030600000101010101" pitchFamily="18" charset="-127"/>
                        <a:ea typeface="HY그래픽M" panose="02030600000101010101" pitchFamily="18" charset="-127"/>
                      </a:endParaRPr>
                    </a:p>
                  </a:txBody>
                  <a:tcPr marL="139938" marR="139938" marT="73881" marB="73881">
                    <a:lnL w="12700" cmpd="sng">
                      <a:noFill/>
                      <a:prstDash val="solid"/>
                    </a:lnL>
                    <a:lnR w="28575" cap="flat" cmpd="sng" algn="ctr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279979"/>
                  </a:ext>
                </a:extLst>
              </a:tr>
              <a:tr h="57958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latin typeface="HY그래픽M" panose="02030600000101010101" pitchFamily="18" charset="-127"/>
                          <a:ea typeface="HY그래픽M" panose="02030600000101010101" pitchFamily="18" charset="-127"/>
                        </a:rPr>
                        <a:t>Infrastructure Architecture</a:t>
                      </a:r>
                      <a:endParaRPr lang="ko-KR" altLang="en-US" sz="1600" cap="none" spc="0" dirty="0">
                        <a:solidFill>
                          <a:schemeClr val="tx1"/>
                        </a:solidFill>
                        <a:latin typeface="HY그래픽M" panose="02030600000101010101" pitchFamily="18" charset="-127"/>
                        <a:ea typeface="HY그래픽M" panose="02030600000101010101" pitchFamily="18" charset="-127"/>
                      </a:endParaRPr>
                    </a:p>
                  </a:txBody>
                  <a:tcPr marL="139938" marR="139938" marT="73881" marB="7388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cap="none" spc="0" dirty="0">
                          <a:solidFill>
                            <a:schemeClr val="tx1"/>
                          </a:solidFill>
                          <a:latin typeface="HY그래픽M" panose="02030600000101010101" pitchFamily="18" charset="-127"/>
                          <a:ea typeface="HY그래픽M" panose="02030600000101010101" pitchFamily="18" charset="-127"/>
                        </a:rPr>
                        <a:t>Network</a:t>
                      </a:r>
                      <a:r>
                        <a:rPr lang="ko-KR" altLang="en-US" sz="1600" cap="none" spc="0" dirty="0">
                          <a:solidFill>
                            <a:schemeClr val="tx1"/>
                          </a:solidFill>
                          <a:latin typeface="HY그래픽M" panose="02030600000101010101" pitchFamily="18" charset="-127"/>
                          <a:ea typeface="HY그래픽M" panose="02030600000101010101" pitchFamily="18" charset="-127"/>
                        </a:rPr>
                        <a:t> </a:t>
                      </a:r>
                      <a:r>
                        <a:rPr lang="en-US" altLang="ko-KR" sz="1600" cap="none" spc="0" dirty="0">
                          <a:solidFill>
                            <a:schemeClr val="tx1"/>
                          </a:solidFill>
                          <a:latin typeface="HY그래픽M" panose="02030600000101010101" pitchFamily="18" charset="-127"/>
                          <a:ea typeface="HY그래픽M" panose="02030600000101010101" pitchFamily="18" charset="-127"/>
                        </a:rPr>
                        <a:t>design</a:t>
                      </a:r>
                    </a:p>
                  </a:txBody>
                  <a:tcPr marL="139938" marR="139938" marT="73881" marB="7388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1600" cap="none" spc="0">
                        <a:solidFill>
                          <a:schemeClr val="tx1"/>
                        </a:solidFill>
                        <a:latin typeface="HY그래픽M" panose="02030600000101010101" pitchFamily="18" charset="-127"/>
                        <a:ea typeface="HY그래픽M" panose="02030600000101010101" pitchFamily="18" charset="-127"/>
                      </a:endParaRPr>
                    </a:p>
                  </a:txBody>
                  <a:tcPr marL="139938" marR="139938" marT="73881" marB="7388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1311149"/>
                  </a:ext>
                </a:extLst>
              </a:tr>
              <a:tr h="80199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>
                          <a:latin typeface="HY그래픽M" panose="02030600000101010101" pitchFamily="18" charset="-127"/>
                          <a:ea typeface="HY그래픽M" panose="02030600000101010101" pitchFamily="18" charset="-127"/>
                        </a:rPr>
                        <a:t>Security Architecture</a:t>
                      </a:r>
                    </a:p>
                  </a:txBody>
                  <a:tcPr marL="139938" marR="139938" marT="73881" marB="73881">
                    <a:lnL w="28575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1600" cap="none" spc="0" dirty="0">
                        <a:solidFill>
                          <a:schemeClr val="tx1"/>
                        </a:solidFill>
                        <a:latin typeface="HY그래픽M" panose="02030600000101010101" pitchFamily="18" charset="-127"/>
                        <a:ea typeface="HY그래픽M" panose="02030600000101010101" pitchFamily="18" charset="-127"/>
                      </a:endParaRPr>
                    </a:p>
                  </a:txBody>
                  <a:tcPr marL="139938" marR="139938" marT="73881" marB="73881">
                    <a:lnL w="12700" cmpd="sng">
                      <a:noFill/>
                      <a:prstDash val="solid"/>
                    </a:lnL>
                    <a:lnR w="28575" cap="flat" cmpd="sng" algn="ctr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1600" cap="none" spc="0" dirty="0">
                        <a:solidFill>
                          <a:schemeClr val="tx1"/>
                        </a:solidFill>
                        <a:latin typeface="HY그래픽M" panose="02030600000101010101" pitchFamily="18" charset="-127"/>
                        <a:ea typeface="HY그래픽M" panose="02030600000101010101" pitchFamily="18" charset="-127"/>
                      </a:endParaRPr>
                    </a:p>
                  </a:txBody>
                  <a:tcPr marL="139938" marR="139938" marT="73881" marB="73881">
                    <a:lnL w="12700" cmpd="sng">
                      <a:noFill/>
                      <a:prstDash val="solid"/>
                    </a:lnL>
                    <a:lnR w="28575" cap="flat" cmpd="sng" algn="ctr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54559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E4476C4-00EC-5137-F8A3-AA98B2119E75}"/>
              </a:ext>
            </a:extLst>
          </p:cNvPr>
          <p:cNvSpPr/>
          <p:nvPr/>
        </p:nvSpPr>
        <p:spPr>
          <a:xfrm>
            <a:off x="756559" y="2194192"/>
            <a:ext cx="2171698" cy="112087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>
            <a:normAutofit/>
          </a:bodyPr>
          <a:lstStyle/>
          <a:p>
            <a:pPr defTabSz="914400">
              <a:lnSpc>
                <a:spcPct val="90000"/>
              </a:lnSpc>
              <a:spcBef>
                <a:spcPts val="1000"/>
              </a:spcBef>
            </a:pPr>
            <a:r>
              <a:rPr lang="en-US" altLang="ko-KR" sz="3200" dirty="0">
                <a:solidFill>
                  <a:schemeClr val="tx1"/>
                </a:solidFill>
                <a:latin typeface="HY그래픽M" panose="02030600000101010101" pitchFamily="18" charset="-127"/>
                <a:ea typeface="HY그래픽M" panose="02030600000101010101" pitchFamily="18" charset="-127"/>
              </a:rPr>
              <a:t>Architect</a:t>
            </a:r>
          </a:p>
        </p:txBody>
      </p:sp>
    </p:spTree>
    <p:extLst>
      <p:ext uri="{BB962C8B-B14F-4D97-AF65-F5344CB8AC3E}">
        <p14:creationId xmlns:p14="http://schemas.microsoft.com/office/powerpoint/2010/main" val="31242067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165A27-8E51-A420-AF0F-E51729CC9D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Group 71">
            <a:extLst>
              <a:ext uri="{FF2B5EF4-FFF2-40B4-BE49-F238E27FC236}">
                <a16:creationId xmlns:a16="http://schemas.microsoft.com/office/drawing/2014/main" id="{F4967875-5C86-06CD-AF18-2E87B25AF6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-29768"/>
            <a:ext cx="12202175" cy="1519356"/>
            <a:chOff x="-1" y="-29768"/>
            <a:chExt cx="12202175" cy="1519356"/>
          </a:xfrm>
        </p:grpSpPr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A54DC052-648E-EB28-AE86-E7FF81540B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41412" y="-5371175"/>
              <a:ext cx="1519350" cy="12202174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0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77D00667-9DA4-7D4A-523D-3F3DA20122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8917093" y="-1801610"/>
              <a:ext cx="1507122" cy="5063040"/>
            </a:xfrm>
            <a:prstGeom prst="rect">
              <a:avLst/>
            </a:prstGeom>
            <a:gradFill>
              <a:gsLst>
                <a:gs pos="5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1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E9E9CBD0-7A44-5A63-CFF3-55ED30F16F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3100712" y="-3130481"/>
              <a:ext cx="1519356" cy="7720782"/>
            </a:xfrm>
            <a:prstGeom prst="rect">
              <a:avLst/>
            </a:prstGeom>
            <a:gradFill>
              <a:gsLst>
                <a:gs pos="2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75000"/>
                  </a:schemeClr>
                </a:gs>
              </a:gsLst>
              <a:lin ang="1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4C6849B1-76F4-E55D-BB04-6C8F01909A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1" y="301843"/>
            <a:ext cx="10477109" cy="100353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lang="en-US" altLang="ko-KR" sz="3600" dirty="0">
                <a:solidFill>
                  <a:schemeClr val="bg1"/>
                </a:solidFill>
                <a:latin typeface="HY그래픽M" panose="02030600000101010101" pitchFamily="18" charset="-127"/>
                <a:ea typeface="HY그래픽M" panose="02030600000101010101" pitchFamily="18" charset="-127"/>
              </a:rPr>
              <a:t>System Architecture Design </a:t>
            </a:r>
            <a:endParaRPr lang="en-US" altLang="ko-KR" sz="3600" kern="1200" dirty="0">
              <a:solidFill>
                <a:schemeClr val="bg1"/>
              </a:solidFill>
              <a:latin typeface="HY그래픽M" panose="02030600000101010101" pitchFamily="18" charset="-127"/>
              <a:ea typeface="HY그래픽M" panose="02030600000101010101" pitchFamily="18" charset="-127"/>
            </a:endParaRPr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10C4122-7A79-719A-8C25-F408D6EEC5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6A32D32-D4D7-F3A5-A3C4-241E3D59B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69EE9-9783-BD43-820A-4D3C60EDBE0D}" type="slidenum">
              <a:rPr lang="en-US" altLang="ko-KR" smtClean="0"/>
              <a:t>3</a:t>
            </a:fld>
            <a:endParaRPr lang="ko-KR" altLang="en-US" dirty="0"/>
          </a:p>
        </p:txBody>
      </p:sp>
      <p:graphicFrame>
        <p:nvGraphicFramePr>
          <p:cNvPr id="6" name="내용 개체 틀 14">
            <a:extLst>
              <a:ext uri="{FF2B5EF4-FFF2-40B4-BE49-F238E27FC236}">
                <a16:creationId xmlns:a16="http://schemas.microsoft.com/office/drawing/2014/main" id="{28746FE0-A15E-0126-E506-B8ADED7ADD0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23354977"/>
              </p:ext>
            </p:extLst>
          </p:nvPr>
        </p:nvGraphicFramePr>
        <p:xfrm>
          <a:off x="3254830" y="2194192"/>
          <a:ext cx="7979227" cy="4017723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3394618">
                  <a:extLst>
                    <a:ext uri="{9D8B030D-6E8A-4147-A177-3AD203B41FA5}">
                      <a16:colId xmlns:a16="http://schemas.microsoft.com/office/drawing/2014/main" val="1338233715"/>
                    </a:ext>
                  </a:extLst>
                </a:gridCol>
                <a:gridCol w="2753870">
                  <a:extLst>
                    <a:ext uri="{9D8B030D-6E8A-4147-A177-3AD203B41FA5}">
                      <a16:colId xmlns:a16="http://schemas.microsoft.com/office/drawing/2014/main" val="3347503093"/>
                    </a:ext>
                  </a:extLst>
                </a:gridCol>
                <a:gridCol w="1830739">
                  <a:extLst>
                    <a:ext uri="{9D8B030D-6E8A-4147-A177-3AD203B41FA5}">
                      <a16:colId xmlns:a16="http://schemas.microsoft.com/office/drawing/2014/main" val="1221517738"/>
                    </a:ext>
                  </a:extLst>
                </a:gridCol>
              </a:tblGrid>
              <a:tr h="412783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2000" b="0" cap="none" spc="0" dirty="0">
                          <a:solidFill>
                            <a:schemeClr val="tx1"/>
                          </a:solidFill>
                          <a:latin typeface="HY그래픽M" panose="02030600000101010101" pitchFamily="18" charset="-127"/>
                          <a:ea typeface="HY그래픽M" panose="02030600000101010101" pitchFamily="18" charset="-127"/>
                        </a:rPr>
                        <a:t>영역</a:t>
                      </a:r>
                    </a:p>
                  </a:txBody>
                  <a:tcPr marL="139938" marR="139938" marT="73881" marB="73881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2000" b="0" cap="none" spc="0" dirty="0">
                          <a:solidFill>
                            <a:schemeClr val="tx1"/>
                          </a:solidFill>
                          <a:latin typeface="HY그래픽M" panose="02030600000101010101" pitchFamily="18" charset="-127"/>
                          <a:ea typeface="HY그래픽M" panose="02030600000101010101" pitchFamily="18" charset="-127"/>
                        </a:rPr>
                        <a:t>설명</a:t>
                      </a:r>
                    </a:p>
                  </a:txBody>
                  <a:tcPr marL="139938" marR="139938" marT="73881" marB="73881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2000" b="0" cap="none" spc="0" dirty="0">
                          <a:solidFill>
                            <a:schemeClr val="tx1"/>
                          </a:solidFill>
                          <a:latin typeface="HY그래픽M" panose="02030600000101010101" pitchFamily="18" charset="-127"/>
                          <a:ea typeface="HY그래픽M" panose="02030600000101010101" pitchFamily="18" charset="-127"/>
                        </a:rPr>
                        <a:t>담당</a:t>
                      </a:r>
                      <a:endParaRPr lang="en-US" altLang="ko-KR" sz="2000" b="0" cap="none" spc="0" dirty="0">
                        <a:solidFill>
                          <a:schemeClr val="tx1"/>
                        </a:solidFill>
                        <a:latin typeface="HY그래픽M" panose="02030600000101010101" pitchFamily="18" charset="-127"/>
                        <a:ea typeface="HY그래픽M" panose="02030600000101010101" pitchFamily="18" charset="-127"/>
                      </a:endParaRPr>
                    </a:p>
                  </a:txBody>
                  <a:tcPr marL="139938" marR="139938" marT="73881" marB="73881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8307"/>
                  </a:ext>
                </a:extLst>
              </a:tr>
              <a:tr h="8019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HY그래픽M" panose="02030600000101010101" pitchFamily="18" charset="-127"/>
                          <a:ea typeface="HY그래픽M" panose="02030600000101010101" pitchFamily="18" charset="-127"/>
                        </a:rPr>
                        <a:t>Platform Architecture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 dirty="0">
                          <a:latin typeface="HY그래픽M" panose="02030600000101010101" pitchFamily="18" charset="-127"/>
                          <a:ea typeface="HY그래픽M" panose="02030600000101010101" pitchFamily="18" charset="-127"/>
                        </a:rPr>
                        <a:t>실행 플랫폼과 운영 환경 설계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28575" cap="flat" cmpd="sng" algn="ctr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1600" cap="none" spc="0" dirty="0">
                        <a:solidFill>
                          <a:schemeClr val="tx1"/>
                        </a:solidFill>
                        <a:latin typeface="HY그래픽M" panose="02030600000101010101" pitchFamily="18" charset="-127"/>
                        <a:ea typeface="HY그래픽M" panose="02030600000101010101" pitchFamily="18" charset="-127"/>
                      </a:endParaRPr>
                    </a:p>
                  </a:txBody>
                  <a:tcPr marL="139938" marR="139938" marT="73881" marB="73881">
                    <a:lnL w="12700" cmpd="sng">
                      <a:noFill/>
                      <a:prstDash val="solid"/>
                    </a:lnL>
                    <a:lnR w="28575" cap="flat" cmpd="sng" algn="ctr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3637338"/>
                  </a:ext>
                </a:extLst>
              </a:tr>
              <a:tr h="8019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HY그래픽M" panose="02030600000101010101" pitchFamily="18" charset="-127"/>
                          <a:ea typeface="HY그래픽M" panose="02030600000101010101" pitchFamily="18" charset="-127"/>
                        </a:rPr>
                        <a:t>Application Runtime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 dirty="0">
                          <a:latin typeface="HY그래픽M" panose="02030600000101010101" pitchFamily="18" charset="-127"/>
                          <a:ea typeface="HY그래픽M" panose="02030600000101010101" pitchFamily="18" charset="-127"/>
                        </a:rPr>
                        <a:t>애플리케이션 실행 구조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cap="none" spc="0" dirty="0">
                        <a:solidFill>
                          <a:schemeClr val="tx1"/>
                        </a:solidFill>
                        <a:latin typeface="HY그래픽M" panose="02030600000101010101" pitchFamily="18" charset="-127"/>
                        <a:ea typeface="HY그래픽M" panose="02030600000101010101" pitchFamily="18" charset="-127"/>
                      </a:endParaRPr>
                    </a:p>
                  </a:txBody>
                  <a:tcPr marL="139938" marR="139938" marT="73881" marB="7388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628407"/>
                  </a:ext>
                </a:extLst>
              </a:tr>
              <a:tr h="5795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HY그래픽M" panose="02030600000101010101" pitchFamily="18" charset="-127"/>
                          <a:ea typeface="HY그래픽M" panose="02030600000101010101" pitchFamily="18" charset="-127"/>
                        </a:rPr>
                        <a:t>Integration Architecture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 dirty="0">
                          <a:latin typeface="HY그래픽M" panose="02030600000101010101" pitchFamily="18" charset="-127"/>
                          <a:ea typeface="HY그래픽M" panose="02030600000101010101" pitchFamily="18" charset="-127"/>
                        </a:rPr>
                        <a:t>시스템 간 연동 구조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28575" cap="flat" cmpd="sng" algn="ctr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cap="none" spc="0" dirty="0">
                        <a:solidFill>
                          <a:schemeClr val="tx1"/>
                        </a:solidFill>
                        <a:latin typeface="HY그래픽M" panose="02030600000101010101" pitchFamily="18" charset="-127"/>
                        <a:ea typeface="HY그래픽M" panose="02030600000101010101" pitchFamily="18" charset="-127"/>
                      </a:endParaRPr>
                    </a:p>
                  </a:txBody>
                  <a:tcPr marL="139938" marR="139938" marT="73881" marB="73881">
                    <a:lnL w="12700" cmpd="sng">
                      <a:noFill/>
                      <a:prstDash val="solid"/>
                    </a:lnL>
                    <a:lnR w="28575" cap="flat" cmpd="sng" algn="ctr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279979"/>
                  </a:ext>
                </a:extLst>
              </a:tr>
              <a:tr h="5795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HY그래픽M" panose="02030600000101010101" pitchFamily="18" charset="-127"/>
                          <a:ea typeface="HY그래픽M" panose="02030600000101010101" pitchFamily="18" charset="-127"/>
                        </a:rPr>
                        <a:t>Data Architecture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 dirty="0">
                          <a:latin typeface="HY그래픽M" panose="02030600000101010101" pitchFamily="18" charset="-127"/>
                          <a:ea typeface="HY그래픽M" panose="02030600000101010101" pitchFamily="18" charset="-127"/>
                        </a:rPr>
                        <a:t>데이터 처리 기술 구조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1600" cap="none" spc="0" dirty="0">
                        <a:solidFill>
                          <a:schemeClr val="tx1"/>
                        </a:solidFill>
                        <a:latin typeface="HY그래픽M" panose="02030600000101010101" pitchFamily="18" charset="-127"/>
                        <a:ea typeface="HY그래픽M" panose="02030600000101010101" pitchFamily="18" charset="-127"/>
                      </a:endParaRPr>
                    </a:p>
                  </a:txBody>
                  <a:tcPr marL="139938" marR="139938" marT="73881" marB="7388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1311149"/>
                  </a:ext>
                </a:extLst>
              </a:tr>
              <a:tr h="8019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HY그래픽M" panose="02030600000101010101" pitchFamily="18" charset="-127"/>
                          <a:ea typeface="HY그래픽M" panose="02030600000101010101" pitchFamily="18" charset="-127"/>
                        </a:rPr>
                        <a:t>Security Architecture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 dirty="0">
                          <a:latin typeface="HY그래픽M" panose="02030600000101010101" pitchFamily="18" charset="-127"/>
                          <a:ea typeface="HY그래픽M" panose="02030600000101010101" pitchFamily="18" charset="-127"/>
                        </a:rPr>
                        <a:t>기술 보안 구조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28575" cap="flat" cmpd="sng" algn="ctr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1600" cap="none" spc="0" dirty="0">
                        <a:solidFill>
                          <a:schemeClr val="tx1"/>
                        </a:solidFill>
                        <a:latin typeface="HY그래픽M" panose="02030600000101010101" pitchFamily="18" charset="-127"/>
                        <a:ea typeface="HY그래픽M" panose="02030600000101010101" pitchFamily="18" charset="-127"/>
                      </a:endParaRPr>
                    </a:p>
                  </a:txBody>
                  <a:tcPr marL="139938" marR="139938" marT="73881" marB="73881">
                    <a:lnL w="12700" cmpd="sng">
                      <a:noFill/>
                      <a:prstDash val="solid"/>
                    </a:lnL>
                    <a:lnR w="28575" cap="flat" cmpd="sng" algn="ctr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54559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A9A2752-16F3-D755-8622-A7F349A008F1}"/>
              </a:ext>
            </a:extLst>
          </p:cNvPr>
          <p:cNvSpPr/>
          <p:nvPr/>
        </p:nvSpPr>
        <p:spPr>
          <a:xfrm>
            <a:off x="756559" y="2194192"/>
            <a:ext cx="2171698" cy="112087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>
            <a:normAutofit/>
          </a:bodyPr>
          <a:lstStyle/>
          <a:p>
            <a:pPr defTabSz="914400">
              <a:lnSpc>
                <a:spcPct val="90000"/>
              </a:lnSpc>
              <a:spcBef>
                <a:spcPts val="1000"/>
              </a:spcBef>
            </a:pPr>
            <a:r>
              <a:rPr lang="en-US" altLang="ko-KR" sz="3200" dirty="0">
                <a:solidFill>
                  <a:schemeClr val="tx1"/>
                </a:solidFill>
                <a:latin typeface="HY그래픽M" panose="02030600000101010101" pitchFamily="18" charset="-127"/>
                <a:ea typeface="HY그래픽M" panose="02030600000101010101" pitchFamily="18" charset="-127"/>
              </a:rPr>
              <a:t>Technical Architect</a:t>
            </a:r>
          </a:p>
        </p:txBody>
      </p:sp>
    </p:spTree>
    <p:extLst>
      <p:ext uri="{BB962C8B-B14F-4D97-AF65-F5344CB8AC3E}">
        <p14:creationId xmlns:p14="http://schemas.microsoft.com/office/powerpoint/2010/main" val="28426802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642269-C803-88E7-8A46-DA679D3C3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Group 71">
            <a:extLst>
              <a:ext uri="{FF2B5EF4-FFF2-40B4-BE49-F238E27FC236}">
                <a16:creationId xmlns:a16="http://schemas.microsoft.com/office/drawing/2014/main" id="{13D9A423-FB25-9BB6-4825-47099D16BE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-29768"/>
            <a:ext cx="12202175" cy="1519356"/>
            <a:chOff x="-1" y="-29768"/>
            <a:chExt cx="12202175" cy="1519356"/>
          </a:xfrm>
        </p:grpSpPr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BC7A7CD7-4192-F806-E6DF-E02294BD02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41412" y="-5371175"/>
              <a:ext cx="1519350" cy="12202174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0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1B5DA672-F2BD-0831-492C-2DD8EEFC19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8917093" y="-1801610"/>
              <a:ext cx="1507122" cy="5063040"/>
            </a:xfrm>
            <a:prstGeom prst="rect">
              <a:avLst/>
            </a:prstGeom>
            <a:gradFill>
              <a:gsLst>
                <a:gs pos="5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1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750B9447-8372-6EE5-1798-FD777926AC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3100712" y="-3130481"/>
              <a:ext cx="1519356" cy="7720782"/>
            </a:xfrm>
            <a:prstGeom prst="rect">
              <a:avLst/>
            </a:prstGeom>
            <a:gradFill>
              <a:gsLst>
                <a:gs pos="2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75000"/>
                  </a:schemeClr>
                </a:gs>
              </a:gsLst>
              <a:lin ang="1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E89A098D-55F1-2BF7-389F-3A246BDB85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1" y="301843"/>
            <a:ext cx="10477109" cy="100353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lang="en-US" altLang="ko-KR" sz="3600" dirty="0">
                <a:solidFill>
                  <a:schemeClr val="bg1"/>
                </a:solidFill>
                <a:latin typeface="HY그래픽M" panose="02030600000101010101" pitchFamily="18" charset="-127"/>
                <a:ea typeface="HY그래픽M" panose="02030600000101010101" pitchFamily="18" charset="-127"/>
              </a:rPr>
              <a:t>System Architecture Design </a:t>
            </a:r>
            <a:endParaRPr lang="en-US" altLang="ko-KR" sz="3600" kern="1200" dirty="0">
              <a:solidFill>
                <a:schemeClr val="bg1"/>
              </a:solidFill>
              <a:latin typeface="HY그래픽M" panose="02030600000101010101" pitchFamily="18" charset="-127"/>
              <a:ea typeface="HY그래픽M" panose="02030600000101010101" pitchFamily="18" charset="-127"/>
            </a:endParaRPr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4D3500B-05AF-B405-4D1E-A12B4525B9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6D50146-EE57-ECCD-AA0E-345F17DCC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69EE9-9783-BD43-820A-4D3C60EDBE0D}" type="slidenum">
              <a:rPr lang="en-US" altLang="ko-KR" smtClean="0"/>
              <a:t>4</a:t>
            </a:fld>
            <a:endParaRPr lang="ko-KR" altLang="en-US" dirty="0"/>
          </a:p>
        </p:txBody>
      </p:sp>
      <p:graphicFrame>
        <p:nvGraphicFramePr>
          <p:cNvPr id="6" name="내용 개체 틀 14">
            <a:extLst>
              <a:ext uri="{FF2B5EF4-FFF2-40B4-BE49-F238E27FC236}">
                <a16:creationId xmlns:a16="http://schemas.microsoft.com/office/drawing/2014/main" id="{8884C718-1C42-5981-7987-EBB85C3F48A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05542877"/>
              </p:ext>
            </p:extLst>
          </p:nvPr>
        </p:nvGraphicFramePr>
        <p:xfrm>
          <a:off x="3254830" y="2194192"/>
          <a:ext cx="7045996" cy="4017723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2461387">
                  <a:extLst>
                    <a:ext uri="{9D8B030D-6E8A-4147-A177-3AD203B41FA5}">
                      <a16:colId xmlns:a16="http://schemas.microsoft.com/office/drawing/2014/main" val="1338233715"/>
                    </a:ext>
                  </a:extLst>
                </a:gridCol>
                <a:gridCol w="2753870">
                  <a:extLst>
                    <a:ext uri="{9D8B030D-6E8A-4147-A177-3AD203B41FA5}">
                      <a16:colId xmlns:a16="http://schemas.microsoft.com/office/drawing/2014/main" val="3347503093"/>
                    </a:ext>
                  </a:extLst>
                </a:gridCol>
                <a:gridCol w="1830739">
                  <a:extLst>
                    <a:ext uri="{9D8B030D-6E8A-4147-A177-3AD203B41FA5}">
                      <a16:colId xmlns:a16="http://schemas.microsoft.com/office/drawing/2014/main" val="1221517738"/>
                    </a:ext>
                  </a:extLst>
                </a:gridCol>
              </a:tblGrid>
              <a:tr h="412783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2000" b="0" cap="none" spc="0" dirty="0">
                          <a:solidFill>
                            <a:schemeClr val="tx1"/>
                          </a:solidFill>
                          <a:latin typeface="HY그래픽M" panose="02030600000101010101" pitchFamily="18" charset="-127"/>
                          <a:ea typeface="HY그래픽M" panose="02030600000101010101" pitchFamily="18" charset="-127"/>
                        </a:rPr>
                        <a:t>영역</a:t>
                      </a:r>
                    </a:p>
                  </a:txBody>
                  <a:tcPr marL="139938" marR="139938" marT="73881" marB="73881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2000" b="0" cap="none" spc="0" dirty="0">
                          <a:solidFill>
                            <a:schemeClr val="tx1"/>
                          </a:solidFill>
                          <a:latin typeface="HY그래픽M" panose="02030600000101010101" pitchFamily="18" charset="-127"/>
                          <a:ea typeface="HY그래픽M" panose="02030600000101010101" pitchFamily="18" charset="-127"/>
                        </a:rPr>
                        <a:t>설명</a:t>
                      </a:r>
                    </a:p>
                  </a:txBody>
                  <a:tcPr marL="139938" marR="139938" marT="73881" marB="73881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2000" b="0" cap="none" spc="0" dirty="0">
                          <a:solidFill>
                            <a:schemeClr val="tx1"/>
                          </a:solidFill>
                          <a:latin typeface="HY그래픽M" panose="02030600000101010101" pitchFamily="18" charset="-127"/>
                          <a:ea typeface="HY그래픽M" panose="02030600000101010101" pitchFamily="18" charset="-127"/>
                        </a:rPr>
                        <a:t>담당</a:t>
                      </a:r>
                      <a:endParaRPr lang="en-US" altLang="ko-KR" sz="2000" b="0" cap="none" spc="0" dirty="0">
                        <a:solidFill>
                          <a:schemeClr val="tx1"/>
                        </a:solidFill>
                        <a:latin typeface="HY그래픽M" panose="02030600000101010101" pitchFamily="18" charset="-127"/>
                        <a:ea typeface="HY그래픽M" panose="02030600000101010101" pitchFamily="18" charset="-127"/>
                      </a:endParaRPr>
                    </a:p>
                  </a:txBody>
                  <a:tcPr marL="139938" marR="139938" marT="73881" marB="73881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8307"/>
                  </a:ext>
                </a:extLst>
              </a:tr>
              <a:tr h="8019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HY그래픽M" panose="02030600000101010101" pitchFamily="18" charset="-127"/>
                          <a:ea typeface="HY그래픽M" panose="02030600000101010101" pitchFamily="18" charset="-127"/>
                        </a:rPr>
                        <a:t>Performance Architecture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 dirty="0">
                          <a:latin typeface="HY그래픽M" panose="02030600000101010101" pitchFamily="18" charset="-127"/>
                          <a:ea typeface="HY그래픽M" panose="02030600000101010101" pitchFamily="18" charset="-127"/>
                        </a:rPr>
                        <a:t>성능 및 확장 설계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28575" cap="flat" cmpd="sng" algn="ctr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1600" cap="none" spc="0" dirty="0">
                        <a:solidFill>
                          <a:schemeClr val="tx1"/>
                        </a:solidFill>
                        <a:latin typeface="HY그래픽M" panose="02030600000101010101" pitchFamily="18" charset="-127"/>
                        <a:ea typeface="HY그래픽M" panose="02030600000101010101" pitchFamily="18" charset="-127"/>
                      </a:endParaRPr>
                    </a:p>
                  </a:txBody>
                  <a:tcPr marL="139938" marR="139938" marT="73881" marB="73881">
                    <a:lnL w="12700" cmpd="sng">
                      <a:noFill/>
                      <a:prstDash val="solid"/>
                    </a:lnL>
                    <a:lnR w="28575" cap="flat" cmpd="sng" algn="ctr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3637338"/>
                  </a:ext>
                </a:extLst>
              </a:tr>
              <a:tr h="8019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HY그래픽M" panose="02030600000101010101" pitchFamily="18" charset="-127"/>
                          <a:ea typeface="HY그래픽M" panose="02030600000101010101" pitchFamily="18" charset="-127"/>
                        </a:rPr>
                        <a:t>DevOps Architecture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 dirty="0">
                          <a:latin typeface="HY그래픽M" panose="02030600000101010101" pitchFamily="18" charset="-127"/>
                          <a:ea typeface="HY그래픽M" panose="02030600000101010101" pitchFamily="18" charset="-127"/>
                        </a:rPr>
                        <a:t>배포 및 자동화 기술 구조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cap="none" spc="0" dirty="0">
                        <a:solidFill>
                          <a:schemeClr val="tx1"/>
                        </a:solidFill>
                        <a:latin typeface="HY그래픽M" panose="02030600000101010101" pitchFamily="18" charset="-127"/>
                        <a:ea typeface="HY그래픽M" panose="02030600000101010101" pitchFamily="18" charset="-127"/>
                      </a:endParaRPr>
                    </a:p>
                  </a:txBody>
                  <a:tcPr marL="139938" marR="139938" marT="73881" marB="7388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628407"/>
                  </a:ext>
                </a:extLst>
              </a:tr>
              <a:tr h="5795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HY그래픽M" panose="02030600000101010101" pitchFamily="18" charset="-127"/>
                          <a:ea typeface="HY그래픽M" panose="02030600000101010101" pitchFamily="18" charset="-127"/>
                        </a:rPr>
                        <a:t>Observability Architecture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 dirty="0">
                          <a:latin typeface="HY그래픽M" panose="02030600000101010101" pitchFamily="18" charset="-127"/>
                          <a:ea typeface="HY그래픽M" panose="02030600000101010101" pitchFamily="18" charset="-127"/>
                        </a:rPr>
                        <a:t>모니터링 및 로그 구조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28575" cap="flat" cmpd="sng" algn="ctr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cap="none" spc="0" dirty="0">
                        <a:solidFill>
                          <a:schemeClr val="tx1"/>
                        </a:solidFill>
                        <a:latin typeface="HY그래픽M" panose="02030600000101010101" pitchFamily="18" charset="-127"/>
                        <a:ea typeface="HY그래픽M" panose="02030600000101010101" pitchFamily="18" charset="-127"/>
                      </a:endParaRPr>
                    </a:p>
                  </a:txBody>
                  <a:tcPr marL="139938" marR="139938" marT="73881" marB="73881">
                    <a:lnL w="12700" cmpd="sng">
                      <a:noFill/>
                      <a:prstDash val="solid"/>
                    </a:lnL>
                    <a:lnR w="28575" cap="flat" cmpd="sng" algn="ctr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279979"/>
                  </a:ext>
                </a:extLst>
              </a:tr>
              <a:tr h="579588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600" dirty="0">
                        <a:latin typeface="HY그래픽M" panose="02030600000101010101" pitchFamily="18" charset="-127"/>
                        <a:ea typeface="HY그래픽M" panose="02030600000101010101" pitchFamily="18" charset="-127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600" dirty="0">
                        <a:latin typeface="HY그래픽M" panose="02030600000101010101" pitchFamily="18" charset="-127"/>
                        <a:ea typeface="HY그래픽M" panose="02030600000101010101" pitchFamily="18" charset="-127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1600" cap="none" spc="0" dirty="0">
                        <a:solidFill>
                          <a:schemeClr val="tx1"/>
                        </a:solidFill>
                        <a:latin typeface="HY그래픽M" panose="02030600000101010101" pitchFamily="18" charset="-127"/>
                        <a:ea typeface="HY그래픽M" panose="02030600000101010101" pitchFamily="18" charset="-127"/>
                      </a:endParaRPr>
                    </a:p>
                  </a:txBody>
                  <a:tcPr marL="139938" marR="139938" marT="73881" marB="7388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1311149"/>
                  </a:ext>
                </a:extLst>
              </a:tr>
              <a:tr h="801995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600" dirty="0">
                        <a:latin typeface="HY그래픽M" panose="02030600000101010101" pitchFamily="18" charset="-127"/>
                        <a:ea typeface="HY그래픽M" panose="02030600000101010101" pitchFamily="18" charset="-127"/>
                      </a:endParaRPr>
                    </a:p>
                  </a:txBody>
                  <a:tcPr anchor="ctr">
                    <a:lnL w="28575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600" dirty="0">
                        <a:latin typeface="HY그래픽M" panose="02030600000101010101" pitchFamily="18" charset="-127"/>
                        <a:ea typeface="HY그래픽M" panose="02030600000101010101" pitchFamily="18" charset="-127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28575" cap="flat" cmpd="sng" algn="ctr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1600" cap="none" spc="0" dirty="0">
                        <a:solidFill>
                          <a:schemeClr val="tx1"/>
                        </a:solidFill>
                        <a:latin typeface="HY그래픽M" panose="02030600000101010101" pitchFamily="18" charset="-127"/>
                        <a:ea typeface="HY그래픽M" panose="02030600000101010101" pitchFamily="18" charset="-127"/>
                      </a:endParaRPr>
                    </a:p>
                  </a:txBody>
                  <a:tcPr marL="139938" marR="139938" marT="73881" marB="73881">
                    <a:lnL w="12700" cmpd="sng">
                      <a:noFill/>
                      <a:prstDash val="solid"/>
                    </a:lnL>
                    <a:lnR w="28575" cap="flat" cmpd="sng" algn="ctr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54559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81812466-967C-6CF4-76D0-040FD2C0039D}"/>
              </a:ext>
            </a:extLst>
          </p:cNvPr>
          <p:cNvSpPr/>
          <p:nvPr/>
        </p:nvSpPr>
        <p:spPr>
          <a:xfrm>
            <a:off x="756559" y="2194192"/>
            <a:ext cx="2171698" cy="112087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>
            <a:normAutofit/>
          </a:bodyPr>
          <a:lstStyle/>
          <a:p>
            <a:pPr defTabSz="914400">
              <a:lnSpc>
                <a:spcPct val="90000"/>
              </a:lnSpc>
              <a:spcBef>
                <a:spcPts val="1000"/>
              </a:spcBef>
            </a:pPr>
            <a:r>
              <a:rPr lang="en-US" altLang="ko-KR" sz="3200" dirty="0">
                <a:solidFill>
                  <a:schemeClr val="tx1"/>
                </a:solidFill>
                <a:latin typeface="HY그래픽M" panose="02030600000101010101" pitchFamily="18" charset="-127"/>
                <a:ea typeface="HY그래픽M" panose="02030600000101010101" pitchFamily="18" charset="-127"/>
              </a:rPr>
              <a:t>Technical Architect</a:t>
            </a:r>
          </a:p>
        </p:txBody>
      </p:sp>
    </p:spTree>
    <p:extLst>
      <p:ext uri="{BB962C8B-B14F-4D97-AF65-F5344CB8AC3E}">
        <p14:creationId xmlns:p14="http://schemas.microsoft.com/office/powerpoint/2010/main" val="22831530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" name="Group 79">
            <a:extLst>
              <a:ext uri="{FF2B5EF4-FFF2-40B4-BE49-F238E27FC236}">
                <a16:creationId xmlns:a16="http://schemas.microsoft.com/office/drawing/2014/main" id="{7024687B-3153-123C-0A8C-D7D007FAF1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-29768"/>
            <a:ext cx="12202175" cy="1519356"/>
            <a:chOff x="-1" y="-29768"/>
            <a:chExt cx="12202175" cy="1519356"/>
          </a:xfrm>
        </p:grpSpPr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8D6305F5-7509-0BF5-12D3-30451FCD73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41412" y="-5371175"/>
              <a:ext cx="1519350" cy="12202174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0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471C5C7A-6D55-5B27-646E-39C962693C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8917093" y="-1801610"/>
              <a:ext cx="1507122" cy="5063040"/>
            </a:xfrm>
            <a:prstGeom prst="rect">
              <a:avLst/>
            </a:prstGeom>
            <a:gradFill>
              <a:gsLst>
                <a:gs pos="5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1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F3B3B1F4-948C-963C-E6EA-60CF7FBFA2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3100712" y="-3130481"/>
              <a:ext cx="1519356" cy="7720782"/>
            </a:xfrm>
            <a:prstGeom prst="rect">
              <a:avLst/>
            </a:prstGeom>
            <a:gradFill>
              <a:gsLst>
                <a:gs pos="2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75000"/>
                  </a:schemeClr>
                </a:gs>
              </a:gsLst>
              <a:lin ang="1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FBB2B19D-A4CE-763D-1DE2-2885240C77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1" y="301843"/>
            <a:ext cx="10477109" cy="100353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lang="en-US" altLang="ko-KR" sz="3600" kern="1200" dirty="0">
                <a:solidFill>
                  <a:srgbClr val="FFFFFF"/>
                </a:solidFill>
                <a:latin typeface="HY그래픽M" panose="02030600000101010101" pitchFamily="18" charset="-127"/>
                <a:ea typeface="HY그래픽M" panose="02030600000101010101" pitchFamily="18" charset="-127"/>
              </a:rPr>
              <a:t>DevOps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9F5B6154-FFD7-FBF3-701D-F02D7B74A9FD}"/>
              </a:ext>
            </a:extLst>
          </p:cNvPr>
          <p:cNvSpPr/>
          <p:nvPr/>
        </p:nvSpPr>
        <p:spPr>
          <a:xfrm>
            <a:off x="876302" y="2188381"/>
            <a:ext cx="2062841" cy="112087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>
            <a:normAutofit/>
          </a:bodyPr>
          <a:lstStyle/>
          <a:p>
            <a:pPr defTabSz="914400">
              <a:lnSpc>
                <a:spcPct val="90000"/>
              </a:lnSpc>
              <a:spcBef>
                <a:spcPts val="1000"/>
              </a:spcBef>
            </a:pPr>
            <a:r>
              <a:rPr lang="en-US" altLang="ko-KR" sz="3200" dirty="0">
                <a:solidFill>
                  <a:schemeClr val="tx1"/>
                </a:solidFill>
                <a:latin typeface="HY그래픽M" panose="02030600000101010101" pitchFamily="18" charset="-127"/>
                <a:ea typeface="HY그래픽M" panose="02030600000101010101" pitchFamily="18" charset="-127"/>
              </a:rPr>
              <a:t>DevOps Engineer</a:t>
            </a:r>
          </a:p>
        </p:txBody>
      </p:sp>
      <p:graphicFrame>
        <p:nvGraphicFramePr>
          <p:cNvPr id="15" name="내용 개체 틀 14">
            <a:extLst>
              <a:ext uri="{FF2B5EF4-FFF2-40B4-BE49-F238E27FC236}">
                <a16:creationId xmlns:a16="http://schemas.microsoft.com/office/drawing/2014/main" id="{30E003A1-6B44-B826-FDE8-FD0B8419C22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67031689"/>
              </p:ext>
            </p:extLst>
          </p:nvPr>
        </p:nvGraphicFramePr>
        <p:xfrm>
          <a:off x="3309258" y="2188381"/>
          <a:ext cx="7913914" cy="3827680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2175551">
                  <a:extLst>
                    <a:ext uri="{9D8B030D-6E8A-4147-A177-3AD203B41FA5}">
                      <a16:colId xmlns:a16="http://schemas.microsoft.com/office/drawing/2014/main" val="1338233715"/>
                    </a:ext>
                  </a:extLst>
                </a:gridCol>
                <a:gridCol w="2742443">
                  <a:extLst>
                    <a:ext uri="{9D8B030D-6E8A-4147-A177-3AD203B41FA5}">
                      <a16:colId xmlns:a16="http://schemas.microsoft.com/office/drawing/2014/main" val="3347503093"/>
                    </a:ext>
                  </a:extLst>
                </a:gridCol>
                <a:gridCol w="1497960">
                  <a:extLst>
                    <a:ext uri="{9D8B030D-6E8A-4147-A177-3AD203B41FA5}">
                      <a16:colId xmlns:a16="http://schemas.microsoft.com/office/drawing/2014/main" val="1215840305"/>
                    </a:ext>
                  </a:extLst>
                </a:gridCol>
                <a:gridCol w="1497960">
                  <a:extLst>
                    <a:ext uri="{9D8B030D-6E8A-4147-A177-3AD203B41FA5}">
                      <a16:colId xmlns:a16="http://schemas.microsoft.com/office/drawing/2014/main" val="2259543770"/>
                    </a:ext>
                  </a:extLst>
                </a:gridCol>
              </a:tblGrid>
              <a:tr h="67456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2000" b="0" cap="none" spc="0" dirty="0">
                          <a:solidFill>
                            <a:schemeClr val="tx1"/>
                          </a:solidFill>
                          <a:latin typeface="HY그래픽M" panose="02030600000101010101" pitchFamily="18" charset="-127"/>
                          <a:ea typeface="HY그래픽M" panose="02030600000101010101" pitchFamily="18" charset="-127"/>
                        </a:rPr>
                        <a:t>영역</a:t>
                      </a:r>
                    </a:p>
                  </a:txBody>
                  <a:tcPr marL="139938" marR="139938" marT="73881" marB="73881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2000" b="0" cap="none" spc="0" dirty="0">
                          <a:solidFill>
                            <a:schemeClr val="tx1"/>
                          </a:solidFill>
                          <a:latin typeface="HY그래픽M" panose="02030600000101010101" pitchFamily="18" charset="-127"/>
                          <a:ea typeface="HY그래픽M" panose="02030600000101010101" pitchFamily="18" charset="-127"/>
                        </a:rPr>
                        <a:t>설명</a:t>
                      </a:r>
                    </a:p>
                  </a:txBody>
                  <a:tcPr marL="139938" marR="139938" marT="73881" marB="73881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2000" b="0" cap="none" spc="0" dirty="0">
                          <a:solidFill>
                            <a:schemeClr val="tx1"/>
                          </a:solidFill>
                          <a:latin typeface="HY그래픽M" panose="02030600000101010101" pitchFamily="18" charset="-127"/>
                          <a:ea typeface="HY그래픽M" panose="02030600000101010101" pitchFamily="18" charset="-127"/>
                        </a:rPr>
                        <a:t>산출물</a:t>
                      </a:r>
                      <a:endParaRPr lang="en-US" altLang="ko-KR" sz="2000" b="0" cap="none" spc="0" dirty="0">
                        <a:solidFill>
                          <a:schemeClr val="tx1"/>
                        </a:solidFill>
                        <a:latin typeface="HY그래픽M" panose="02030600000101010101" pitchFamily="18" charset="-127"/>
                        <a:ea typeface="HY그래픽M" panose="02030600000101010101" pitchFamily="18" charset="-127"/>
                      </a:endParaRPr>
                    </a:p>
                  </a:txBody>
                  <a:tcPr marL="139938" marR="139938" marT="73881" marB="73881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2000" b="0" cap="none" spc="0" dirty="0">
                          <a:solidFill>
                            <a:schemeClr val="tx1"/>
                          </a:solidFill>
                          <a:latin typeface="HY그래픽M" panose="02030600000101010101" pitchFamily="18" charset="-127"/>
                          <a:ea typeface="HY그래픽M" panose="02030600000101010101" pitchFamily="18" charset="-127"/>
                        </a:rPr>
                        <a:t>담당</a:t>
                      </a:r>
                      <a:endParaRPr lang="en-US" altLang="ko-KR" sz="2000" b="0" cap="none" spc="0" dirty="0">
                        <a:solidFill>
                          <a:schemeClr val="tx1"/>
                        </a:solidFill>
                        <a:latin typeface="HY그래픽M" panose="02030600000101010101" pitchFamily="18" charset="-127"/>
                        <a:ea typeface="HY그래픽M" panose="02030600000101010101" pitchFamily="18" charset="-127"/>
                      </a:endParaRPr>
                    </a:p>
                  </a:txBody>
                  <a:tcPr marL="139938" marR="139938" marT="73881" marB="73881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8307"/>
                  </a:ext>
                </a:extLst>
              </a:tr>
              <a:tr h="52045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cap="none" spc="0" dirty="0">
                          <a:solidFill>
                            <a:schemeClr val="tx1"/>
                          </a:solidFill>
                          <a:latin typeface="HY그래픽M" panose="02030600000101010101" pitchFamily="18" charset="-127"/>
                          <a:ea typeface="HY그래픽M" panose="02030600000101010101" pitchFamily="18" charset="-127"/>
                        </a:rPr>
                        <a:t>CI/CD</a:t>
                      </a:r>
                      <a:endParaRPr lang="ko-KR" altLang="en-US" sz="1600" cap="none" spc="0" dirty="0">
                        <a:solidFill>
                          <a:schemeClr val="tx1"/>
                        </a:solidFill>
                        <a:latin typeface="HY그래픽M" panose="02030600000101010101" pitchFamily="18" charset="-127"/>
                        <a:ea typeface="HY그래픽M" panose="02030600000101010101" pitchFamily="18" charset="-127"/>
                      </a:endParaRPr>
                    </a:p>
                  </a:txBody>
                  <a:tcPr marL="139938" marR="139938" marT="73881" marB="73881">
                    <a:lnL w="28575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cap="none" spc="0" dirty="0">
                          <a:solidFill>
                            <a:schemeClr val="tx1"/>
                          </a:solidFill>
                          <a:latin typeface="HY그래픽M" panose="02030600000101010101" pitchFamily="18" charset="-127"/>
                          <a:ea typeface="HY그래픽M" panose="02030600000101010101" pitchFamily="18" charset="-127"/>
                        </a:rPr>
                        <a:t>빌드 배포 자동화</a:t>
                      </a:r>
                      <a:endParaRPr lang="en-US" altLang="ko-KR" sz="1600" cap="none" spc="0" dirty="0">
                        <a:solidFill>
                          <a:schemeClr val="tx1"/>
                        </a:solidFill>
                        <a:latin typeface="HY그래픽M" panose="02030600000101010101" pitchFamily="18" charset="-127"/>
                        <a:ea typeface="HY그래픽M" panose="02030600000101010101" pitchFamily="18" charset="-127"/>
                      </a:endParaRPr>
                    </a:p>
                  </a:txBody>
                  <a:tcPr marL="139938" marR="139938" marT="73881" marB="73881">
                    <a:lnL w="12700" cmpd="sng">
                      <a:noFill/>
                      <a:prstDash val="solid"/>
                    </a:lnL>
                    <a:lnR w="28575" cap="flat" cmpd="sng" algn="ctr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1600" cap="none" spc="0">
                        <a:solidFill>
                          <a:schemeClr val="tx1"/>
                        </a:solidFill>
                        <a:latin typeface="HY그래픽M" panose="02030600000101010101" pitchFamily="18" charset="-127"/>
                        <a:ea typeface="HY그래픽M" panose="02030600000101010101" pitchFamily="18" charset="-127"/>
                      </a:endParaRPr>
                    </a:p>
                  </a:txBody>
                  <a:tcPr marL="139938" marR="139938" marT="73881" marB="73881">
                    <a:lnL w="12700" cmpd="sng">
                      <a:noFill/>
                      <a:prstDash val="solid"/>
                    </a:lnL>
                    <a:lnR w="28575" cap="flat" cmpd="sng" algn="ctr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1600" cap="none" spc="0">
                        <a:solidFill>
                          <a:schemeClr val="tx1"/>
                        </a:solidFill>
                        <a:latin typeface="HY그래픽M" panose="02030600000101010101" pitchFamily="18" charset="-127"/>
                        <a:ea typeface="HY그래픽M" panose="02030600000101010101" pitchFamily="18" charset="-127"/>
                      </a:endParaRPr>
                    </a:p>
                  </a:txBody>
                  <a:tcPr marL="139938" marR="139938" marT="73881" marB="73881">
                    <a:lnL w="12700" cmpd="sng">
                      <a:noFill/>
                      <a:prstDash val="solid"/>
                    </a:lnL>
                    <a:lnR w="28575" cap="flat" cmpd="sng" algn="ctr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3637338"/>
                  </a:ext>
                </a:extLst>
              </a:tr>
              <a:tr h="80746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cap="none" spc="0" dirty="0">
                          <a:solidFill>
                            <a:schemeClr val="tx1"/>
                          </a:solidFill>
                          <a:latin typeface="HY그래픽M" panose="02030600000101010101" pitchFamily="18" charset="-127"/>
                          <a:ea typeface="HY그래픽M" panose="02030600000101010101" pitchFamily="18" charset="-127"/>
                        </a:rPr>
                        <a:t>Infrastructure as code(</a:t>
                      </a:r>
                      <a:r>
                        <a:rPr lang="en-US" altLang="ko-KR" sz="1600" cap="none" spc="0" dirty="0" err="1">
                          <a:solidFill>
                            <a:schemeClr val="tx1"/>
                          </a:solidFill>
                          <a:latin typeface="HY그래픽M" panose="02030600000101010101" pitchFamily="18" charset="-127"/>
                          <a:ea typeface="HY그래픽M" panose="02030600000101010101" pitchFamily="18" charset="-127"/>
                        </a:rPr>
                        <a:t>IaC</a:t>
                      </a:r>
                      <a:r>
                        <a:rPr lang="en-US" altLang="ko-KR" sz="1600" cap="none" spc="0" dirty="0">
                          <a:solidFill>
                            <a:schemeClr val="tx1"/>
                          </a:solidFill>
                          <a:latin typeface="HY그래픽M" panose="02030600000101010101" pitchFamily="18" charset="-127"/>
                          <a:ea typeface="HY그래픽M" panose="02030600000101010101" pitchFamily="18" charset="-127"/>
                        </a:rPr>
                        <a:t>)</a:t>
                      </a:r>
                      <a:endParaRPr lang="ko-KR" altLang="en-US" sz="1600" cap="none" spc="0" dirty="0">
                        <a:solidFill>
                          <a:schemeClr val="tx1"/>
                        </a:solidFill>
                        <a:latin typeface="HY그래픽M" panose="02030600000101010101" pitchFamily="18" charset="-127"/>
                        <a:ea typeface="HY그래픽M" panose="02030600000101010101" pitchFamily="18" charset="-127"/>
                      </a:endParaRPr>
                    </a:p>
                  </a:txBody>
                  <a:tcPr marL="139938" marR="139938" marT="73881" marB="7388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cap="none" spc="0" dirty="0">
                          <a:solidFill>
                            <a:schemeClr val="tx1"/>
                          </a:solidFill>
                          <a:latin typeface="HY그래픽M" panose="02030600000101010101" pitchFamily="18" charset="-127"/>
                          <a:ea typeface="HY그래픽M" panose="02030600000101010101" pitchFamily="18" charset="-127"/>
                        </a:rPr>
                        <a:t>인프라코드 작성</a:t>
                      </a:r>
                    </a:p>
                  </a:txBody>
                  <a:tcPr marL="139938" marR="139938" marT="73881" marB="7388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cap="none" spc="0" dirty="0">
                        <a:solidFill>
                          <a:schemeClr val="tx1"/>
                        </a:solidFill>
                        <a:latin typeface="HY그래픽M" panose="02030600000101010101" pitchFamily="18" charset="-127"/>
                        <a:ea typeface="HY그래픽M" panose="02030600000101010101" pitchFamily="18" charset="-127"/>
                      </a:endParaRPr>
                    </a:p>
                  </a:txBody>
                  <a:tcPr marL="139938" marR="139938" marT="73881" marB="7388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cap="none" spc="0">
                        <a:solidFill>
                          <a:schemeClr val="tx1"/>
                        </a:solidFill>
                        <a:latin typeface="HY그래픽M" panose="02030600000101010101" pitchFamily="18" charset="-127"/>
                        <a:ea typeface="HY그래픽M" panose="02030600000101010101" pitchFamily="18" charset="-127"/>
                      </a:endParaRPr>
                    </a:p>
                  </a:txBody>
                  <a:tcPr marL="139938" marR="139938" marT="73881" marB="7388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628407"/>
                  </a:ext>
                </a:extLst>
              </a:tr>
              <a:tr h="81945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cap="none" spc="0" dirty="0">
                          <a:solidFill>
                            <a:schemeClr val="tx1"/>
                          </a:solidFill>
                          <a:latin typeface="HY그래픽M" panose="02030600000101010101" pitchFamily="18" charset="-127"/>
                          <a:ea typeface="HY그래픽M" panose="02030600000101010101" pitchFamily="18" charset="-127"/>
                        </a:rPr>
                        <a:t>Container </a:t>
                      </a:r>
                      <a:r>
                        <a:rPr lang="ko-KR" altLang="en-US" sz="1600" cap="none" spc="0" dirty="0">
                          <a:solidFill>
                            <a:schemeClr val="tx1"/>
                          </a:solidFill>
                          <a:latin typeface="HY그래픽M" panose="02030600000101010101" pitchFamily="18" charset="-127"/>
                          <a:ea typeface="HY그래픽M" panose="02030600000101010101" pitchFamily="18" charset="-127"/>
                        </a:rPr>
                        <a:t>운영</a:t>
                      </a:r>
                    </a:p>
                  </a:txBody>
                  <a:tcPr marL="139938" marR="139938" marT="73881" marB="73881">
                    <a:lnL w="28575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cap="none" spc="0" dirty="0">
                          <a:solidFill>
                            <a:schemeClr val="tx1"/>
                          </a:solidFill>
                          <a:latin typeface="HY그래픽M" panose="02030600000101010101" pitchFamily="18" charset="-127"/>
                          <a:ea typeface="HY그래픽M" panose="02030600000101010101" pitchFamily="18" charset="-127"/>
                        </a:rPr>
                        <a:t>Docker, Kubernetes</a:t>
                      </a:r>
                      <a:endParaRPr lang="ko-KR" altLang="en-US" sz="1600" cap="none" spc="0" dirty="0">
                        <a:solidFill>
                          <a:schemeClr val="tx1"/>
                        </a:solidFill>
                        <a:latin typeface="HY그래픽M" panose="02030600000101010101" pitchFamily="18" charset="-127"/>
                        <a:ea typeface="HY그래픽M" panose="02030600000101010101" pitchFamily="18" charset="-127"/>
                      </a:endParaRPr>
                    </a:p>
                  </a:txBody>
                  <a:tcPr marL="139938" marR="139938" marT="73881" marB="73881">
                    <a:lnL w="12700" cmpd="sng">
                      <a:noFill/>
                      <a:prstDash val="solid"/>
                    </a:lnL>
                    <a:lnR w="28575" cap="flat" cmpd="sng" algn="ctr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cap="none" spc="0" dirty="0">
                        <a:solidFill>
                          <a:schemeClr val="tx1"/>
                        </a:solidFill>
                        <a:latin typeface="HY그래픽M" panose="02030600000101010101" pitchFamily="18" charset="-127"/>
                        <a:ea typeface="HY그래픽M" panose="02030600000101010101" pitchFamily="18" charset="-127"/>
                      </a:endParaRPr>
                    </a:p>
                  </a:txBody>
                  <a:tcPr marL="139938" marR="139938" marT="73881" marB="73881">
                    <a:lnL w="12700" cmpd="sng">
                      <a:noFill/>
                      <a:prstDash val="solid"/>
                    </a:lnL>
                    <a:lnR w="28575" cap="flat" cmpd="sng" algn="ctr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cap="none" spc="0" dirty="0">
                        <a:solidFill>
                          <a:schemeClr val="tx1"/>
                        </a:solidFill>
                        <a:latin typeface="HY그래픽M" panose="02030600000101010101" pitchFamily="18" charset="-127"/>
                        <a:ea typeface="HY그래픽M" panose="02030600000101010101" pitchFamily="18" charset="-127"/>
                      </a:endParaRPr>
                    </a:p>
                  </a:txBody>
                  <a:tcPr marL="139938" marR="139938" marT="73881" marB="73881">
                    <a:lnL w="12700" cmpd="sng">
                      <a:noFill/>
                      <a:prstDash val="solid"/>
                    </a:lnL>
                    <a:lnR w="28575" cap="flat" cmpd="sng" algn="ctr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279979"/>
                  </a:ext>
                </a:extLst>
              </a:tr>
              <a:tr h="48528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cap="none" spc="0" dirty="0">
                          <a:solidFill>
                            <a:schemeClr val="tx1"/>
                          </a:solidFill>
                          <a:latin typeface="HY그래픽M" panose="02030600000101010101" pitchFamily="18" charset="-127"/>
                          <a:ea typeface="HY그래픽M" panose="02030600000101010101" pitchFamily="18" charset="-127"/>
                        </a:rPr>
                        <a:t>Monitoring</a:t>
                      </a:r>
                      <a:endParaRPr lang="ko-KR" altLang="en-US" sz="1600" cap="none" spc="0" dirty="0">
                        <a:solidFill>
                          <a:schemeClr val="tx1"/>
                        </a:solidFill>
                        <a:latin typeface="HY그래픽M" panose="02030600000101010101" pitchFamily="18" charset="-127"/>
                        <a:ea typeface="HY그래픽M" panose="02030600000101010101" pitchFamily="18" charset="-127"/>
                      </a:endParaRPr>
                    </a:p>
                  </a:txBody>
                  <a:tcPr marL="139938" marR="139938" marT="73881" marB="7388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cap="none" spc="0" dirty="0">
                          <a:solidFill>
                            <a:schemeClr val="tx1"/>
                          </a:solidFill>
                          <a:latin typeface="HY그래픽M" panose="02030600000101010101" pitchFamily="18" charset="-127"/>
                          <a:ea typeface="HY그래픽M" panose="02030600000101010101" pitchFamily="18" charset="-127"/>
                        </a:rPr>
                        <a:t>로그 모니터링</a:t>
                      </a:r>
                      <a:endParaRPr lang="en-US" altLang="ko-KR" sz="1600" cap="none" spc="0" dirty="0">
                        <a:solidFill>
                          <a:schemeClr val="tx1"/>
                        </a:solidFill>
                        <a:latin typeface="HY그래픽M" panose="02030600000101010101" pitchFamily="18" charset="-127"/>
                        <a:ea typeface="HY그래픽M" panose="02030600000101010101" pitchFamily="18" charset="-127"/>
                      </a:endParaRPr>
                    </a:p>
                  </a:txBody>
                  <a:tcPr marL="139938" marR="139938" marT="73881" marB="7388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1600" cap="none" spc="0">
                        <a:solidFill>
                          <a:schemeClr val="tx1"/>
                        </a:solidFill>
                        <a:latin typeface="HY그래픽M" panose="02030600000101010101" pitchFamily="18" charset="-127"/>
                        <a:ea typeface="HY그래픽M" panose="02030600000101010101" pitchFamily="18" charset="-127"/>
                      </a:endParaRPr>
                    </a:p>
                  </a:txBody>
                  <a:tcPr marL="139938" marR="139938" marT="73881" marB="7388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1600" cap="none" spc="0">
                        <a:solidFill>
                          <a:schemeClr val="tx1"/>
                        </a:solidFill>
                        <a:latin typeface="HY그래픽M" panose="02030600000101010101" pitchFamily="18" charset="-127"/>
                        <a:ea typeface="HY그래픽M" panose="02030600000101010101" pitchFamily="18" charset="-127"/>
                      </a:endParaRPr>
                    </a:p>
                  </a:txBody>
                  <a:tcPr marL="139938" marR="139938" marT="73881" marB="7388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1311149"/>
                  </a:ext>
                </a:extLst>
              </a:tr>
              <a:tr h="52045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cap="none" spc="0">
                          <a:solidFill>
                            <a:schemeClr val="tx1"/>
                          </a:solidFill>
                          <a:latin typeface="HY그래픽M" panose="02030600000101010101" pitchFamily="18" charset="-127"/>
                          <a:ea typeface="HY그래픽M" panose="02030600000101010101" pitchFamily="18" charset="-127"/>
                        </a:rPr>
                        <a:t>Release </a:t>
                      </a:r>
                      <a:r>
                        <a:rPr lang="ko-KR" altLang="en-US" sz="1600" cap="none" spc="0">
                          <a:solidFill>
                            <a:schemeClr val="tx1"/>
                          </a:solidFill>
                          <a:latin typeface="HY그래픽M" panose="02030600000101010101" pitchFamily="18" charset="-127"/>
                          <a:ea typeface="HY그래픽M" panose="02030600000101010101" pitchFamily="18" charset="-127"/>
                        </a:rPr>
                        <a:t>관리</a:t>
                      </a:r>
                    </a:p>
                  </a:txBody>
                  <a:tcPr marL="139938" marR="139938" marT="73881" marB="73881">
                    <a:lnL w="28575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cap="none" spc="0" dirty="0">
                          <a:solidFill>
                            <a:schemeClr val="tx1"/>
                          </a:solidFill>
                          <a:latin typeface="HY그래픽M" panose="02030600000101010101" pitchFamily="18" charset="-127"/>
                          <a:ea typeface="HY그래픽M" panose="02030600000101010101" pitchFamily="18" charset="-127"/>
                        </a:rPr>
                        <a:t>버전 배포 관리</a:t>
                      </a:r>
                      <a:endParaRPr lang="en-US" altLang="ko-KR" sz="1600" cap="none" spc="0" dirty="0">
                        <a:solidFill>
                          <a:schemeClr val="tx1"/>
                        </a:solidFill>
                        <a:latin typeface="HY그래픽M" panose="02030600000101010101" pitchFamily="18" charset="-127"/>
                        <a:ea typeface="HY그래픽M" panose="02030600000101010101" pitchFamily="18" charset="-127"/>
                      </a:endParaRPr>
                    </a:p>
                  </a:txBody>
                  <a:tcPr marL="139938" marR="139938" marT="73881" marB="73881">
                    <a:lnL w="12700" cmpd="sng">
                      <a:noFill/>
                      <a:prstDash val="solid"/>
                    </a:lnL>
                    <a:lnR w="28575" cap="flat" cmpd="sng" algn="ctr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1600" cap="none" spc="0" dirty="0">
                        <a:solidFill>
                          <a:schemeClr val="tx1"/>
                        </a:solidFill>
                        <a:latin typeface="HY그래픽M" panose="02030600000101010101" pitchFamily="18" charset="-127"/>
                        <a:ea typeface="HY그래픽M" panose="02030600000101010101" pitchFamily="18" charset="-127"/>
                      </a:endParaRPr>
                    </a:p>
                  </a:txBody>
                  <a:tcPr marL="139938" marR="139938" marT="73881" marB="73881">
                    <a:lnL w="12700" cmpd="sng">
                      <a:noFill/>
                      <a:prstDash val="solid"/>
                    </a:lnL>
                    <a:lnR w="28575" cap="flat" cmpd="sng" algn="ctr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1600" cap="none" spc="0" dirty="0">
                        <a:solidFill>
                          <a:schemeClr val="tx1"/>
                        </a:solidFill>
                        <a:latin typeface="HY그래픽M" panose="02030600000101010101" pitchFamily="18" charset="-127"/>
                        <a:ea typeface="HY그래픽M" panose="02030600000101010101" pitchFamily="18" charset="-127"/>
                      </a:endParaRPr>
                    </a:p>
                  </a:txBody>
                  <a:tcPr marL="139938" marR="139938" marT="73881" marB="73881">
                    <a:lnL w="12700" cmpd="sng">
                      <a:noFill/>
                      <a:prstDash val="solid"/>
                    </a:lnL>
                    <a:lnR w="28575" cap="flat" cmpd="sng" algn="ctr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545596"/>
                  </a:ext>
                </a:extLst>
              </a:tr>
            </a:tbl>
          </a:graphicData>
        </a:graphic>
      </p:graphicFrame>
      <p:sp>
        <p:nvSpPr>
          <p:cNvPr id="28" name="바닥글 개체 틀 27">
            <a:extLst>
              <a:ext uri="{FF2B5EF4-FFF2-40B4-BE49-F238E27FC236}">
                <a16:creationId xmlns:a16="http://schemas.microsoft.com/office/drawing/2014/main" id="{B5C2852B-A0BE-5FDB-1722-1D31E6FFA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4" name="슬라이드 번호 개체 틀 33">
            <a:extLst>
              <a:ext uri="{FF2B5EF4-FFF2-40B4-BE49-F238E27FC236}">
                <a16:creationId xmlns:a16="http://schemas.microsoft.com/office/drawing/2014/main" id="{492BF8DE-F205-75CC-AB0F-62EED495D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69EE9-9783-BD43-820A-4D3C60EDBE0D}" type="slidenum">
              <a:rPr lang="en-US" altLang="ko-KR" smtClean="0"/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253540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테마">
  <a:themeElements>
    <a:clrScheme name="Office 2013 - 2022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129</Words>
  <Application>Microsoft Office PowerPoint</Application>
  <PresentationFormat>와이드스크린</PresentationFormat>
  <Paragraphs>60</Paragraphs>
  <Slides>5</Slides>
  <Notes>0</Notes>
  <HiddenSlides>0</HiddenSlides>
  <MMClips>1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1" baseType="lpstr">
      <vt:lpstr>HY그래픽M</vt:lpstr>
      <vt:lpstr>맑은 고딕</vt:lpstr>
      <vt:lpstr>Arial</vt:lpstr>
      <vt:lpstr>Calibri</vt:lpstr>
      <vt:lpstr>Calibri Light</vt:lpstr>
      <vt:lpstr>Office 2013 - 2022 테마</vt:lpstr>
      <vt:lpstr>Role Definition</vt:lpstr>
      <vt:lpstr>System Architecture Design </vt:lpstr>
      <vt:lpstr>System Architecture Design </vt:lpstr>
      <vt:lpstr>System Architecture Design </vt:lpstr>
      <vt:lpstr>DevOps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미정 at Windows Home 노</dc:creator>
  <cp:lastModifiedBy>노미정</cp:lastModifiedBy>
  <cp:revision>6</cp:revision>
  <dcterms:created xsi:type="dcterms:W3CDTF">2026-03-13T10:05:03Z</dcterms:created>
  <dcterms:modified xsi:type="dcterms:W3CDTF">2026-04-01T02:31:08Z</dcterms:modified>
</cp:coreProperties>
</file>
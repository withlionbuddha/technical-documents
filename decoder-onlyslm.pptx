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57" r:id="rId4"/>
    <p:sldId id="258" r:id="rId5"/>
    <p:sldId id="261" r:id="rId6"/>
    <p:sldId id="262" r:id="rId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00" autoAdjust="0"/>
  </p:normalViewPr>
  <p:slideViewPr>
    <p:cSldViewPr snapToGrid="0" snapToObjects="1">
      <p:cViewPr varScale="1">
        <p:scale>
          <a:sx n="48" d="100"/>
          <a:sy n="48" d="100"/>
        </p:scale>
        <p:origin x="97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C8D2-4FEB-4E31-89CA-59E04D1EC42D}" type="datetimeFigureOut">
              <a:rPr lang="ko-KR" altLang="en-US" smtClean="0"/>
              <a:t>2026-06-25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C5530-943F-44B8-98EF-B09B63FEBAB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95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x  = </a:t>
            </a:r>
            <a:r>
              <a:rPr lang="ko-KR" altLang="en-US" dirty="0"/>
              <a:t>입력 벡터</a:t>
            </a:r>
          </a:p>
          <a:p>
            <a:r>
              <a:rPr lang="en-US" altLang="ko-KR" dirty="0"/>
              <a:t>μ  = </a:t>
            </a:r>
            <a:r>
              <a:rPr lang="ko-KR" altLang="en-US" dirty="0"/>
              <a:t>입력 벡터의 평균</a:t>
            </a:r>
          </a:p>
          <a:p>
            <a:r>
              <a:rPr lang="en-US" altLang="ko-KR" dirty="0"/>
              <a:t>σ² = </a:t>
            </a:r>
            <a:r>
              <a:rPr lang="ko-KR" altLang="en-US" dirty="0"/>
              <a:t>입력 벡터의 분산</a:t>
            </a:r>
          </a:p>
          <a:p>
            <a:r>
              <a:rPr lang="en-US" altLang="ko-KR" dirty="0"/>
              <a:t>ε  = 0</a:t>
            </a:r>
            <a:r>
              <a:rPr lang="ko-KR" altLang="en-US" dirty="0"/>
              <a:t>으로 나누는 것을 막는 작은 값</a:t>
            </a:r>
          </a:p>
          <a:p>
            <a:r>
              <a:rPr lang="en-US" altLang="ko-KR" dirty="0"/>
              <a:t>γ  = </a:t>
            </a:r>
            <a:r>
              <a:rPr lang="ko-KR" altLang="en-US" dirty="0"/>
              <a:t>학습 가능한 </a:t>
            </a:r>
            <a:r>
              <a:rPr lang="en-US" altLang="ko-KR" dirty="0"/>
              <a:t>scale </a:t>
            </a:r>
            <a:r>
              <a:rPr lang="ko-KR" altLang="en-US" dirty="0"/>
              <a:t>파라미터</a:t>
            </a:r>
          </a:p>
          <a:p>
            <a:r>
              <a:rPr lang="en-US" altLang="ko-KR" dirty="0"/>
              <a:t>β  = </a:t>
            </a:r>
            <a:r>
              <a:rPr lang="ko-KR" altLang="en-US" dirty="0"/>
              <a:t>학습 가능한 </a:t>
            </a:r>
            <a:r>
              <a:rPr lang="en-US" altLang="ko-KR" dirty="0"/>
              <a:t>bias </a:t>
            </a:r>
            <a:r>
              <a:rPr lang="ko-KR" altLang="en-US" dirty="0"/>
              <a:t>파라미터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γ(scale parameter)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학습 중 </a:t>
            </a:r>
            <a:r>
              <a:rPr lang="en-US" altLang="ko-KR" dirty="0"/>
              <a:t>optimizer</a:t>
            </a:r>
            <a:r>
              <a:rPr lang="ko-KR" altLang="en-US" dirty="0"/>
              <a:t>가 업데이트함</a:t>
            </a:r>
          </a:p>
          <a:p>
            <a:r>
              <a:rPr lang="en-US" altLang="ko-KR" dirty="0"/>
              <a:t>- </a:t>
            </a:r>
            <a:r>
              <a:rPr lang="en-US" altLang="ko-KR" dirty="0" err="1"/>
              <a:t>nn.LayerNorm</a:t>
            </a:r>
            <a:r>
              <a:rPr lang="ko-KR" altLang="en-US" dirty="0"/>
              <a:t>의 </a:t>
            </a:r>
            <a:r>
              <a:rPr lang="en-US" altLang="ko-KR" dirty="0"/>
              <a:t>weight</a:t>
            </a:r>
          </a:p>
          <a:p>
            <a:endParaRPr lang="en-US" altLang="ko-KR" dirty="0"/>
          </a:p>
          <a:p>
            <a:r>
              <a:rPr lang="en-US" altLang="ko-KR" dirty="0"/>
              <a:t>β(bias parameter)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학습 중 </a:t>
            </a:r>
            <a:r>
              <a:rPr lang="en-US" altLang="ko-KR" dirty="0"/>
              <a:t>optimizer</a:t>
            </a:r>
            <a:r>
              <a:rPr lang="ko-KR" altLang="en-US" dirty="0"/>
              <a:t>가 업데이트함</a:t>
            </a:r>
          </a:p>
          <a:p>
            <a:r>
              <a:rPr lang="en-US" altLang="ko-KR" dirty="0"/>
              <a:t>- </a:t>
            </a:r>
            <a:r>
              <a:rPr lang="en-US" altLang="ko-KR" dirty="0" err="1"/>
              <a:t>nn.LayerNorm</a:t>
            </a:r>
            <a:r>
              <a:rPr lang="ko-KR" altLang="en-US" dirty="0"/>
              <a:t>의 </a:t>
            </a:r>
            <a:r>
              <a:rPr lang="en-US" altLang="ko-KR" dirty="0"/>
              <a:t>bias</a:t>
            </a:r>
          </a:p>
          <a:p>
            <a:endParaRPr lang="en-US" altLang="ko-KR" dirty="0"/>
          </a:p>
          <a:p>
            <a:r>
              <a:rPr lang="en-US" altLang="ko-KR" dirty="0"/>
              <a:t>ε(epsilon)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사용자가 정하거나 기본값 사용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학습되지 않음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C5530-943F-44B8-98EF-B09B63FEBAB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071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2385E-32FB-B2C6-8993-754C375B4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3C7BBB-D9B1-44E0-6E10-B53E64F49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A838F0-0915-AA6B-54F5-F94DA24F9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BF9227-C802-EA55-B686-F90AB520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C5530-943F-44B8-98EF-B09B63FEBAB4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9191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2439BF-A9CA-C989-CE70-A2BD502DC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Decoder only </a:t>
            </a:r>
            <a:r>
              <a:rPr lang="en-US" altLang="ko-KR" dirty="0" err="1"/>
              <a:t>slm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2E801B-B980-0953-61CB-1D9DD75D4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mijeong.roh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09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140817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500" b="1" dirty="0">
                <a:solidFill>
                  <a:srgbClr val="121C37"/>
                </a:solidFill>
                <a:latin typeface="Arial"/>
              </a:rPr>
              <a:t>Masked Multi-Head Self-Attention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987552"/>
            <a:ext cx="8869680" cy="621792"/>
          </a:xfrm>
          <a:prstGeom prst="roundRect">
            <a:avLst/>
          </a:prstGeom>
          <a:solidFill>
            <a:srgbClr val="F2E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dirty="0">
                <a:solidFill>
                  <a:srgbClr val="121C37"/>
                </a:solidFill>
                <a:latin typeface="Malgun Gothic"/>
              </a:rPr>
              <a:t>1. X = Input Embedding + Positional Encoding</a:t>
            </a:r>
          </a:p>
          <a:p>
            <a:pPr algn="ctr"/>
            <a:r>
              <a:rPr sz="1300" b="1" dirty="0">
                <a:solidFill>
                  <a:srgbClr val="121C37"/>
                </a:solidFill>
                <a:latin typeface="Malgun Gothic"/>
              </a:rPr>
              <a:t>shape: (</a:t>
            </a:r>
            <a:r>
              <a:rPr sz="1300" b="1" dirty="0" err="1">
                <a:solidFill>
                  <a:srgbClr val="121C37"/>
                </a:solidFill>
                <a:latin typeface="Malgun Gothic"/>
              </a:rPr>
              <a:t>seq_len</a:t>
            </a:r>
            <a:r>
              <a:rPr sz="1300" b="1" dirty="0">
                <a:solidFill>
                  <a:srgbClr val="121C37"/>
                </a:solidFill>
                <a:latin typeface="Malgun Gothic"/>
              </a:rPr>
              <a:t>, </a:t>
            </a:r>
            <a:r>
              <a:rPr sz="1300" b="1" dirty="0" err="1">
                <a:solidFill>
                  <a:srgbClr val="121C37"/>
                </a:solidFill>
                <a:latin typeface="Malgun Gothic"/>
              </a:rPr>
              <a:t>d_model</a:t>
            </a:r>
            <a:r>
              <a:rPr sz="1300" b="1" dirty="0">
                <a:solidFill>
                  <a:srgbClr val="121C37"/>
                </a:solidFill>
                <a:latin typeface="Malgun Gothic"/>
              </a:rPr>
              <a:t>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0" y="1609344"/>
            <a:ext cx="0" cy="265175"/>
          </a:xfrm>
          <a:prstGeom prst="line">
            <a:avLst/>
          </a:prstGeom>
          <a:ln w="1905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0360" y="1874519"/>
            <a:ext cx="8869680" cy="621792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 b="1" dirty="0">
                <a:solidFill>
                  <a:srgbClr val="121C37"/>
                </a:solidFill>
                <a:latin typeface="Arial"/>
              </a:rPr>
              <a:t>2. Q = </a:t>
            </a:r>
            <a:r>
              <a:rPr sz="2000" b="1" dirty="0" err="1">
                <a:solidFill>
                  <a:srgbClr val="121C37"/>
                </a:solidFill>
                <a:latin typeface="Arial"/>
              </a:rPr>
              <a:t>X</a:t>
            </a:r>
            <a:r>
              <a:rPr lang="en-US" sz="2000" b="1" dirty="0" err="1">
                <a:solidFill>
                  <a:srgbClr val="121C37"/>
                </a:solidFill>
                <a:latin typeface="Arial"/>
              </a:rPr>
              <a:t>@</a:t>
            </a:r>
            <a:r>
              <a:rPr sz="2000" b="1" dirty="0" err="1">
                <a:solidFill>
                  <a:srgbClr val="121C37"/>
                </a:solidFill>
                <a:latin typeface="Arial"/>
              </a:rPr>
              <a:t>Wq</a:t>
            </a:r>
            <a:r>
              <a:rPr lang="en-US" sz="2000" b="1" dirty="0" err="1">
                <a:solidFill>
                  <a:srgbClr val="121C37"/>
                </a:solidFill>
                <a:latin typeface="Arial"/>
              </a:rPr>
              <a:t>+bq</a:t>
            </a:r>
            <a:r>
              <a:rPr sz="2000" b="1" dirty="0">
                <a:solidFill>
                  <a:srgbClr val="121C37"/>
                </a:solidFill>
                <a:latin typeface="Arial"/>
              </a:rPr>
              <a:t>     K = </a:t>
            </a:r>
            <a:r>
              <a:rPr sz="2000" b="1" dirty="0" err="1">
                <a:solidFill>
                  <a:srgbClr val="121C37"/>
                </a:solidFill>
                <a:latin typeface="Arial"/>
              </a:rPr>
              <a:t>X</a:t>
            </a:r>
            <a:r>
              <a:rPr lang="en-US" sz="2000" b="1" dirty="0" err="1">
                <a:solidFill>
                  <a:srgbClr val="121C37"/>
                </a:solidFill>
                <a:latin typeface="Arial"/>
              </a:rPr>
              <a:t>@Wk+bk</a:t>
            </a:r>
            <a:r>
              <a:rPr lang="en-US" sz="2000" b="1" dirty="0">
                <a:solidFill>
                  <a:srgbClr val="121C37"/>
                </a:solidFill>
                <a:latin typeface="Arial"/>
              </a:rPr>
              <a:t> </a:t>
            </a:r>
            <a:r>
              <a:rPr sz="2000" b="1" dirty="0">
                <a:solidFill>
                  <a:srgbClr val="121C37"/>
                </a:solidFill>
                <a:latin typeface="Arial"/>
              </a:rPr>
              <a:t>     V = </a:t>
            </a:r>
            <a:r>
              <a:rPr sz="2000" b="1" dirty="0" err="1">
                <a:solidFill>
                  <a:srgbClr val="121C37"/>
                </a:solidFill>
                <a:latin typeface="Arial"/>
              </a:rPr>
              <a:t>X</a:t>
            </a:r>
            <a:r>
              <a:rPr lang="en-US" sz="2000" b="1" dirty="0" err="1">
                <a:solidFill>
                  <a:srgbClr val="121C37"/>
                </a:solidFill>
                <a:latin typeface="Arial"/>
              </a:rPr>
              <a:t>@</a:t>
            </a:r>
            <a:r>
              <a:rPr sz="2000" b="1" dirty="0" err="1">
                <a:solidFill>
                  <a:srgbClr val="121C37"/>
                </a:solidFill>
                <a:latin typeface="Arial"/>
              </a:rPr>
              <a:t>Wv</a:t>
            </a:r>
            <a:r>
              <a:rPr lang="en-US" sz="2000" b="1" dirty="0" err="1">
                <a:solidFill>
                  <a:srgbClr val="121C37"/>
                </a:solidFill>
                <a:latin typeface="Arial"/>
              </a:rPr>
              <a:t>+bv</a:t>
            </a:r>
            <a:endParaRPr sz="2000" b="1" dirty="0">
              <a:solidFill>
                <a:srgbClr val="121C37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21C37"/>
                </a:solidFill>
                <a:latin typeface="Arial"/>
              </a:rPr>
              <a:t>shape: (</a:t>
            </a:r>
            <a:r>
              <a:rPr sz="1300" b="1" dirty="0" err="1">
                <a:solidFill>
                  <a:srgbClr val="121C37"/>
                </a:solidFill>
                <a:latin typeface="Arial"/>
              </a:rPr>
              <a:t>seq_len</a:t>
            </a:r>
            <a:r>
              <a:rPr sz="1300" b="1" dirty="0">
                <a:solidFill>
                  <a:srgbClr val="121C37"/>
                </a:solidFill>
                <a:latin typeface="Arial"/>
              </a:rPr>
              <a:t>, </a:t>
            </a:r>
            <a:r>
              <a:rPr sz="1300" b="1" dirty="0" err="1">
                <a:solidFill>
                  <a:srgbClr val="121C37"/>
                </a:solidFill>
                <a:latin typeface="Arial"/>
              </a:rPr>
              <a:t>d_model</a:t>
            </a:r>
            <a:r>
              <a:rPr sz="1300" b="1" dirty="0">
                <a:solidFill>
                  <a:srgbClr val="121C37"/>
                </a:solidFill>
                <a:latin typeface="Arial"/>
              </a:rPr>
              <a:t>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0" y="2496312"/>
            <a:ext cx="0" cy="265176"/>
          </a:xfrm>
          <a:prstGeom prst="line">
            <a:avLst/>
          </a:prstGeom>
          <a:ln w="1905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2761488"/>
            <a:ext cx="8869680" cy="621792"/>
          </a:xfrm>
          <a:prstGeom prst="roundRect">
            <a:avLst/>
          </a:prstGeom>
          <a:solidFill>
            <a:srgbClr val="FFF9E8"/>
          </a:solidFill>
          <a:ln w="17780">
            <a:solidFill>
              <a:srgbClr val="F4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dirty="0">
                <a:solidFill>
                  <a:srgbClr val="121C37"/>
                </a:solidFill>
                <a:latin typeface="Malgun Gothic"/>
              </a:rPr>
              <a:t>3. Q, K, </a:t>
            </a:r>
            <a:r>
              <a:rPr sz="1300" b="1" dirty="0" err="1">
                <a:solidFill>
                  <a:srgbClr val="121C37"/>
                </a:solidFill>
                <a:latin typeface="Malgun Gothic"/>
              </a:rPr>
              <a:t>V를</a:t>
            </a:r>
            <a:r>
              <a:rPr sz="1300" b="1" dirty="0">
                <a:solidFill>
                  <a:srgbClr val="121C37"/>
                </a:solidFill>
                <a:latin typeface="Malgun Gothic"/>
              </a:rPr>
              <a:t> head </a:t>
            </a:r>
            <a:r>
              <a:rPr sz="1300" b="1" dirty="0" err="1">
                <a:solidFill>
                  <a:srgbClr val="121C37"/>
                </a:solidFill>
                <a:latin typeface="Malgun Gothic"/>
              </a:rPr>
              <a:t>수만큼</a:t>
            </a:r>
            <a:r>
              <a:rPr sz="1300" b="1" dirty="0">
                <a:solidFill>
                  <a:srgbClr val="121C37"/>
                </a:solidFill>
                <a:latin typeface="Malgun Gothic"/>
              </a:rPr>
              <a:t> </a:t>
            </a:r>
            <a:r>
              <a:rPr sz="1300" b="1" dirty="0" err="1">
                <a:solidFill>
                  <a:srgbClr val="121C37"/>
                </a:solidFill>
                <a:latin typeface="Malgun Gothic"/>
              </a:rPr>
              <a:t>분할</a:t>
            </a:r>
            <a:endParaRPr sz="1300" b="1" dirty="0">
              <a:solidFill>
                <a:srgbClr val="121C37"/>
              </a:solidFill>
              <a:latin typeface="Malgun Gothic"/>
            </a:endParaRPr>
          </a:p>
          <a:p>
            <a:pPr algn="ctr"/>
            <a:r>
              <a:rPr sz="1300" b="1" dirty="0">
                <a:solidFill>
                  <a:srgbClr val="121C37"/>
                </a:solidFill>
                <a:latin typeface="Malgun Gothic"/>
              </a:rPr>
              <a:t>shape: (</a:t>
            </a:r>
            <a:r>
              <a:rPr sz="1300" b="1" dirty="0" err="1">
                <a:solidFill>
                  <a:srgbClr val="121C37"/>
                </a:solidFill>
                <a:latin typeface="Malgun Gothic"/>
              </a:rPr>
              <a:t>num_heads</a:t>
            </a:r>
            <a:r>
              <a:rPr lang="en-US" sz="1300" b="1" dirty="0">
                <a:solidFill>
                  <a:srgbClr val="121C37"/>
                </a:solidFill>
                <a:latin typeface="Malgun Gothic"/>
              </a:rPr>
              <a:t>=4</a:t>
            </a:r>
            <a:r>
              <a:rPr sz="1300" b="1" dirty="0">
                <a:solidFill>
                  <a:srgbClr val="121C37"/>
                </a:solidFill>
                <a:latin typeface="Malgun Gothic"/>
              </a:rPr>
              <a:t>, </a:t>
            </a:r>
            <a:r>
              <a:rPr sz="1300" b="1" dirty="0" err="1">
                <a:solidFill>
                  <a:srgbClr val="121C37"/>
                </a:solidFill>
                <a:latin typeface="Malgun Gothic"/>
              </a:rPr>
              <a:t>seq_len</a:t>
            </a:r>
            <a:r>
              <a:rPr sz="1300" b="1" dirty="0">
                <a:solidFill>
                  <a:srgbClr val="121C37"/>
                </a:solidFill>
                <a:latin typeface="Malgun Gothic"/>
              </a:rPr>
              <a:t>, </a:t>
            </a:r>
            <a:r>
              <a:rPr sz="1300" b="1" dirty="0" err="1">
                <a:solidFill>
                  <a:srgbClr val="121C37"/>
                </a:solidFill>
                <a:latin typeface="Malgun Gothic"/>
              </a:rPr>
              <a:t>head_dim</a:t>
            </a:r>
            <a:r>
              <a:rPr sz="1300" b="1" dirty="0">
                <a:solidFill>
                  <a:srgbClr val="121C37"/>
                </a:solidFill>
                <a:latin typeface="Malgun Gothic"/>
              </a:rPr>
              <a:t>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926080" y="3383280"/>
            <a:ext cx="4389120" cy="320040"/>
          </a:xfrm>
          <a:prstGeom prst="line">
            <a:avLst/>
          </a:prstGeom>
          <a:ln w="1397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28800" y="3703319"/>
            <a:ext cx="2194560" cy="1494389"/>
          </a:xfrm>
          <a:prstGeom prst="roundRect">
            <a:avLst/>
          </a:prstGeom>
          <a:solidFill>
            <a:srgbClr val="F2E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121C37"/>
                </a:solidFill>
                <a:latin typeface="Arial"/>
              </a:rPr>
              <a:t>Head 1</a:t>
            </a:r>
          </a:p>
          <a:p>
            <a:pPr algn="ctr"/>
            <a:r>
              <a:rPr sz="1200" b="1" dirty="0">
                <a:solidFill>
                  <a:srgbClr val="121C37"/>
                </a:solidFill>
                <a:latin typeface="Arial"/>
              </a:rPr>
              <a:t>Qᵢ, Kᵢ, Vᵢ</a:t>
            </a:r>
          </a:p>
          <a:p>
            <a:pPr algn="ctr"/>
            <a:r>
              <a:rPr sz="1600" b="1" dirty="0" err="1">
                <a:solidFill>
                  <a:srgbClr val="121C37"/>
                </a:solidFill>
                <a:latin typeface="Arial"/>
              </a:rPr>
              <a:t>softmax</a:t>
            </a:r>
            <a:r>
              <a:rPr sz="1600" b="1" dirty="0">
                <a:solidFill>
                  <a:srgbClr val="121C37"/>
                </a:solidFill>
                <a:latin typeface="Arial"/>
              </a:rPr>
              <a:t>(QᵢKᵢᵀ / √dₖ + mask) </a:t>
            </a:r>
            <a:r>
              <a:rPr lang="en-US" sz="1600" b="1" dirty="0">
                <a:solidFill>
                  <a:srgbClr val="121C37"/>
                </a:solidFill>
                <a:latin typeface="Arial"/>
              </a:rPr>
              <a:t>@ </a:t>
            </a:r>
            <a:r>
              <a:rPr sz="1600" b="1" dirty="0">
                <a:solidFill>
                  <a:srgbClr val="121C37"/>
                </a:solidFill>
                <a:latin typeface="Arial"/>
              </a:rPr>
              <a:t>Vᵢ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728060"/>
            <a:ext cx="219456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Head Output</a:t>
            </a:r>
          </a:p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(seq_len, head_dim)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5238208"/>
            <a:ext cx="0" cy="411480"/>
          </a:xfrm>
          <a:prstGeom prst="line">
            <a:avLst/>
          </a:prstGeom>
          <a:ln w="1524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26080" y="6294988"/>
            <a:ext cx="0" cy="256032"/>
          </a:xfrm>
          <a:prstGeom prst="line">
            <a:avLst/>
          </a:prstGeom>
          <a:ln w="1397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26080" y="6551020"/>
            <a:ext cx="4389120" cy="0"/>
          </a:xfrm>
          <a:prstGeom prst="line">
            <a:avLst/>
          </a:prstGeom>
          <a:ln w="1397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64332" y="6577146"/>
            <a:ext cx="0" cy="228600"/>
          </a:xfrm>
          <a:prstGeom prst="line">
            <a:avLst/>
          </a:prstGeom>
          <a:ln w="1397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760720" y="3383280"/>
            <a:ext cx="1554480" cy="320040"/>
          </a:xfrm>
          <a:prstGeom prst="line">
            <a:avLst/>
          </a:prstGeom>
          <a:ln w="1397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63440" y="3703320"/>
            <a:ext cx="2194560" cy="1494388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121C37"/>
                </a:solidFill>
                <a:latin typeface="Arial"/>
              </a:rPr>
              <a:t>Head 2</a:t>
            </a:r>
          </a:p>
          <a:p>
            <a:pPr algn="ctr"/>
            <a:r>
              <a:rPr sz="1200" b="1" dirty="0">
                <a:solidFill>
                  <a:srgbClr val="121C37"/>
                </a:solidFill>
                <a:latin typeface="Arial"/>
              </a:rPr>
              <a:t>Qᵢ, Kᵢ, Vᵢ</a:t>
            </a:r>
          </a:p>
          <a:p>
            <a:pPr algn="ctr"/>
            <a:r>
              <a:rPr sz="1600" b="1" dirty="0" err="1">
                <a:solidFill>
                  <a:srgbClr val="121C37"/>
                </a:solidFill>
                <a:latin typeface="Arial"/>
              </a:rPr>
              <a:t>softmax</a:t>
            </a:r>
            <a:r>
              <a:rPr sz="1600" b="1" dirty="0">
                <a:solidFill>
                  <a:srgbClr val="121C37"/>
                </a:solidFill>
                <a:latin typeface="Arial"/>
              </a:rPr>
              <a:t>(QᵢKᵢᵀ / √dₖ + mask) </a:t>
            </a:r>
            <a:r>
              <a:rPr lang="en-US" sz="1600" b="1" dirty="0">
                <a:solidFill>
                  <a:srgbClr val="121C37"/>
                </a:solidFill>
                <a:latin typeface="Arial"/>
              </a:rPr>
              <a:t>@ </a:t>
            </a:r>
            <a:r>
              <a:rPr sz="1600" b="1" dirty="0">
                <a:solidFill>
                  <a:srgbClr val="121C37"/>
                </a:solidFill>
                <a:latin typeface="Arial"/>
              </a:rPr>
              <a:t>Vᵢ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5728060"/>
            <a:ext cx="219456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Head Output</a:t>
            </a:r>
          </a:p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(seq_len, head_dim)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720" y="5238208"/>
            <a:ext cx="0" cy="411480"/>
          </a:xfrm>
          <a:prstGeom prst="line">
            <a:avLst/>
          </a:prstGeom>
          <a:ln w="1524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60720" y="6294988"/>
            <a:ext cx="0" cy="256032"/>
          </a:xfrm>
          <a:prstGeom prst="line">
            <a:avLst/>
          </a:prstGeom>
          <a:ln w="1397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720" y="6551020"/>
            <a:ext cx="1554480" cy="0"/>
          </a:xfrm>
          <a:prstGeom prst="line">
            <a:avLst/>
          </a:prstGeom>
          <a:ln w="1397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15200" y="3383280"/>
            <a:ext cx="1280159" cy="320040"/>
          </a:xfrm>
          <a:prstGeom prst="line">
            <a:avLst/>
          </a:prstGeom>
          <a:ln w="13970">
            <a:solidFill>
              <a:srgbClr val="EF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79" y="3703320"/>
            <a:ext cx="2194560" cy="1456516"/>
          </a:xfrm>
          <a:prstGeom prst="roundRect">
            <a:avLst/>
          </a:prstGeom>
          <a:solidFill>
            <a:srgbClr val="FFF2E8"/>
          </a:solidFill>
          <a:ln w="17780">
            <a:solidFill>
              <a:srgbClr val="EF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121C37"/>
                </a:solidFill>
                <a:latin typeface="Arial"/>
              </a:rPr>
              <a:t>Head 3</a:t>
            </a:r>
          </a:p>
          <a:p>
            <a:pPr algn="ctr"/>
            <a:r>
              <a:rPr sz="1200" b="1" dirty="0">
                <a:solidFill>
                  <a:srgbClr val="121C37"/>
                </a:solidFill>
                <a:latin typeface="Arial"/>
              </a:rPr>
              <a:t>Qᵢ, Kᵢ, Vᵢ</a:t>
            </a:r>
          </a:p>
          <a:p>
            <a:pPr algn="ctr"/>
            <a:r>
              <a:rPr sz="1600" b="1" dirty="0" err="1">
                <a:solidFill>
                  <a:srgbClr val="121C37"/>
                </a:solidFill>
                <a:latin typeface="Arial"/>
              </a:rPr>
              <a:t>softmax</a:t>
            </a:r>
            <a:r>
              <a:rPr sz="1600" b="1" dirty="0">
                <a:solidFill>
                  <a:srgbClr val="121C37"/>
                </a:solidFill>
                <a:latin typeface="Arial"/>
              </a:rPr>
              <a:t>(QᵢKᵢᵀ / √dₖ + mask) </a:t>
            </a:r>
            <a:r>
              <a:rPr lang="en-US" sz="1600" b="1" dirty="0">
                <a:solidFill>
                  <a:srgbClr val="121C37"/>
                </a:solidFill>
                <a:latin typeface="Arial"/>
              </a:rPr>
              <a:t>@ </a:t>
            </a:r>
            <a:r>
              <a:rPr sz="1600" b="1" dirty="0">
                <a:solidFill>
                  <a:srgbClr val="121C37"/>
                </a:solidFill>
                <a:latin typeface="Arial"/>
              </a:rPr>
              <a:t>Vᵢ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5728060"/>
            <a:ext cx="219456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Head Output</a:t>
            </a:r>
          </a:p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(seq_len, head_dim)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95359" y="5238208"/>
            <a:ext cx="0" cy="411480"/>
          </a:xfrm>
          <a:prstGeom prst="line">
            <a:avLst/>
          </a:prstGeom>
          <a:ln w="15240">
            <a:solidFill>
              <a:srgbClr val="EF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95359" y="6294988"/>
            <a:ext cx="0" cy="256032"/>
          </a:xfrm>
          <a:prstGeom prst="line">
            <a:avLst/>
          </a:prstGeom>
          <a:ln w="13970">
            <a:solidFill>
              <a:srgbClr val="EF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315200" y="6551020"/>
            <a:ext cx="1280159" cy="0"/>
          </a:xfrm>
          <a:prstGeom prst="line">
            <a:avLst/>
          </a:prstGeom>
          <a:ln w="13970">
            <a:solidFill>
              <a:srgbClr val="EF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0" y="3383280"/>
            <a:ext cx="4114800" cy="320040"/>
          </a:xfrm>
          <a:prstGeom prst="line">
            <a:avLst/>
          </a:prstGeom>
          <a:ln w="13970">
            <a:solidFill>
              <a:srgbClr val="E2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332720" y="3703320"/>
            <a:ext cx="2194560" cy="1494388"/>
          </a:xfrm>
          <a:prstGeom prst="roundRect">
            <a:avLst/>
          </a:prstGeom>
          <a:solidFill>
            <a:srgbClr val="FFF1F9"/>
          </a:solidFill>
          <a:ln w="17780">
            <a:solidFill>
              <a:srgbClr val="E2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121C37"/>
                </a:solidFill>
                <a:latin typeface="Arial"/>
              </a:rPr>
              <a:t>Head 4</a:t>
            </a:r>
          </a:p>
          <a:p>
            <a:pPr algn="ctr"/>
            <a:r>
              <a:rPr sz="1200" b="1" dirty="0">
                <a:solidFill>
                  <a:srgbClr val="121C37"/>
                </a:solidFill>
                <a:latin typeface="Arial"/>
              </a:rPr>
              <a:t>Qᵢ, Kᵢ, Vᵢ</a:t>
            </a:r>
          </a:p>
          <a:p>
            <a:pPr algn="ctr"/>
            <a:r>
              <a:rPr sz="1600" b="1" dirty="0" err="1">
                <a:solidFill>
                  <a:srgbClr val="121C37"/>
                </a:solidFill>
                <a:latin typeface="Arial"/>
              </a:rPr>
              <a:t>softmax</a:t>
            </a:r>
            <a:r>
              <a:rPr sz="1600" b="1" dirty="0">
                <a:solidFill>
                  <a:srgbClr val="121C37"/>
                </a:solidFill>
                <a:latin typeface="Arial"/>
              </a:rPr>
              <a:t>(QᵢKᵢᵀ / √dₖ + mask) </a:t>
            </a:r>
            <a:r>
              <a:rPr lang="en-US" sz="1600" b="1" dirty="0">
                <a:solidFill>
                  <a:srgbClr val="121C37"/>
                </a:solidFill>
                <a:latin typeface="Arial"/>
              </a:rPr>
              <a:t>@ </a:t>
            </a:r>
            <a:r>
              <a:rPr sz="1600" b="1" dirty="0">
                <a:solidFill>
                  <a:srgbClr val="121C37"/>
                </a:solidFill>
                <a:latin typeface="Arial"/>
              </a:rPr>
              <a:t>Vᵢ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20" y="5728060"/>
            <a:ext cx="219456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Head Output</a:t>
            </a:r>
          </a:p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(seq_len, head_dim)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430000" y="5238208"/>
            <a:ext cx="0" cy="411480"/>
          </a:xfrm>
          <a:prstGeom prst="line">
            <a:avLst/>
          </a:prstGeom>
          <a:ln w="15240">
            <a:solidFill>
              <a:srgbClr val="E2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430000" y="6294988"/>
            <a:ext cx="0" cy="256032"/>
          </a:xfrm>
          <a:prstGeom prst="line">
            <a:avLst/>
          </a:prstGeom>
          <a:ln w="13970">
            <a:solidFill>
              <a:srgbClr val="E2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315200" y="6551020"/>
            <a:ext cx="4114800" cy="0"/>
          </a:xfrm>
          <a:prstGeom prst="line">
            <a:avLst/>
          </a:prstGeom>
          <a:ln w="13970">
            <a:solidFill>
              <a:srgbClr val="E2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cxnSpLocks/>
          </p:cNvCxnSpPr>
          <p:nvPr/>
        </p:nvCxnSpPr>
        <p:spPr>
          <a:xfrm>
            <a:off x="7315200" y="6779620"/>
            <a:ext cx="0" cy="0"/>
          </a:xfrm>
          <a:prstGeom prst="line">
            <a:avLst/>
          </a:prstGeom>
          <a:ln w="13970">
            <a:solidFill>
              <a:srgbClr val="E2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572000" y="6779620"/>
            <a:ext cx="2194560" cy="594360"/>
          </a:xfrm>
          <a:prstGeom prst="roundRect">
            <a:avLst/>
          </a:prstGeom>
          <a:solidFill>
            <a:srgbClr val="F2E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21C37"/>
                </a:solidFill>
                <a:latin typeface="Malgun Gothic"/>
              </a:rPr>
              <a:t>4. head 결과 concat</a:t>
            </a:r>
          </a:p>
          <a:p>
            <a:pPr algn="ctr"/>
            <a:r>
              <a:rPr sz="1200" b="1">
                <a:solidFill>
                  <a:srgbClr val="121C37"/>
                </a:solidFill>
                <a:latin typeface="Malgun Gothic"/>
              </a:rPr>
              <a:t>shape: (seq_len, d_model)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15990" y="6805746"/>
            <a:ext cx="2194560" cy="594360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121C37"/>
                </a:solidFill>
                <a:latin typeface="Arial"/>
              </a:rPr>
              <a:t>5. Wo projection</a:t>
            </a:r>
          </a:p>
          <a:p>
            <a:pPr algn="ctr"/>
            <a:r>
              <a:rPr sz="1200" b="1" dirty="0">
                <a:solidFill>
                  <a:srgbClr val="121C37"/>
                </a:solidFill>
                <a:latin typeface="Arial"/>
              </a:rPr>
              <a:t>shape: (</a:t>
            </a:r>
            <a:r>
              <a:rPr sz="1200" b="1" dirty="0" err="1">
                <a:solidFill>
                  <a:srgbClr val="121C37"/>
                </a:solidFill>
                <a:latin typeface="Arial"/>
              </a:rPr>
              <a:t>seq_len</a:t>
            </a:r>
            <a:r>
              <a:rPr sz="1200" b="1" dirty="0">
                <a:solidFill>
                  <a:srgbClr val="121C37"/>
                </a:solidFill>
                <a:latin typeface="Arial"/>
              </a:rPr>
              <a:t>, </a:t>
            </a:r>
            <a:r>
              <a:rPr sz="1200" b="1" dirty="0" err="1">
                <a:solidFill>
                  <a:srgbClr val="121C37"/>
                </a:solidFill>
                <a:latin typeface="Arial"/>
              </a:rPr>
              <a:t>d_model</a:t>
            </a:r>
            <a:r>
              <a:rPr sz="1200" b="1" dirty="0">
                <a:solidFill>
                  <a:srgbClr val="121C37"/>
                </a:solidFill>
                <a:latin typeface="Arial"/>
              </a:rPr>
              <a:t>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66560" y="7081372"/>
            <a:ext cx="320040" cy="0"/>
          </a:xfrm>
          <a:prstGeom prst="line">
            <a:avLst/>
          </a:prstGeom>
          <a:ln w="15240">
            <a:solidFill>
              <a:srgbClr val="121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1841480" y="1874519"/>
            <a:ext cx="224028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121C37"/>
                </a:solidFill>
                <a:latin typeface="Malgun Gothic"/>
              </a:rPr>
              <a:t>Kᵀ = </a:t>
            </a:r>
            <a:r>
              <a:rPr sz="1100" b="1" dirty="0" err="1">
                <a:solidFill>
                  <a:srgbClr val="121C37"/>
                </a:solidFill>
                <a:latin typeface="Malgun Gothic"/>
              </a:rPr>
              <a:t>K의</a:t>
            </a:r>
            <a:r>
              <a:rPr sz="1100" b="1" dirty="0">
                <a:solidFill>
                  <a:srgbClr val="121C37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121C37"/>
                </a:solidFill>
                <a:latin typeface="Malgun Gothic"/>
              </a:rPr>
              <a:t>전치행렬</a:t>
            </a:r>
            <a:endParaRPr sz="1100" b="1" dirty="0">
              <a:solidFill>
                <a:srgbClr val="121C37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140817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500" b="1">
                <a:solidFill>
                  <a:srgbClr val="121C37"/>
                </a:solidFill>
                <a:latin typeface="Arial"/>
              </a:rPr>
              <a:t>Single Head Attention Detail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965960"/>
            <a:ext cx="731520" cy="502920"/>
          </a:xfrm>
          <a:prstGeom prst="roundRect">
            <a:avLst/>
          </a:prstGeom>
          <a:solidFill>
            <a:srgbClr val="F2E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121C37"/>
                </a:solidFill>
                <a:latin typeface="Arial"/>
              </a:rPr>
              <a:t>Qᵢ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017520"/>
            <a:ext cx="731520" cy="502920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121C37"/>
                </a:solidFill>
                <a:latin typeface="Arial"/>
              </a:rPr>
              <a:t>Kᵢ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068388"/>
            <a:ext cx="731520" cy="502920"/>
          </a:xfrm>
          <a:prstGeom prst="roundRect">
            <a:avLst/>
          </a:prstGeom>
          <a:solidFill>
            <a:srgbClr val="FFF1F9"/>
          </a:solidFill>
          <a:ln w="17780">
            <a:solidFill>
              <a:srgbClr val="E2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dirty="0">
                <a:solidFill>
                  <a:srgbClr val="121C37"/>
                </a:solidFill>
                <a:latin typeface="Arial"/>
              </a:rPr>
              <a:t>Vᵢ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898648"/>
            <a:ext cx="155448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121C37"/>
                </a:solidFill>
                <a:latin typeface="Arial"/>
              </a:rPr>
              <a:t>Kᵢᵀ</a:t>
            </a:r>
          </a:p>
          <a:p>
            <a:pPr algn="ctr"/>
            <a:r>
              <a:rPr sz="1300" b="1">
                <a:solidFill>
                  <a:srgbClr val="121C37"/>
                </a:solidFill>
                <a:latin typeface="Arial"/>
              </a:rPr>
              <a:t>K의 전치행렬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828800" y="3218688"/>
            <a:ext cx="914400" cy="54864"/>
          </a:xfrm>
          <a:prstGeom prst="line">
            <a:avLst/>
          </a:prstGeom>
          <a:ln w="1651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37760" y="2468880"/>
            <a:ext cx="1645920" cy="777240"/>
          </a:xfrm>
          <a:prstGeom prst="roundRect">
            <a:avLst/>
          </a:prstGeom>
          <a:solidFill>
            <a:srgbClr val="FFF9E8"/>
          </a:solidFill>
          <a:ln w="17780">
            <a:solidFill>
              <a:srgbClr val="F4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dirty="0">
                <a:solidFill>
                  <a:srgbClr val="121C37"/>
                </a:solidFill>
                <a:latin typeface="Arial"/>
              </a:rPr>
              <a:t>Score</a:t>
            </a:r>
          </a:p>
          <a:p>
            <a:pPr algn="ctr"/>
            <a:r>
              <a:rPr sz="1500" b="1" dirty="0">
                <a:solidFill>
                  <a:srgbClr val="121C37"/>
                </a:solidFill>
                <a:latin typeface="Arial"/>
              </a:rPr>
              <a:t>QᵢKᵢᵀ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212848"/>
            <a:ext cx="2377440" cy="0"/>
          </a:xfrm>
          <a:prstGeom prst="line">
            <a:avLst/>
          </a:prstGeom>
          <a:ln w="1651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2212848"/>
            <a:ext cx="0" cy="640080"/>
          </a:xfrm>
          <a:prstGeom prst="line">
            <a:avLst/>
          </a:prstGeom>
          <a:ln w="1651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06240" y="2852928"/>
            <a:ext cx="731520" cy="0"/>
          </a:xfrm>
          <a:prstGeom prst="line">
            <a:avLst/>
          </a:prstGeom>
          <a:ln w="1651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297680" y="2852928"/>
            <a:ext cx="640080" cy="365760"/>
          </a:xfrm>
          <a:prstGeom prst="line">
            <a:avLst/>
          </a:prstGeom>
          <a:ln w="1651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23760" y="2468880"/>
            <a:ext cx="169164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dirty="0">
                <a:solidFill>
                  <a:srgbClr val="121C37"/>
                </a:solidFill>
                <a:latin typeface="Arial"/>
              </a:rPr>
              <a:t>Scale</a:t>
            </a:r>
          </a:p>
          <a:p>
            <a:pPr algn="ctr"/>
            <a:r>
              <a:rPr lang="en-US" altLang="ko-KR" sz="1500" b="1" dirty="0">
                <a:solidFill>
                  <a:srgbClr val="121C37"/>
                </a:solidFill>
                <a:latin typeface="Arial"/>
              </a:rPr>
              <a:t>QᵢKᵢᵀ </a:t>
            </a:r>
            <a:r>
              <a:rPr sz="1500" b="1" dirty="0">
                <a:solidFill>
                  <a:srgbClr val="121C37"/>
                </a:solidFill>
                <a:latin typeface="Arial"/>
              </a:rPr>
              <a:t>÷</a:t>
            </a:r>
            <a:r>
              <a:rPr lang="en-US" sz="1500" b="1" dirty="0">
                <a:solidFill>
                  <a:srgbClr val="121C37"/>
                </a:solidFill>
                <a:latin typeface="Arial"/>
              </a:rPr>
              <a:t> </a:t>
            </a:r>
            <a:r>
              <a:rPr sz="1500" b="1" dirty="0">
                <a:solidFill>
                  <a:srgbClr val="121C37"/>
                </a:solidFill>
                <a:latin typeface="Arial"/>
              </a:rPr>
              <a:t> √dₖ</a:t>
            </a:r>
          </a:p>
        </p:txBody>
      </p:sp>
      <p:cxnSp>
        <p:nvCxnSpPr>
          <p:cNvPr id="15" name="Connector 14"/>
          <p:cNvCxnSpPr>
            <a:cxnSpLocks/>
            <a:endCxn id="14" idx="1"/>
          </p:cNvCxnSpPr>
          <p:nvPr/>
        </p:nvCxnSpPr>
        <p:spPr>
          <a:xfrm>
            <a:off x="6583680" y="2852928"/>
            <a:ext cx="640080" cy="4572"/>
          </a:xfrm>
          <a:prstGeom prst="line">
            <a:avLst/>
          </a:prstGeom>
          <a:ln w="16510">
            <a:solidFill>
              <a:srgbClr val="121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757264" y="1664209"/>
            <a:ext cx="1874519" cy="502920"/>
          </a:xfrm>
          <a:prstGeom prst="roundRect">
            <a:avLst/>
          </a:prstGeom>
          <a:solidFill>
            <a:srgbClr val="FFF1F9"/>
          </a:solidFill>
          <a:ln w="17780">
            <a:solidFill>
              <a:srgbClr val="E2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dirty="0">
                <a:solidFill>
                  <a:srgbClr val="121C37"/>
                </a:solidFill>
                <a:latin typeface="Arial"/>
              </a:rPr>
              <a:t>Look-Ahead Mask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468880"/>
            <a:ext cx="1691640" cy="777240"/>
          </a:xfrm>
          <a:prstGeom prst="roundRect">
            <a:avLst/>
          </a:prstGeom>
          <a:solidFill>
            <a:srgbClr val="FFF2E8"/>
          </a:solidFill>
          <a:ln w="17780">
            <a:solidFill>
              <a:srgbClr val="EF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121C37"/>
                </a:solidFill>
                <a:latin typeface="Arial"/>
              </a:rPr>
              <a:t>Masked Score</a:t>
            </a:r>
          </a:p>
        </p:txBody>
      </p:sp>
      <p:cxnSp>
        <p:nvCxnSpPr>
          <p:cNvPr id="18" name="Connector 17"/>
          <p:cNvCxnSpPr>
            <a:cxnSpLocks/>
            <a:stCxn id="14" idx="3"/>
          </p:cNvCxnSpPr>
          <p:nvPr/>
        </p:nvCxnSpPr>
        <p:spPr>
          <a:xfrm flipV="1">
            <a:off x="8915400" y="2852928"/>
            <a:ext cx="411480" cy="4572"/>
          </a:xfrm>
          <a:prstGeom prst="line">
            <a:avLst/>
          </a:prstGeom>
          <a:ln w="16510">
            <a:solidFill>
              <a:srgbClr val="121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16" idx="1"/>
          </p:cNvCxnSpPr>
          <p:nvPr/>
        </p:nvCxnSpPr>
        <p:spPr>
          <a:xfrm flipH="1">
            <a:off x="10149840" y="1915669"/>
            <a:ext cx="607424" cy="553211"/>
          </a:xfrm>
          <a:prstGeom prst="line">
            <a:avLst/>
          </a:prstGeom>
          <a:ln w="15240">
            <a:solidFill>
              <a:srgbClr val="E25E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704320" y="2468880"/>
            <a:ext cx="1417320" cy="777240"/>
          </a:xfrm>
          <a:prstGeom prst="roundRect">
            <a:avLst/>
          </a:prstGeom>
          <a:solidFill>
            <a:srgbClr val="EBFCF7"/>
          </a:solidFill>
          <a:ln w="17780">
            <a:solidFill>
              <a:srgbClr val="27A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121C37"/>
                </a:solidFill>
                <a:latin typeface="Arial"/>
              </a:rPr>
              <a:t>Softmax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018520" y="2852928"/>
            <a:ext cx="685800" cy="0"/>
          </a:xfrm>
          <a:prstGeom prst="line">
            <a:avLst/>
          </a:prstGeom>
          <a:ln w="16510">
            <a:solidFill>
              <a:srgbClr val="121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881360" y="3977639"/>
            <a:ext cx="2194560" cy="594360"/>
          </a:xfrm>
          <a:prstGeom prst="roundRect">
            <a:avLst/>
          </a:prstGeom>
          <a:solidFill>
            <a:srgbClr val="EBFCF7"/>
          </a:solidFill>
          <a:ln w="17780">
            <a:solidFill>
              <a:srgbClr val="27A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dirty="0">
                <a:solidFill>
                  <a:srgbClr val="121C37"/>
                </a:solidFill>
                <a:latin typeface="Arial"/>
              </a:rPr>
              <a:t>Attention Weight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417552" y="3246120"/>
            <a:ext cx="0" cy="411480"/>
          </a:xfrm>
          <a:prstGeom prst="line">
            <a:avLst/>
          </a:prstGeom>
          <a:ln w="16510">
            <a:solidFill>
              <a:srgbClr val="27A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978640" y="3657600"/>
            <a:ext cx="438912" cy="0"/>
          </a:xfrm>
          <a:prstGeom prst="line">
            <a:avLst/>
          </a:prstGeom>
          <a:ln w="16510">
            <a:solidFill>
              <a:srgbClr val="27A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3657600"/>
            <a:ext cx="0" cy="320039"/>
          </a:xfrm>
          <a:prstGeom prst="line">
            <a:avLst/>
          </a:prstGeom>
          <a:ln w="16510">
            <a:solidFill>
              <a:srgbClr val="27A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58937" y="4931228"/>
            <a:ext cx="4519748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altLang="ko-KR" sz="2400" b="1" dirty="0">
                <a:solidFill>
                  <a:srgbClr val="121C37"/>
                </a:solidFill>
                <a:latin typeface="Arial"/>
              </a:rPr>
              <a:t>Vᵢ </a:t>
            </a:r>
            <a:r>
              <a:rPr lang="en-US" sz="2400" b="1" dirty="0">
                <a:solidFill>
                  <a:srgbClr val="121C37"/>
                </a:solidFill>
                <a:latin typeface="Arial"/>
              </a:rPr>
              <a:t>@ Attention Weight</a:t>
            </a:r>
            <a:endParaRPr sz="2400" b="1" dirty="0">
              <a:solidFill>
                <a:srgbClr val="121C37"/>
              </a:solidFill>
              <a:latin typeface="Arial"/>
            </a:endParaRPr>
          </a:p>
        </p:txBody>
      </p:sp>
      <p:cxnSp>
        <p:nvCxnSpPr>
          <p:cNvPr id="27" name="Connector 26"/>
          <p:cNvCxnSpPr>
            <a:cxnSpLocks/>
            <a:stCxn id="22" idx="2"/>
          </p:cNvCxnSpPr>
          <p:nvPr/>
        </p:nvCxnSpPr>
        <p:spPr>
          <a:xfrm>
            <a:off x="11978640" y="4571999"/>
            <a:ext cx="0" cy="752421"/>
          </a:xfrm>
          <a:prstGeom prst="line">
            <a:avLst/>
          </a:prstGeom>
          <a:ln w="16510">
            <a:solidFill>
              <a:srgbClr val="27A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endCxn id="26" idx="3"/>
          </p:cNvCxnSpPr>
          <p:nvPr/>
        </p:nvCxnSpPr>
        <p:spPr>
          <a:xfrm flipH="1" flipV="1">
            <a:off x="9078685" y="5319848"/>
            <a:ext cx="2899955" cy="4572"/>
          </a:xfrm>
          <a:prstGeom prst="line">
            <a:avLst/>
          </a:prstGeom>
          <a:ln w="16510">
            <a:solidFill>
              <a:srgbClr val="27A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  <a:stCxn id="6" idx="3"/>
            <a:endCxn id="26" idx="1"/>
          </p:cNvCxnSpPr>
          <p:nvPr/>
        </p:nvCxnSpPr>
        <p:spPr>
          <a:xfrm>
            <a:off x="1828800" y="5319848"/>
            <a:ext cx="2730137" cy="0"/>
          </a:xfrm>
          <a:prstGeom prst="line">
            <a:avLst/>
          </a:prstGeom>
          <a:ln w="16510">
            <a:solidFill>
              <a:srgbClr val="E2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606578" y="6084025"/>
            <a:ext cx="4389120" cy="658368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altLang="ko-KR" sz="1500" b="1" dirty="0">
                <a:solidFill>
                  <a:srgbClr val="121C37"/>
                </a:solidFill>
                <a:latin typeface="Arial"/>
              </a:rPr>
              <a:t>Attention Output</a:t>
            </a:r>
          </a:p>
          <a:p>
            <a:pPr algn="ctr"/>
            <a:r>
              <a:rPr lang="en-US" sz="1500" b="1" dirty="0">
                <a:solidFill>
                  <a:srgbClr val="121C37"/>
                </a:solidFill>
                <a:latin typeface="Arial"/>
              </a:rPr>
              <a:t>(Single Head Output)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01138" y="5708468"/>
            <a:ext cx="0" cy="320040"/>
          </a:xfrm>
          <a:prstGeom prst="line">
            <a:avLst/>
          </a:prstGeom>
          <a:ln w="17780">
            <a:solidFill>
              <a:srgbClr val="EF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965960" y="868680"/>
            <a:ext cx="106984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 b="1" dirty="0">
                <a:solidFill>
                  <a:srgbClr val="121C37"/>
                </a:solidFill>
                <a:latin typeface="Arial"/>
              </a:rPr>
              <a:t>Attention(Qᵢ,Kᵢ,Vᵢ) = softmax(QᵢKᵢᵀ / √dₖ + mask)</a:t>
            </a:r>
            <a:r>
              <a:rPr lang="en-US" sz="2800" b="1" dirty="0">
                <a:solidFill>
                  <a:srgbClr val="121C37"/>
                </a:solidFill>
                <a:latin typeface="Arial"/>
              </a:rPr>
              <a:t> @</a:t>
            </a:r>
            <a:r>
              <a:rPr sz="2800" b="1" dirty="0">
                <a:solidFill>
                  <a:srgbClr val="121C37"/>
                </a:solidFill>
                <a:latin typeface="Arial"/>
              </a:rPr>
              <a:t> Vᵢ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140817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500" b="1" dirty="0">
                <a:solidFill>
                  <a:srgbClr val="121C37"/>
                </a:solidFill>
                <a:latin typeface="Arial"/>
              </a:rPr>
              <a:t>Shape </a:t>
            </a:r>
            <a:r>
              <a:rPr sz="2500" b="1" dirty="0" err="1">
                <a:solidFill>
                  <a:srgbClr val="121C37"/>
                </a:solidFill>
                <a:latin typeface="Arial"/>
              </a:rPr>
              <a:t>기준</a:t>
            </a:r>
            <a:r>
              <a:rPr sz="2500" b="1" dirty="0">
                <a:solidFill>
                  <a:srgbClr val="121C37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121C37"/>
                </a:solidFill>
                <a:latin typeface="Arial"/>
              </a:rPr>
              <a:t>흐름</a:t>
            </a:r>
            <a:r>
              <a:rPr sz="2500" b="1" dirty="0">
                <a:solidFill>
                  <a:srgbClr val="121C37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121C37"/>
                </a:solidFill>
                <a:latin typeface="Arial"/>
              </a:rPr>
              <a:t>정리</a:t>
            </a:r>
            <a:endParaRPr sz="2500" b="1" dirty="0">
              <a:solidFill>
                <a:srgbClr val="121C37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457200" cy="411480"/>
          </a:xfrm>
          <a:prstGeom prst="roundRect">
            <a:avLst/>
          </a:prstGeom>
          <a:solidFill>
            <a:srgbClr val="121C37"/>
          </a:solidFill>
          <a:ln w="17780">
            <a:solidFill>
              <a:srgbClr val="12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234440"/>
            <a:ext cx="2057400" cy="411480"/>
          </a:xfrm>
          <a:prstGeom prst="roundRect">
            <a:avLst/>
          </a:prstGeom>
          <a:solidFill>
            <a:srgbClr val="F2E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21C37"/>
                </a:solidFill>
                <a:latin typeface="Malgun Gothic"/>
              </a:rPr>
              <a:t>X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234440"/>
            <a:ext cx="6126480" cy="411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X = Input Embedding + Positional Encoding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1234440"/>
            <a:ext cx="3337560" cy="411480"/>
          </a:xfrm>
          <a:prstGeom prst="roundRect">
            <a:avLst/>
          </a:prstGeom>
          <a:solidFill>
            <a:srgbClr val="F2E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(seq_len, d_model)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670280" y="1196555"/>
            <a:ext cx="0" cy="548640"/>
          </a:xfrm>
          <a:prstGeom prst="line">
            <a:avLst/>
          </a:prstGeom>
          <a:ln w="1397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1947672"/>
            <a:ext cx="457200" cy="411480"/>
          </a:xfrm>
          <a:prstGeom prst="roundRect">
            <a:avLst/>
          </a:prstGeom>
          <a:solidFill>
            <a:srgbClr val="121C37"/>
          </a:solidFill>
          <a:ln w="17780">
            <a:solidFill>
              <a:srgbClr val="12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1947672"/>
            <a:ext cx="2057400" cy="411480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21C37"/>
                </a:solidFill>
                <a:latin typeface="Malgun Gothic"/>
              </a:rPr>
              <a:t>Q, K, V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947672"/>
            <a:ext cx="6126480" cy="411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Q = XWq,  K = XWk,  V = XWv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1947672"/>
            <a:ext cx="3337560" cy="411480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(seq_len, d_model)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70280" y="1909787"/>
            <a:ext cx="0" cy="548640"/>
          </a:xfrm>
          <a:prstGeom prst="line">
            <a:avLst/>
          </a:prstGeom>
          <a:ln w="1397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2660904"/>
            <a:ext cx="457200" cy="411480"/>
          </a:xfrm>
          <a:prstGeom prst="roundRect">
            <a:avLst/>
          </a:prstGeom>
          <a:solidFill>
            <a:srgbClr val="121C37"/>
          </a:solidFill>
          <a:ln w="17780">
            <a:solidFill>
              <a:srgbClr val="12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2660904"/>
            <a:ext cx="2057400" cy="411480"/>
          </a:xfrm>
          <a:prstGeom prst="roundRect">
            <a:avLst/>
          </a:prstGeom>
          <a:solidFill>
            <a:srgbClr val="FFF9E8"/>
          </a:solidFill>
          <a:ln w="17780">
            <a:solidFill>
              <a:srgbClr val="F4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21C37"/>
                </a:solidFill>
                <a:latin typeface="Malgun Gothic"/>
              </a:rPr>
              <a:t>head 수만큼 분할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660904"/>
            <a:ext cx="6126480" cy="411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Q, K, V reshape/split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2660904"/>
            <a:ext cx="3337560" cy="411480"/>
          </a:xfrm>
          <a:prstGeom prst="roundRect">
            <a:avLst/>
          </a:prstGeom>
          <a:solidFill>
            <a:srgbClr val="FFF9E8"/>
          </a:solidFill>
          <a:ln w="17780">
            <a:solidFill>
              <a:srgbClr val="F4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121C37"/>
                </a:solidFill>
                <a:latin typeface="Arial"/>
              </a:rPr>
              <a:t>(</a:t>
            </a:r>
            <a:r>
              <a:rPr sz="1100" b="1" dirty="0" err="1">
                <a:solidFill>
                  <a:srgbClr val="121C37"/>
                </a:solidFill>
                <a:latin typeface="Arial"/>
              </a:rPr>
              <a:t>num_heads</a:t>
            </a:r>
            <a:r>
              <a:rPr sz="1100" b="1" dirty="0">
                <a:solidFill>
                  <a:srgbClr val="121C37"/>
                </a:solidFill>
                <a:latin typeface="Arial"/>
              </a:rPr>
              <a:t>, </a:t>
            </a:r>
            <a:r>
              <a:rPr sz="1100" b="1" dirty="0" err="1">
                <a:solidFill>
                  <a:srgbClr val="121C37"/>
                </a:solidFill>
                <a:latin typeface="Arial"/>
              </a:rPr>
              <a:t>seq_len</a:t>
            </a:r>
            <a:r>
              <a:rPr sz="1100" b="1" dirty="0">
                <a:solidFill>
                  <a:srgbClr val="121C37"/>
                </a:solidFill>
                <a:latin typeface="Arial"/>
              </a:rPr>
              <a:t>, </a:t>
            </a:r>
            <a:r>
              <a:rPr sz="1100" b="1" dirty="0" err="1">
                <a:solidFill>
                  <a:srgbClr val="121C37"/>
                </a:solidFill>
                <a:latin typeface="Arial"/>
              </a:rPr>
              <a:t>head_dim</a:t>
            </a:r>
            <a:r>
              <a:rPr sz="1100" b="1" dirty="0">
                <a:solidFill>
                  <a:srgbClr val="121C37"/>
                </a:solidFill>
                <a:latin typeface="Arial"/>
              </a:rPr>
              <a:t>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670280" y="2623019"/>
            <a:ext cx="0" cy="548640"/>
          </a:xfrm>
          <a:prstGeom prst="line">
            <a:avLst/>
          </a:prstGeom>
          <a:ln w="13970">
            <a:solidFill>
              <a:srgbClr val="F4B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" y="3374136"/>
            <a:ext cx="457200" cy="411480"/>
          </a:xfrm>
          <a:prstGeom prst="roundRect">
            <a:avLst/>
          </a:prstGeom>
          <a:solidFill>
            <a:srgbClr val="121C37"/>
          </a:solidFill>
          <a:ln w="17780">
            <a:solidFill>
              <a:srgbClr val="12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374136"/>
            <a:ext cx="2057400" cy="411480"/>
          </a:xfrm>
          <a:prstGeom prst="roundRect">
            <a:avLst/>
          </a:prstGeom>
          <a:solidFill>
            <a:srgbClr val="FFF2E8"/>
          </a:solidFill>
          <a:ln w="17780">
            <a:solidFill>
              <a:srgbClr val="EF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21C37"/>
                </a:solidFill>
                <a:latin typeface="Malgun Gothic"/>
              </a:rPr>
              <a:t>각 head Attention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374136"/>
            <a:ext cx="6126480" cy="411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softmax(QᵢKᵢᵀ / √dₖ + mask) Vᵢ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3374136"/>
            <a:ext cx="3337560" cy="411480"/>
          </a:xfrm>
          <a:prstGeom prst="roundRect">
            <a:avLst/>
          </a:prstGeom>
          <a:solidFill>
            <a:srgbClr val="FFF2E8"/>
          </a:solidFill>
          <a:ln w="17780">
            <a:solidFill>
              <a:srgbClr val="EF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(num_heads, seq_len, head_dim)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670280" y="3336251"/>
            <a:ext cx="0" cy="548640"/>
          </a:xfrm>
          <a:prstGeom prst="line">
            <a:avLst/>
          </a:prstGeom>
          <a:ln w="13970">
            <a:solidFill>
              <a:srgbClr val="EF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4087368"/>
            <a:ext cx="457200" cy="411480"/>
          </a:xfrm>
          <a:prstGeom prst="roundRect">
            <a:avLst/>
          </a:prstGeom>
          <a:solidFill>
            <a:srgbClr val="121C37"/>
          </a:solidFill>
          <a:ln w="17780">
            <a:solidFill>
              <a:srgbClr val="12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4087368"/>
            <a:ext cx="2057400" cy="411480"/>
          </a:xfrm>
          <a:prstGeom prst="roundRect">
            <a:avLst/>
          </a:prstGeom>
          <a:solidFill>
            <a:srgbClr val="F2E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21C37"/>
                </a:solidFill>
                <a:latin typeface="Malgun Gothic"/>
              </a:rPr>
              <a:t>head 결과 concat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087368"/>
            <a:ext cx="6126480" cy="411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Concat(head₁, head₂, ..., headₕ)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4087368"/>
            <a:ext cx="3337560" cy="411480"/>
          </a:xfrm>
          <a:prstGeom prst="roundRect">
            <a:avLst/>
          </a:prstGeom>
          <a:solidFill>
            <a:srgbClr val="F2E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(seq_len, d_model)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670280" y="4049483"/>
            <a:ext cx="0" cy="548640"/>
          </a:xfrm>
          <a:prstGeom prst="line">
            <a:avLst/>
          </a:prstGeom>
          <a:ln w="1397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2960" y="4800600"/>
            <a:ext cx="457200" cy="411480"/>
          </a:xfrm>
          <a:prstGeom prst="roundRect">
            <a:avLst/>
          </a:prstGeom>
          <a:solidFill>
            <a:srgbClr val="121C37"/>
          </a:solidFill>
          <a:ln w="17780">
            <a:solidFill>
              <a:srgbClr val="12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4800600"/>
            <a:ext cx="2057400" cy="411480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21C37"/>
                </a:solidFill>
                <a:latin typeface="Malgun Gothic"/>
              </a:rPr>
              <a:t>Wo projection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4800600"/>
            <a:ext cx="6126480" cy="411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121C37"/>
                </a:solidFill>
                <a:latin typeface="Arial"/>
              </a:rPr>
              <a:t>Concat 결과에 Wo 적용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4800600"/>
            <a:ext cx="3337560" cy="411480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121C37"/>
                </a:solidFill>
                <a:latin typeface="Arial"/>
              </a:rPr>
              <a:t>(</a:t>
            </a:r>
            <a:r>
              <a:rPr sz="1100" b="1" dirty="0" err="1">
                <a:solidFill>
                  <a:srgbClr val="121C37"/>
                </a:solidFill>
                <a:latin typeface="Arial"/>
              </a:rPr>
              <a:t>seq_len</a:t>
            </a:r>
            <a:r>
              <a:rPr sz="1100" b="1" dirty="0">
                <a:solidFill>
                  <a:srgbClr val="121C37"/>
                </a:solidFill>
                <a:latin typeface="Arial"/>
              </a:rPr>
              <a:t>, </a:t>
            </a:r>
            <a:r>
              <a:rPr sz="1100" b="1" dirty="0" err="1">
                <a:solidFill>
                  <a:srgbClr val="121C37"/>
                </a:solidFill>
                <a:latin typeface="Arial"/>
              </a:rPr>
              <a:t>d_model</a:t>
            </a:r>
            <a:r>
              <a:rPr sz="1100" b="1" dirty="0">
                <a:solidFill>
                  <a:srgbClr val="121C37"/>
                </a:solidFill>
                <a:latin typeface="Arial"/>
              </a:rPr>
              <a:t>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670280" y="4762715"/>
            <a:ext cx="0" cy="548640"/>
          </a:xfrm>
          <a:prstGeom prst="line">
            <a:avLst/>
          </a:prstGeom>
          <a:ln w="1397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703320" y="5496414"/>
            <a:ext cx="6126480" cy="411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121C37"/>
                </a:solidFill>
                <a:latin typeface="Arial"/>
              </a:rPr>
              <a:t> Attention</a:t>
            </a:r>
            <a:r>
              <a:rPr lang="en-US" sz="1100" b="1" dirty="0">
                <a:solidFill>
                  <a:srgbClr val="121C37"/>
                </a:solidFill>
                <a:latin typeface="Arial"/>
              </a:rPr>
              <a:t> </a:t>
            </a:r>
            <a:r>
              <a:rPr sz="1100" b="1" dirty="0">
                <a:solidFill>
                  <a:srgbClr val="121C37"/>
                </a:solidFill>
                <a:latin typeface="Arial"/>
              </a:rPr>
              <a:t>Output</a:t>
            </a:r>
          </a:p>
        </p:txBody>
      </p:sp>
      <p:sp>
        <p:nvSpPr>
          <p:cNvPr id="3" name="Rounded Rectangle 28">
            <a:extLst>
              <a:ext uri="{FF2B5EF4-FFF2-40B4-BE49-F238E27FC236}">
                <a16:creationId xmlns:a16="http://schemas.microsoft.com/office/drawing/2014/main" id="{76D4EA82-6F38-91E4-9715-E3AC0A4FE6E7}"/>
              </a:ext>
            </a:extLst>
          </p:cNvPr>
          <p:cNvSpPr/>
          <p:nvPr/>
        </p:nvSpPr>
        <p:spPr>
          <a:xfrm>
            <a:off x="822960" y="5496414"/>
            <a:ext cx="457200" cy="411480"/>
          </a:xfrm>
          <a:prstGeom prst="roundRect">
            <a:avLst/>
          </a:prstGeom>
          <a:solidFill>
            <a:srgbClr val="121C37"/>
          </a:solidFill>
          <a:ln w="17780">
            <a:solidFill>
              <a:srgbClr val="12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7</a:t>
            </a:r>
            <a:endParaRPr sz="13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5ED8209A-46FD-BAF0-5A7E-D81A55E95EB0}"/>
              </a:ext>
            </a:extLst>
          </p:cNvPr>
          <p:cNvSpPr/>
          <p:nvPr/>
        </p:nvSpPr>
        <p:spPr>
          <a:xfrm>
            <a:off x="1463040" y="5473989"/>
            <a:ext cx="2057400" cy="411480"/>
          </a:xfrm>
          <a:prstGeom prst="roundRect">
            <a:avLst/>
          </a:prstGeom>
          <a:solidFill>
            <a:srgbClr val="FFF9E8"/>
          </a:solidFill>
          <a:ln w="17780">
            <a:solidFill>
              <a:srgbClr val="F4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200" b="1" dirty="0">
                <a:solidFill>
                  <a:srgbClr val="121C37"/>
                </a:solidFill>
                <a:latin typeface="Malgun Gothic"/>
              </a:rPr>
              <a:t>output</a:t>
            </a:r>
            <a:endParaRPr sz="1200" b="1" dirty="0">
              <a:solidFill>
                <a:srgbClr val="121C37"/>
              </a:solidFill>
              <a:latin typeface="Malgun Gothic"/>
            </a:endParaRPr>
          </a:p>
        </p:txBody>
      </p:sp>
      <p:sp>
        <p:nvSpPr>
          <p:cNvPr id="35" name="Rounded Rectangle 16">
            <a:extLst>
              <a:ext uri="{FF2B5EF4-FFF2-40B4-BE49-F238E27FC236}">
                <a16:creationId xmlns:a16="http://schemas.microsoft.com/office/drawing/2014/main" id="{56944BDB-82BC-4752-D358-3BA0959F51AD}"/>
              </a:ext>
            </a:extLst>
          </p:cNvPr>
          <p:cNvSpPr/>
          <p:nvPr/>
        </p:nvSpPr>
        <p:spPr>
          <a:xfrm>
            <a:off x="10149840" y="5534079"/>
            <a:ext cx="3337560" cy="411480"/>
          </a:xfrm>
          <a:prstGeom prst="roundRect">
            <a:avLst/>
          </a:prstGeom>
          <a:solidFill>
            <a:srgbClr val="FFF9E8"/>
          </a:solidFill>
          <a:ln w="17780">
            <a:solidFill>
              <a:srgbClr val="F4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121C37"/>
                </a:solidFill>
                <a:latin typeface="Arial"/>
              </a:rPr>
              <a:t>(</a:t>
            </a:r>
            <a:r>
              <a:rPr lang="en-US" sz="1100" b="1" dirty="0" err="1">
                <a:solidFill>
                  <a:srgbClr val="121C37"/>
                </a:solidFill>
                <a:latin typeface="Arial"/>
              </a:rPr>
              <a:t>seq_len</a:t>
            </a:r>
            <a:r>
              <a:rPr lang="en-US" sz="1100" b="1" dirty="0">
                <a:solidFill>
                  <a:srgbClr val="121C37"/>
                </a:solidFill>
                <a:latin typeface="Arial"/>
              </a:rPr>
              <a:t>, </a:t>
            </a:r>
            <a:r>
              <a:rPr lang="en-US" sz="1100" b="1" dirty="0" err="1">
                <a:solidFill>
                  <a:srgbClr val="121C37"/>
                </a:solidFill>
                <a:latin typeface="Arial"/>
              </a:rPr>
              <a:t>d_model</a:t>
            </a:r>
            <a:r>
              <a:rPr sz="1100" b="1" dirty="0">
                <a:solidFill>
                  <a:srgbClr val="121C37"/>
                </a:solidFill>
                <a:latin typeface="Arial"/>
              </a:rPr>
              <a:t>)</a:t>
            </a:r>
          </a:p>
        </p:txBody>
      </p:sp>
      <p:cxnSp>
        <p:nvCxnSpPr>
          <p:cNvPr id="37" name="Connector 17">
            <a:extLst>
              <a:ext uri="{FF2B5EF4-FFF2-40B4-BE49-F238E27FC236}">
                <a16:creationId xmlns:a16="http://schemas.microsoft.com/office/drawing/2014/main" id="{D52FB414-0E5B-A769-8D47-94AC004FEE4C}"/>
              </a:ext>
            </a:extLst>
          </p:cNvPr>
          <p:cNvCxnSpPr/>
          <p:nvPr/>
        </p:nvCxnSpPr>
        <p:spPr>
          <a:xfrm>
            <a:off x="13685520" y="5416512"/>
            <a:ext cx="0" cy="548640"/>
          </a:xfrm>
          <a:prstGeom prst="line">
            <a:avLst/>
          </a:prstGeom>
          <a:ln w="13970">
            <a:solidFill>
              <a:srgbClr val="F4B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A8382-EB35-7A1F-26E0-676B9CD7A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32B6A6-8E25-5AB6-EFAB-EE23D7FFE882}"/>
              </a:ext>
            </a:extLst>
          </p:cNvPr>
          <p:cNvSpPr txBox="1"/>
          <p:nvPr/>
        </p:nvSpPr>
        <p:spPr>
          <a:xfrm>
            <a:off x="274320" y="132073"/>
            <a:ext cx="14081760" cy="4216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2500" b="1" dirty="0">
                <a:solidFill>
                  <a:srgbClr val="121C37"/>
                </a:solidFill>
                <a:latin typeface="Arial"/>
              </a:rPr>
              <a:t>Add &amp; Norm</a:t>
            </a:r>
            <a:endParaRPr sz="2500" b="1" dirty="0">
              <a:solidFill>
                <a:srgbClr val="121C37"/>
              </a:solidFill>
              <a:latin typeface="Arial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689CD06-A4D0-8BA1-885C-81BA36FEFBE1}"/>
              </a:ext>
            </a:extLst>
          </p:cNvPr>
          <p:cNvSpPr/>
          <p:nvPr/>
        </p:nvSpPr>
        <p:spPr>
          <a:xfrm>
            <a:off x="3186907" y="1068664"/>
            <a:ext cx="8063345" cy="1643307"/>
          </a:xfrm>
          <a:prstGeom prst="roundRect">
            <a:avLst/>
          </a:prstGeom>
          <a:solidFill>
            <a:srgbClr val="F2E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dirty="0">
                <a:solidFill>
                  <a:srgbClr val="121C37"/>
                </a:solidFill>
                <a:latin typeface="Malgun Gothic"/>
              </a:rPr>
              <a:t>X = Input Embedding + Positional Encoding</a:t>
            </a:r>
            <a:endParaRPr lang="en-US" sz="1300" b="1" dirty="0">
              <a:solidFill>
                <a:srgbClr val="121C37"/>
              </a:solidFill>
              <a:latin typeface="Malgun Gothic"/>
            </a:endParaRPr>
          </a:p>
          <a:p>
            <a:pPr algn="ctr"/>
            <a:endParaRPr lang="en-US" sz="1300" b="1" dirty="0">
              <a:solidFill>
                <a:srgbClr val="121C37"/>
              </a:solidFill>
              <a:latin typeface="Malgun Gothic"/>
            </a:endParaRPr>
          </a:p>
          <a:p>
            <a:pPr algn="ctr"/>
            <a:r>
              <a:rPr lang="en-US" sz="2800" b="1" dirty="0">
                <a:solidFill>
                  <a:srgbClr val="121C37"/>
                </a:solidFill>
                <a:latin typeface="Malgun Gothic"/>
              </a:rPr>
              <a:t>X + Attention output</a:t>
            </a:r>
            <a:endParaRPr sz="2800" b="1" dirty="0">
              <a:solidFill>
                <a:srgbClr val="121C37"/>
              </a:solidFill>
              <a:latin typeface="Malgun Gothic"/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B8658740-85B8-2A46-5350-9AE81FA9BBA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185923" y="2711971"/>
            <a:ext cx="1" cy="809714"/>
          </a:xfrm>
          <a:prstGeom prst="line">
            <a:avLst/>
          </a:prstGeom>
          <a:ln w="1905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7962474-7E45-63D2-88F0-CB5A3A54C2E8}"/>
              </a:ext>
            </a:extLst>
          </p:cNvPr>
          <p:cNvSpPr/>
          <p:nvPr/>
        </p:nvSpPr>
        <p:spPr>
          <a:xfrm>
            <a:off x="3154251" y="3521685"/>
            <a:ext cx="8063345" cy="1643307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400" b="1" dirty="0">
                <a:solidFill>
                  <a:srgbClr val="121C37"/>
                </a:solidFill>
                <a:latin typeface="Arial"/>
              </a:rPr>
              <a:t>LayerNorm(X + Attention output)</a:t>
            </a:r>
          </a:p>
          <a:p>
            <a:pPr algn="ctr"/>
            <a:r>
              <a:rPr lang="en-US" sz="2400" b="1" dirty="0">
                <a:solidFill>
                  <a:srgbClr val="121C37"/>
                </a:solidFill>
                <a:latin typeface="Arial"/>
              </a:rPr>
              <a:t>=</a:t>
            </a:r>
          </a:p>
          <a:p>
            <a:pPr algn="ctr"/>
            <a:r>
              <a:rPr lang="el-GR" sz="2400" b="1" dirty="0">
                <a:solidFill>
                  <a:srgbClr val="121C37"/>
                </a:solidFill>
                <a:latin typeface="Arial"/>
              </a:rPr>
              <a:t> γ * ((</a:t>
            </a:r>
            <a:r>
              <a:rPr lang="en-US" sz="2400" b="1" dirty="0">
                <a:solidFill>
                  <a:srgbClr val="121C37"/>
                </a:solidFill>
                <a:latin typeface="Arial"/>
              </a:rPr>
              <a:t> (X + Attention output)</a:t>
            </a:r>
            <a:r>
              <a:rPr lang="el-GR" sz="2400" b="1" dirty="0">
                <a:solidFill>
                  <a:srgbClr val="121C37"/>
                </a:solidFill>
                <a:latin typeface="Arial"/>
              </a:rPr>
              <a:t> - μ) / sqrt(σ² + ε)) + β</a:t>
            </a:r>
            <a:endParaRPr sz="2400" b="1" dirty="0">
              <a:solidFill>
                <a:srgbClr val="121C37"/>
              </a:solidFill>
              <a:latin typeface="Arial"/>
            </a:endParaRPr>
          </a:p>
        </p:txBody>
      </p:sp>
      <p:sp>
        <p:nvSpPr>
          <p:cNvPr id="29" name="Rounded Rectangle 48">
            <a:extLst>
              <a:ext uri="{FF2B5EF4-FFF2-40B4-BE49-F238E27FC236}">
                <a16:creationId xmlns:a16="http://schemas.microsoft.com/office/drawing/2014/main" id="{D8603AE3-5446-30BD-F37F-3820A237393C}"/>
              </a:ext>
            </a:extLst>
          </p:cNvPr>
          <p:cNvSpPr/>
          <p:nvPr/>
        </p:nvSpPr>
        <p:spPr>
          <a:xfrm>
            <a:off x="953462" y="1127543"/>
            <a:ext cx="1947845" cy="158442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000" b="1" dirty="0">
                <a:solidFill>
                  <a:srgbClr val="121C37"/>
                </a:solidFill>
                <a:latin typeface="Malgun Gothic"/>
              </a:rPr>
              <a:t>Residual Add</a:t>
            </a:r>
            <a:endParaRPr sz="2000" b="1" dirty="0">
              <a:solidFill>
                <a:srgbClr val="121C37"/>
              </a:solidFill>
              <a:latin typeface="Malgun Gothic"/>
            </a:endParaRPr>
          </a:p>
        </p:txBody>
      </p:sp>
      <p:sp>
        <p:nvSpPr>
          <p:cNvPr id="39" name="Rounded Rectangle 48">
            <a:extLst>
              <a:ext uri="{FF2B5EF4-FFF2-40B4-BE49-F238E27FC236}">
                <a16:creationId xmlns:a16="http://schemas.microsoft.com/office/drawing/2014/main" id="{6002BCE2-DFCC-91E9-E2C5-8C521AB3C109}"/>
              </a:ext>
            </a:extLst>
          </p:cNvPr>
          <p:cNvSpPr/>
          <p:nvPr/>
        </p:nvSpPr>
        <p:spPr>
          <a:xfrm>
            <a:off x="953463" y="3521685"/>
            <a:ext cx="1947845" cy="158442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000" b="1" dirty="0">
                <a:solidFill>
                  <a:srgbClr val="121C37"/>
                </a:solidFill>
                <a:latin typeface="Malgun Gothic"/>
              </a:rPr>
              <a:t>LayerNorm</a:t>
            </a:r>
            <a:endParaRPr sz="2000" b="1" dirty="0">
              <a:solidFill>
                <a:srgbClr val="121C37"/>
              </a:solidFill>
              <a:latin typeface="Malgun Gothic"/>
            </a:endParaRPr>
          </a:p>
        </p:txBody>
      </p:sp>
      <p:sp>
        <p:nvSpPr>
          <p:cNvPr id="8" name="Rounded Rectangle 48">
            <a:extLst>
              <a:ext uri="{FF2B5EF4-FFF2-40B4-BE49-F238E27FC236}">
                <a16:creationId xmlns:a16="http://schemas.microsoft.com/office/drawing/2014/main" id="{B11F77C6-A89D-5781-49A3-905EF1782E3F}"/>
              </a:ext>
            </a:extLst>
          </p:cNvPr>
          <p:cNvSpPr/>
          <p:nvPr/>
        </p:nvSpPr>
        <p:spPr>
          <a:xfrm>
            <a:off x="11377749" y="3551124"/>
            <a:ext cx="2743200" cy="1584427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l-GR" altLang="ko-KR" sz="2000" b="1" dirty="0">
                <a:solidFill>
                  <a:srgbClr val="121C37"/>
                </a:solidFill>
                <a:latin typeface="Malgun Gothic"/>
              </a:rPr>
              <a:t>μ = </a:t>
            </a:r>
            <a:r>
              <a:rPr lang="en-US" altLang="ko-KR" sz="2000" b="1" dirty="0">
                <a:solidFill>
                  <a:srgbClr val="121C37"/>
                </a:solidFill>
                <a:latin typeface="Malgun Gothic"/>
              </a:rPr>
              <a:t>mean(input)</a:t>
            </a:r>
            <a:br>
              <a:rPr lang="en-US" altLang="ko-KR" sz="2000" b="1" dirty="0">
                <a:solidFill>
                  <a:srgbClr val="121C37"/>
                </a:solidFill>
                <a:latin typeface="Malgun Gothic"/>
              </a:rPr>
            </a:br>
            <a:r>
              <a:rPr lang="el-GR" altLang="ko-KR" sz="2000" b="1" dirty="0">
                <a:solidFill>
                  <a:srgbClr val="121C37"/>
                </a:solidFill>
                <a:latin typeface="Malgun Gothic"/>
              </a:rPr>
              <a:t>σ² = </a:t>
            </a:r>
            <a:r>
              <a:rPr lang="en-US" altLang="ko-KR" sz="2000" b="1" dirty="0">
                <a:solidFill>
                  <a:srgbClr val="121C37"/>
                </a:solidFill>
                <a:latin typeface="Malgun Gothic"/>
              </a:rPr>
              <a:t>variance(input)</a:t>
            </a:r>
          </a:p>
          <a:p>
            <a:pPr algn="ctr"/>
            <a:r>
              <a:rPr lang="el-GR" altLang="ko-KR" sz="2000" b="1" dirty="0">
                <a:solidFill>
                  <a:srgbClr val="121C37"/>
                </a:solidFill>
                <a:latin typeface="Arial"/>
              </a:rPr>
              <a:t>ε </a:t>
            </a:r>
            <a:r>
              <a:rPr lang="en-US" altLang="ko-KR" sz="2000" b="1" dirty="0">
                <a:solidFill>
                  <a:srgbClr val="121C37"/>
                </a:solidFill>
                <a:latin typeface="Arial"/>
              </a:rPr>
              <a:t>= </a:t>
            </a:r>
            <a:r>
              <a:rPr lang="en-US" altLang="ko-KR" sz="2000" b="1" dirty="0">
                <a:solidFill>
                  <a:srgbClr val="121C37"/>
                </a:solidFill>
                <a:latin typeface="Malgun Gothic"/>
              </a:rPr>
              <a:t>eps=1e-5</a:t>
            </a:r>
          </a:p>
          <a:p>
            <a:pPr algn="ctr"/>
            <a:r>
              <a:rPr lang="el-GR" altLang="ko-KR" sz="2000" b="1" dirty="0">
                <a:solidFill>
                  <a:srgbClr val="121C37"/>
                </a:solidFill>
                <a:latin typeface="Arial"/>
              </a:rPr>
              <a:t>γ</a:t>
            </a:r>
            <a:r>
              <a:rPr lang="en-US" altLang="ko-KR" sz="2000" b="1" dirty="0">
                <a:solidFill>
                  <a:srgbClr val="121C37"/>
                </a:solidFill>
                <a:latin typeface="Arial"/>
              </a:rPr>
              <a:t> =  scale parameter</a:t>
            </a:r>
          </a:p>
          <a:p>
            <a:pPr algn="ctr"/>
            <a:r>
              <a:rPr lang="el-GR" altLang="ko-KR" sz="2000" b="1" dirty="0">
                <a:solidFill>
                  <a:srgbClr val="121C37"/>
                </a:solidFill>
                <a:latin typeface="Arial"/>
              </a:rPr>
              <a:t>β </a:t>
            </a:r>
            <a:r>
              <a:rPr lang="en-US" altLang="ko-KR" sz="2000" b="1" dirty="0">
                <a:solidFill>
                  <a:srgbClr val="121C37"/>
                </a:solidFill>
                <a:latin typeface="Arial"/>
              </a:rPr>
              <a:t>= bias parameter</a:t>
            </a:r>
            <a:endParaRPr sz="2000" b="1" dirty="0">
              <a:solidFill>
                <a:srgbClr val="121C37"/>
              </a:solidFill>
              <a:latin typeface="Malgun Gothic"/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6FCDEBC5-470C-64CA-C003-03ACC168A043}"/>
              </a:ext>
            </a:extLst>
          </p:cNvPr>
          <p:cNvSpPr/>
          <p:nvPr/>
        </p:nvSpPr>
        <p:spPr>
          <a:xfrm>
            <a:off x="3154251" y="5974706"/>
            <a:ext cx="8063345" cy="1584426"/>
          </a:xfrm>
          <a:prstGeom prst="roundRect">
            <a:avLst/>
          </a:prstGeom>
          <a:solidFill>
            <a:srgbClr val="FFF9E8"/>
          </a:solidFill>
          <a:ln w="17780">
            <a:solidFill>
              <a:srgbClr val="F4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altLang="ko-KR" sz="2400" b="1" dirty="0">
                <a:solidFill>
                  <a:srgbClr val="121C37"/>
                </a:solidFill>
                <a:latin typeface="Arial"/>
              </a:rPr>
              <a:t>LayerNorm Output</a:t>
            </a:r>
            <a:endParaRPr sz="2400" b="1" dirty="0">
              <a:solidFill>
                <a:srgbClr val="121C37"/>
              </a:solidFill>
              <a:latin typeface="Malgun Gothic"/>
            </a:endParaRPr>
          </a:p>
        </p:txBody>
      </p:sp>
      <p:sp>
        <p:nvSpPr>
          <p:cNvPr id="12" name="Rounded Rectangle 48">
            <a:extLst>
              <a:ext uri="{FF2B5EF4-FFF2-40B4-BE49-F238E27FC236}">
                <a16:creationId xmlns:a16="http://schemas.microsoft.com/office/drawing/2014/main" id="{CD1B595B-8981-A464-8598-83BEEFEDD0D9}"/>
              </a:ext>
            </a:extLst>
          </p:cNvPr>
          <p:cNvSpPr/>
          <p:nvPr/>
        </p:nvSpPr>
        <p:spPr>
          <a:xfrm>
            <a:off x="953461" y="5974706"/>
            <a:ext cx="1947845" cy="158442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000" b="1" dirty="0">
                <a:solidFill>
                  <a:srgbClr val="121C37"/>
                </a:solidFill>
                <a:latin typeface="Malgun Gothic"/>
              </a:rPr>
              <a:t>output</a:t>
            </a:r>
            <a:endParaRPr sz="2000" b="1" dirty="0">
              <a:solidFill>
                <a:srgbClr val="121C37"/>
              </a:solidFill>
              <a:latin typeface="Malgun Gothic"/>
            </a:endParaRPr>
          </a:p>
        </p:txBody>
      </p:sp>
      <p:cxnSp>
        <p:nvCxnSpPr>
          <p:cNvPr id="13" name="Connector 6">
            <a:extLst>
              <a:ext uri="{FF2B5EF4-FFF2-40B4-BE49-F238E27FC236}">
                <a16:creationId xmlns:a16="http://schemas.microsoft.com/office/drawing/2014/main" id="{F525E600-84F2-734F-F09C-BF2489B3F1D1}"/>
              </a:ext>
            </a:extLst>
          </p:cNvPr>
          <p:cNvCxnSpPr>
            <a:cxnSpLocks/>
          </p:cNvCxnSpPr>
          <p:nvPr/>
        </p:nvCxnSpPr>
        <p:spPr>
          <a:xfrm>
            <a:off x="7129669" y="5148585"/>
            <a:ext cx="0" cy="810153"/>
          </a:xfrm>
          <a:prstGeom prst="line">
            <a:avLst/>
          </a:prstGeom>
          <a:ln w="1905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03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1293D-C35C-85E3-05E5-813A6ADB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4264AF-8528-6BAF-B12E-4F75288008BC}"/>
              </a:ext>
            </a:extLst>
          </p:cNvPr>
          <p:cNvSpPr txBox="1"/>
          <p:nvPr/>
        </p:nvSpPr>
        <p:spPr>
          <a:xfrm>
            <a:off x="274320" y="132073"/>
            <a:ext cx="14081760" cy="4216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sz="2500" b="1" dirty="0">
                <a:solidFill>
                  <a:srgbClr val="121C37"/>
                </a:solidFill>
                <a:latin typeface="Arial"/>
              </a:rPr>
              <a:t>Feed Forward Network (FFW)</a:t>
            </a:r>
            <a:endParaRPr sz="2500" b="1" dirty="0">
              <a:solidFill>
                <a:srgbClr val="121C37"/>
              </a:solidFill>
              <a:latin typeface="Arial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F6DB94-E915-E177-DF16-91D8BB040D59}"/>
              </a:ext>
            </a:extLst>
          </p:cNvPr>
          <p:cNvSpPr/>
          <p:nvPr/>
        </p:nvSpPr>
        <p:spPr>
          <a:xfrm>
            <a:off x="3186907" y="1068665"/>
            <a:ext cx="8063345" cy="1064936"/>
          </a:xfrm>
          <a:prstGeom prst="roundRect">
            <a:avLst/>
          </a:prstGeom>
          <a:solidFill>
            <a:srgbClr val="F2EFFF"/>
          </a:solidFill>
          <a:ln w="17780">
            <a:solidFill>
              <a:srgbClr val="7D6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altLang="ko-KR" sz="2400" b="1" dirty="0">
                <a:solidFill>
                  <a:srgbClr val="121C37"/>
                </a:solidFill>
                <a:latin typeface="Arial"/>
              </a:rPr>
              <a:t> ffwx1 = weight @ LayerNorm Output + bias</a:t>
            </a:r>
            <a:endParaRPr lang="en-US" altLang="ko-KR" sz="2400" b="1" dirty="0">
              <a:solidFill>
                <a:srgbClr val="121C37"/>
              </a:solidFill>
              <a:latin typeface="Malgun Gothic"/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79AD5D8-54FB-E218-DD68-4D7CC8F107EA}"/>
              </a:ext>
            </a:extLst>
          </p:cNvPr>
          <p:cNvCxnSpPr>
            <a:cxnSpLocks/>
          </p:cNvCxnSpPr>
          <p:nvPr/>
        </p:nvCxnSpPr>
        <p:spPr>
          <a:xfrm>
            <a:off x="7182066" y="2133601"/>
            <a:ext cx="1" cy="809714"/>
          </a:xfrm>
          <a:prstGeom prst="line">
            <a:avLst/>
          </a:prstGeom>
          <a:ln w="19050">
            <a:solidFill>
              <a:srgbClr val="7D6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30CC76-90A5-ED1E-F561-5DBBB69D8FDD}"/>
              </a:ext>
            </a:extLst>
          </p:cNvPr>
          <p:cNvSpPr/>
          <p:nvPr/>
        </p:nvSpPr>
        <p:spPr>
          <a:xfrm>
            <a:off x="3186907" y="2943315"/>
            <a:ext cx="8063345" cy="1064937"/>
          </a:xfrm>
          <a:prstGeom prst="roundRect">
            <a:avLst/>
          </a:prstGeom>
          <a:solidFill>
            <a:srgbClr val="EAF9FF"/>
          </a:solidFill>
          <a:ln w="17780">
            <a:solidFill>
              <a:srgbClr val="34A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400" b="1" dirty="0">
                <a:solidFill>
                  <a:srgbClr val="121C37"/>
                </a:solidFill>
                <a:latin typeface="Arial"/>
              </a:rPr>
              <a:t>ffwy1 = Relu(</a:t>
            </a:r>
            <a:r>
              <a:rPr lang="en-US" altLang="ko-KR" sz="2400" b="1" dirty="0">
                <a:solidFill>
                  <a:srgbClr val="121C37"/>
                </a:solidFill>
                <a:latin typeface="Arial"/>
              </a:rPr>
              <a:t>ffwx1)</a:t>
            </a:r>
            <a:r>
              <a:rPr lang="en-US" sz="2400" b="1" dirty="0">
                <a:solidFill>
                  <a:srgbClr val="121C37"/>
                </a:solidFill>
                <a:latin typeface="Arial"/>
              </a:rPr>
              <a:t>  or ffwy1 = Gelu(</a:t>
            </a:r>
            <a:r>
              <a:rPr lang="en-US" altLang="ko-KR" sz="2400" b="1" dirty="0">
                <a:solidFill>
                  <a:srgbClr val="121C37"/>
                </a:solidFill>
                <a:latin typeface="Arial"/>
              </a:rPr>
              <a:t>ffwx1)</a:t>
            </a:r>
            <a:endParaRPr lang="en-US" sz="2400" b="1" dirty="0">
              <a:solidFill>
                <a:srgbClr val="121C37"/>
              </a:solidFill>
              <a:latin typeface="Arial"/>
            </a:endParaRPr>
          </a:p>
        </p:txBody>
      </p:sp>
      <p:sp>
        <p:nvSpPr>
          <p:cNvPr id="29" name="Rounded Rectangle 48">
            <a:extLst>
              <a:ext uri="{FF2B5EF4-FFF2-40B4-BE49-F238E27FC236}">
                <a16:creationId xmlns:a16="http://schemas.microsoft.com/office/drawing/2014/main" id="{6922CB3F-5BB1-F331-B329-BF67FA078DE9}"/>
              </a:ext>
            </a:extLst>
          </p:cNvPr>
          <p:cNvSpPr/>
          <p:nvPr/>
        </p:nvSpPr>
        <p:spPr>
          <a:xfrm>
            <a:off x="953460" y="1127543"/>
            <a:ext cx="1947845" cy="106493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000" b="1" dirty="0">
                <a:solidFill>
                  <a:srgbClr val="121C37"/>
                </a:solidFill>
                <a:latin typeface="Malgun Gothic"/>
              </a:rPr>
              <a:t>Linear </a:t>
            </a:r>
            <a:endParaRPr sz="2000" b="1" dirty="0">
              <a:solidFill>
                <a:srgbClr val="121C37"/>
              </a:solidFill>
              <a:latin typeface="Malgun Gothic"/>
            </a:endParaRPr>
          </a:p>
        </p:txBody>
      </p:sp>
      <p:sp>
        <p:nvSpPr>
          <p:cNvPr id="39" name="Rounded Rectangle 48">
            <a:extLst>
              <a:ext uri="{FF2B5EF4-FFF2-40B4-BE49-F238E27FC236}">
                <a16:creationId xmlns:a16="http://schemas.microsoft.com/office/drawing/2014/main" id="{9CE942F2-5787-F2A8-6971-1D7B0A19AA2A}"/>
              </a:ext>
            </a:extLst>
          </p:cNvPr>
          <p:cNvSpPr/>
          <p:nvPr/>
        </p:nvSpPr>
        <p:spPr>
          <a:xfrm>
            <a:off x="953461" y="2966411"/>
            <a:ext cx="1947845" cy="1041841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000" b="1" dirty="0">
                <a:solidFill>
                  <a:srgbClr val="121C37"/>
                </a:solidFill>
                <a:latin typeface="Malgun Gothic"/>
              </a:rPr>
              <a:t>Activation</a:t>
            </a:r>
            <a:endParaRPr sz="2000" b="1" dirty="0">
              <a:solidFill>
                <a:srgbClr val="121C37"/>
              </a:solidFill>
              <a:latin typeface="Malgun Gothic"/>
            </a:endParaRPr>
          </a:p>
        </p:txBody>
      </p:sp>
      <p:sp>
        <p:nvSpPr>
          <p:cNvPr id="8" name="Rounded Rectangle 48">
            <a:extLst>
              <a:ext uri="{FF2B5EF4-FFF2-40B4-BE49-F238E27FC236}">
                <a16:creationId xmlns:a16="http://schemas.microsoft.com/office/drawing/2014/main" id="{082153D3-A7BB-1933-9D65-ACB22F2F751F}"/>
              </a:ext>
            </a:extLst>
          </p:cNvPr>
          <p:cNvSpPr/>
          <p:nvPr/>
        </p:nvSpPr>
        <p:spPr>
          <a:xfrm>
            <a:off x="3264012" y="6267012"/>
            <a:ext cx="7880224" cy="1064936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000" b="1" dirty="0">
                <a:solidFill>
                  <a:srgbClr val="121C37"/>
                </a:solidFill>
                <a:latin typeface="Malgun Gothic"/>
              </a:rPr>
              <a:t>FFW output = ffwy2</a:t>
            </a:r>
            <a:endParaRPr sz="2000" b="1" dirty="0">
              <a:solidFill>
                <a:srgbClr val="121C37"/>
              </a:solidFill>
              <a:latin typeface="Malgun Gothic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24AA8D32-67A8-9B11-C194-E78CB1D45289}"/>
              </a:ext>
            </a:extLst>
          </p:cNvPr>
          <p:cNvSpPr/>
          <p:nvPr/>
        </p:nvSpPr>
        <p:spPr>
          <a:xfrm>
            <a:off x="3186907" y="4605164"/>
            <a:ext cx="8063345" cy="1064936"/>
          </a:xfrm>
          <a:prstGeom prst="roundRect">
            <a:avLst/>
          </a:prstGeom>
          <a:solidFill>
            <a:srgbClr val="FFF9E8"/>
          </a:solidFill>
          <a:ln w="17780">
            <a:solidFill>
              <a:srgbClr val="F4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altLang="ko-KR" sz="2400" b="1" dirty="0">
                <a:solidFill>
                  <a:srgbClr val="121C37"/>
                </a:solidFill>
                <a:latin typeface="Arial"/>
              </a:rPr>
              <a:t>ffwy2 = weight @ ffwy1 + bias</a:t>
            </a:r>
            <a:endParaRPr sz="2400" b="1" dirty="0">
              <a:solidFill>
                <a:srgbClr val="121C37"/>
              </a:solidFill>
              <a:latin typeface="Malgun Gothic"/>
            </a:endParaRPr>
          </a:p>
        </p:txBody>
      </p:sp>
      <p:sp>
        <p:nvSpPr>
          <p:cNvPr id="9" name="Rounded Rectangle 48">
            <a:extLst>
              <a:ext uri="{FF2B5EF4-FFF2-40B4-BE49-F238E27FC236}">
                <a16:creationId xmlns:a16="http://schemas.microsoft.com/office/drawing/2014/main" id="{CE609202-CFB4-9B88-E577-2995E9B6290A}"/>
              </a:ext>
            </a:extLst>
          </p:cNvPr>
          <p:cNvSpPr/>
          <p:nvPr/>
        </p:nvSpPr>
        <p:spPr>
          <a:xfrm>
            <a:off x="953461" y="4605164"/>
            <a:ext cx="1947845" cy="106493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000" b="1" dirty="0">
                <a:solidFill>
                  <a:srgbClr val="121C37"/>
                </a:solidFill>
                <a:latin typeface="Malgun Gothic"/>
              </a:rPr>
              <a:t>Linear </a:t>
            </a:r>
            <a:endParaRPr sz="2000" b="1" dirty="0">
              <a:solidFill>
                <a:srgbClr val="121C37"/>
              </a:solidFill>
              <a:latin typeface="Malgun Gothic"/>
            </a:endParaRPr>
          </a:p>
        </p:txBody>
      </p:sp>
      <p:cxnSp>
        <p:nvCxnSpPr>
          <p:cNvPr id="10" name="Connector 6">
            <a:extLst>
              <a:ext uri="{FF2B5EF4-FFF2-40B4-BE49-F238E27FC236}">
                <a16:creationId xmlns:a16="http://schemas.microsoft.com/office/drawing/2014/main" id="{7479D3C4-69EF-49DA-7D5C-BC5A7AD30398}"/>
              </a:ext>
            </a:extLst>
          </p:cNvPr>
          <p:cNvCxnSpPr>
            <a:cxnSpLocks/>
          </p:cNvCxnSpPr>
          <p:nvPr/>
        </p:nvCxnSpPr>
        <p:spPr>
          <a:xfrm>
            <a:off x="7182066" y="4070396"/>
            <a:ext cx="0" cy="553345"/>
          </a:xfrm>
          <a:prstGeom prst="line">
            <a:avLst/>
          </a:prstGeom>
          <a:ln w="19050">
            <a:solidFill>
              <a:srgbClr val="34A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48">
            <a:extLst>
              <a:ext uri="{FF2B5EF4-FFF2-40B4-BE49-F238E27FC236}">
                <a16:creationId xmlns:a16="http://schemas.microsoft.com/office/drawing/2014/main" id="{C0BF4FEB-643B-BF56-EFBA-6B53355F067F}"/>
              </a:ext>
            </a:extLst>
          </p:cNvPr>
          <p:cNvSpPr/>
          <p:nvPr/>
        </p:nvSpPr>
        <p:spPr>
          <a:xfrm>
            <a:off x="953459" y="6267012"/>
            <a:ext cx="1947845" cy="106493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A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000" b="1" dirty="0">
                <a:solidFill>
                  <a:srgbClr val="121C37"/>
                </a:solidFill>
                <a:latin typeface="Malgun Gothic"/>
              </a:rPr>
              <a:t>output </a:t>
            </a:r>
            <a:endParaRPr sz="2000" b="1" dirty="0">
              <a:solidFill>
                <a:srgbClr val="121C37"/>
              </a:solidFill>
              <a:latin typeface="Malgun Gothic"/>
            </a:endParaRPr>
          </a:p>
        </p:txBody>
      </p:sp>
      <p:cxnSp>
        <p:nvCxnSpPr>
          <p:cNvPr id="13" name="Connector 25">
            <a:extLst>
              <a:ext uri="{FF2B5EF4-FFF2-40B4-BE49-F238E27FC236}">
                <a16:creationId xmlns:a16="http://schemas.microsoft.com/office/drawing/2014/main" id="{219A938F-3B82-190B-B7F9-84AE272515FD}"/>
              </a:ext>
            </a:extLst>
          </p:cNvPr>
          <p:cNvCxnSpPr>
            <a:cxnSpLocks/>
          </p:cNvCxnSpPr>
          <p:nvPr/>
        </p:nvCxnSpPr>
        <p:spPr>
          <a:xfrm>
            <a:off x="7137008" y="5684224"/>
            <a:ext cx="0" cy="542258"/>
          </a:xfrm>
          <a:prstGeom prst="line">
            <a:avLst/>
          </a:prstGeom>
          <a:ln w="15240">
            <a:solidFill>
              <a:srgbClr val="EF9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686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665</Words>
  <Application>Microsoft Office PowerPoint</Application>
  <PresentationFormat>사용자 지정</PresentationFormat>
  <Paragraphs>125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맑은 고딕</vt:lpstr>
      <vt:lpstr>Arial</vt:lpstr>
      <vt:lpstr>Calibri</vt:lpstr>
      <vt:lpstr>Office Theme</vt:lpstr>
      <vt:lpstr>Decoder only slm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노미정 at Windows Home</dc:creator>
  <cp:keywords/>
  <dc:description>generated using python-pptx</dc:description>
  <cp:lastModifiedBy>노미정</cp:lastModifiedBy>
  <cp:revision>43</cp:revision>
  <dcterms:created xsi:type="dcterms:W3CDTF">2013-01-27T09:14:16Z</dcterms:created>
  <dcterms:modified xsi:type="dcterms:W3CDTF">2026-06-25T08:07:16Z</dcterms:modified>
  <cp:category/>
</cp:coreProperties>
</file>
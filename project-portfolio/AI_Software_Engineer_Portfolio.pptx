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57" r:id="rId4"/>
    <p:sldId id="258" r:id="rId5"/>
    <p:sldId id="259" r:id="rId6"/>
    <p:sldId id="260" r:id="rId7"/>
    <p:sldId id="267" r:id="rId8"/>
    <p:sldId id="269" r:id="rId9"/>
    <p:sldId id="27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29" autoAdjust="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448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ithlionbuddh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8229600" cy="27432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398153"/>
                </a:solidFill>
                <a:latin typeface="Malgun Gothic"/>
              </a:defRPr>
            </a:pPr>
            <a:r>
              <a:rPr dirty="0"/>
              <a:t>TECHNICAL PORTFOLIO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0972800" cy="16459"/>
          </a:xfrm>
          <a:prstGeom prst="rect">
            <a:avLst/>
          </a:prstGeom>
          <a:solidFill>
            <a:srgbClr val="398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64240" cy="621792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9365B"/>
                </a:solidFill>
                <a:latin typeface="Malgun Gothic"/>
              </a:defRPr>
            </a:pPr>
            <a:r>
              <a:t>AI PROJECT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353312"/>
            <a:ext cx="10972800" cy="36576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A78"/>
                </a:solidFill>
                <a:latin typeface="Malgun Gothic"/>
              </a:defRPr>
            </a:pPr>
            <a:r>
              <a:rPr lang="en-US" dirty="0"/>
              <a:t>Roh </a:t>
            </a:r>
            <a:r>
              <a:rPr dirty="0"/>
              <a:t>Mi</a:t>
            </a:r>
            <a:r>
              <a:rPr lang="en-US" dirty="0"/>
              <a:t> </a:t>
            </a:r>
            <a:r>
              <a:rPr dirty="0"/>
              <a:t>Jeong</a:t>
            </a:r>
            <a:r>
              <a:rPr lang="en-US" dirty="0"/>
              <a:t> </a:t>
            </a:r>
            <a:r>
              <a:rPr dirty="0"/>
              <a:t>| AI Software Engineer  |  GitHub: </a:t>
            </a:r>
            <a:r>
              <a:rPr dirty="0" err="1">
                <a:hlinkClick r:id="rId3"/>
              </a:rPr>
              <a:t>withlionbuddha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0789920" cy="1078992"/>
          </a:xfrm>
          <a:prstGeom prst="roundRect">
            <a:avLst/>
          </a:prstGeom>
          <a:solidFill>
            <a:srgbClr val="F6F8FC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10241280" cy="758952"/>
          </a:xfrm>
          <a:prstGeom prst="rect">
            <a:avLst/>
          </a:prstGeom>
          <a:noFill/>
        </p:spPr>
        <p:txBody>
          <a:bodyPr wrap="square" lIns="64008" tIns="36576" rIns="45720">
            <a:normAutofit lnSpcReduction="10000"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9365B"/>
                </a:solidFill>
                <a:latin typeface="Malgun Gothic"/>
              </a:defRPr>
            </a:pPr>
            <a:r>
              <a:rPr dirty="0"/>
              <a:t>11년 4개월 SW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경험을</a:t>
            </a:r>
            <a:r>
              <a:rPr dirty="0"/>
              <a:t> </a:t>
            </a:r>
            <a:r>
              <a:rPr dirty="0" err="1"/>
              <a:t>기반으로</a:t>
            </a:r>
            <a:endParaRPr dirty="0"/>
          </a:p>
          <a:p>
            <a:pPr>
              <a:spcAft>
                <a:spcPts val="700"/>
              </a:spcAft>
              <a:defRPr sz="2000" b="1">
                <a:solidFill>
                  <a:srgbClr val="19365B"/>
                </a:solidFill>
                <a:latin typeface="Malgun Gothic"/>
              </a:defRPr>
            </a:pPr>
            <a:r>
              <a:rPr dirty="0"/>
              <a:t>AI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→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인프라</a:t>
            </a:r>
            <a:r>
              <a:rPr dirty="0"/>
              <a:t> → </a:t>
            </a:r>
            <a:r>
              <a:rPr dirty="0" err="1"/>
              <a:t>실행환경</a:t>
            </a:r>
            <a:r>
              <a:rPr lang="en-US" dirty="0"/>
              <a:t> </a:t>
            </a:r>
            <a:r>
              <a:rPr lang="ko-KR" altLang="en-US" dirty="0"/>
              <a:t>분석</a:t>
            </a:r>
            <a:r>
              <a:rPr dirty="0"/>
              <a:t> →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아키텍처로</a:t>
            </a:r>
            <a:r>
              <a:rPr dirty="0"/>
              <a:t> </a:t>
            </a:r>
            <a:r>
              <a:rPr dirty="0" err="1"/>
              <a:t>확장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2640330" cy="420624"/>
          </a:xfrm>
          <a:prstGeom prst="roundRect">
            <a:avLst/>
          </a:prstGeom>
          <a:solidFill>
            <a:srgbClr val="2B56C0"/>
          </a:solidFill>
          <a:ln>
            <a:solidFill>
              <a:srgbClr val="2B5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753611"/>
            <a:ext cx="2420874" cy="283154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01  TRAINING</a:t>
            </a:r>
            <a:r>
              <a:rPr lang="en-US" dirty="0"/>
              <a:t> Core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86384" y="42702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deep-learning-core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모델 비종속 학습 인프라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7570" y="370332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17570" y="3703320"/>
            <a:ext cx="2640330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7298" y="3753611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02 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3874" y="42702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Decoder-only SLM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Transformer 구현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370332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95060" y="3703320"/>
            <a:ext cx="2640330" cy="420624"/>
          </a:xfrm>
          <a:prstGeom prst="roundRect">
            <a:avLst/>
          </a:prstGeom>
          <a:solidFill>
            <a:srgbClr val="704CA6"/>
          </a:solidFill>
          <a:ln>
            <a:solidFill>
              <a:srgbClr val="70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4788" y="3753611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03  FUNDAMENTALS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1364" y="42702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Fully Connected DNN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미분·역전파 검증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550" y="370332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72550" y="3703320"/>
            <a:ext cx="2640330" cy="420624"/>
          </a:xfrm>
          <a:prstGeom prst="roundRect">
            <a:avLst/>
          </a:prstGeom>
          <a:solidFill>
            <a:srgbClr val="C56E2E"/>
          </a:solidFill>
          <a:ln>
            <a:solidFill>
              <a:srgbClr val="C5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82278" y="3753611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04 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8854" y="42702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Spring Boot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재사용 서비스 구조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1792" y="438912"/>
            <a:ext cx="10972800" cy="15544"/>
          </a:xfrm>
          <a:prstGeom prst="rect">
            <a:avLst/>
          </a:prstGeom>
          <a:solidFill>
            <a:srgbClr val="378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01168"/>
            <a:ext cx="5486400" cy="201168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pPr>
              <a:defRPr sz="1100" b="0">
                <a:solidFill>
                  <a:srgbClr val="378158"/>
                </a:solidFill>
                <a:latin typeface="Malgun Gothic"/>
              </a:defRPr>
            </a:pPr>
            <a:r>
              <a:t>AI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058400" cy="512064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pPr>
              <a:defRPr sz="2900" b="1">
                <a:solidFill>
                  <a:srgbClr val="1D395B"/>
                </a:solidFill>
                <a:latin typeface="Malgun Gothic"/>
              </a:defRPr>
            </a:pPr>
            <a:r>
              <a:t>CONTENTS  |  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058400" cy="320040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pPr>
              <a:defRPr sz="1300" b="0">
                <a:solidFill>
                  <a:srgbClr val="6B7480"/>
                </a:solidFill>
                <a:latin typeface="Malgun Gothic"/>
              </a:defRPr>
            </a:pPr>
            <a:r>
              <a:t>기술평가자를 위한 프로젝트별 문제 정의 · 구현 범위 · 검증 근거 · 개발 현황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92224"/>
            <a:ext cx="10881360" cy="585216"/>
          </a:xfrm>
          <a:prstGeom prst="roundRect">
            <a:avLst/>
          </a:prstGeom>
          <a:solidFill>
            <a:srgbClr val="F7F8FB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3816" y="1892807"/>
            <a:ext cx="502920" cy="384048"/>
          </a:xfrm>
          <a:prstGeom prst="roundRect">
            <a:avLst/>
          </a:prstGeom>
          <a:solidFill>
            <a:srgbClr val="2E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1865376"/>
            <a:ext cx="7315200" cy="228600"/>
          </a:xfrm>
          <a:prstGeom prst="rect">
            <a:avLst/>
          </a:prstGeom>
          <a:noFill/>
        </p:spPr>
        <p:txBody>
          <a:bodyPr wrap="square" lIns="27432" tIns="0" rIns="27432" bIns="0">
            <a:normAutofit fontScale="92500" lnSpcReduction="10000"/>
          </a:bodyPr>
          <a:lstStyle/>
          <a:p>
            <a:pPr>
              <a:defRPr sz="1700" b="1">
                <a:solidFill>
                  <a:srgbClr val="1D395B"/>
                </a:solidFill>
                <a:latin typeface="Malgun Gothic"/>
              </a:defRPr>
            </a:pPr>
            <a:r>
              <a:t>deep-learning-core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130552"/>
            <a:ext cx="9052560" cy="192024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pPr>
              <a:defRPr sz="1000" b="0">
                <a:solidFill>
                  <a:srgbClr val="6B7480"/>
                </a:solidFill>
                <a:latin typeface="Malgun Gothic"/>
              </a:defRPr>
            </a:pPr>
            <a:r>
              <a:t>모델 비종속 학습 인프라 · Training Architecture · Model Diagnostics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1975104"/>
            <a:ext cx="603504" cy="219456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3759"/>
                </a:solidFill>
              </a:rPr>
              <a:t>04–10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96312"/>
            <a:ext cx="10881360" cy="585216"/>
          </a:xfrm>
          <a:prstGeom prst="roundRect">
            <a:avLst/>
          </a:prstGeom>
          <a:solidFill>
            <a:srgbClr val="F7F8FB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3816" y="2596896"/>
            <a:ext cx="502920" cy="384048"/>
          </a:xfrm>
          <a:prstGeom prst="roundRect">
            <a:avLst/>
          </a:prstGeom>
          <a:solidFill>
            <a:srgbClr val="378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2569464"/>
            <a:ext cx="7315200" cy="228600"/>
          </a:xfrm>
          <a:prstGeom prst="rect">
            <a:avLst/>
          </a:prstGeom>
          <a:noFill/>
        </p:spPr>
        <p:txBody>
          <a:bodyPr wrap="square" lIns="27432" tIns="0" rIns="27432" bIns="0">
            <a:normAutofit fontScale="92500" lnSpcReduction="10000"/>
          </a:bodyPr>
          <a:lstStyle/>
          <a:p>
            <a:pPr>
              <a:defRPr sz="1700" b="1">
                <a:solidFill>
                  <a:srgbClr val="1D395B"/>
                </a:solidFill>
                <a:latin typeface="Malgun Gothic"/>
              </a:defRPr>
            </a:pPr>
            <a:r>
              <a:t>Decoder-only Transformer SLM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834640"/>
            <a:ext cx="9052560" cy="192024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pPr>
              <a:defRPr sz="1000" b="0">
                <a:solidFill>
                  <a:srgbClr val="6B7480"/>
                </a:solidFill>
                <a:latin typeface="Malgun Gothic"/>
              </a:defRPr>
            </a:pPr>
            <a:r>
              <a:t>Tokenizer · Decoder 구현 · 학습 및 Intel XPU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2679192"/>
            <a:ext cx="603504" cy="219456"/>
          </a:xfrm>
          <a:prstGeom prst="rect">
            <a:avLst/>
          </a:prstGeom>
          <a:noFill/>
        </p:spPr>
        <p:txBody>
          <a:bodyPr wrap="square" lIns="27432" tIns="0" rIns="27432" bIns="0">
            <a:normAutofit fontScale="92500" lnSpcReduction="20000"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3759"/>
                </a:solidFill>
              </a:rPr>
              <a:t>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00400"/>
            <a:ext cx="10881360" cy="585216"/>
          </a:xfrm>
          <a:prstGeom prst="roundRect">
            <a:avLst/>
          </a:prstGeom>
          <a:solidFill>
            <a:srgbClr val="F7F8FB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3816" y="3300984"/>
            <a:ext cx="502920" cy="384048"/>
          </a:xfrm>
          <a:prstGeom prst="roundRect">
            <a:avLst/>
          </a:prstGeom>
          <a:solidFill>
            <a:srgbClr val="714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3273552"/>
            <a:ext cx="7315200" cy="228600"/>
          </a:xfrm>
          <a:prstGeom prst="rect">
            <a:avLst/>
          </a:prstGeom>
          <a:noFill/>
        </p:spPr>
        <p:txBody>
          <a:bodyPr wrap="square" lIns="27432" tIns="0" rIns="27432" bIns="0">
            <a:normAutofit fontScale="92500" lnSpcReduction="10000"/>
          </a:bodyPr>
          <a:lstStyle/>
          <a:p>
            <a:pPr>
              <a:defRPr sz="1700" b="1">
                <a:solidFill>
                  <a:srgbClr val="1D395B"/>
                </a:solidFill>
                <a:latin typeface="Malgun Gothic"/>
              </a:defRPr>
            </a:pPr>
            <a:r>
              <a:t>Fully Connected DNN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538728"/>
            <a:ext cx="9052560" cy="192024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pPr>
              <a:defRPr sz="1000" b="0">
                <a:solidFill>
                  <a:srgbClr val="6B7480"/>
                </a:solidFill>
                <a:latin typeface="Malgun Gothic"/>
              </a:defRPr>
            </a:pPr>
            <a:r>
              <a:t>Neuron/Layer 직접 구현 · Forward/Backward · Gradient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3383280"/>
            <a:ext cx="603504" cy="219456"/>
          </a:xfrm>
          <a:prstGeom prst="rect">
            <a:avLst/>
          </a:prstGeom>
          <a:noFill/>
        </p:spPr>
        <p:txBody>
          <a:bodyPr wrap="square" lIns="27432" tIns="0" rIns="27432" bIns="0">
            <a:normAutofit fontScale="92500" lnSpcReduction="20000"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3759"/>
                </a:solidFill>
              </a:rPr>
              <a:t>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04487"/>
            <a:ext cx="10881360" cy="585216"/>
          </a:xfrm>
          <a:prstGeom prst="roundRect">
            <a:avLst/>
          </a:prstGeom>
          <a:solidFill>
            <a:srgbClr val="F7F8FB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3816" y="4005072"/>
            <a:ext cx="502920" cy="384048"/>
          </a:xfrm>
          <a:prstGeom prst="roundRect">
            <a:avLst/>
          </a:prstGeom>
          <a:solidFill>
            <a:srgbClr val="C26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3977639"/>
            <a:ext cx="7315200" cy="228600"/>
          </a:xfrm>
          <a:prstGeom prst="rect">
            <a:avLst/>
          </a:prstGeom>
          <a:noFill/>
        </p:spPr>
        <p:txBody>
          <a:bodyPr wrap="square" lIns="27432" tIns="0" rIns="27432" bIns="0">
            <a:normAutofit fontScale="92500" lnSpcReduction="10000"/>
          </a:bodyPr>
          <a:lstStyle/>
          <a:p>
            <a:pPr>
              <a:defRPr sz="1700" b="1">
                <a:solidFill>
                  <a:srgbClr val="1D395B"/>
                </a:solidFill>
                <a:latin typeface="Malgun Gothic"/>
              </a:defRPr>
            </a:pPr>
            <a:r>
              <a:t>Reusable Spring Boot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242816"/>
            <a:ext cx="9052560" cy="192024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pPr>
              <a:defRPr sz="1000" b="0">
                <a:solidFill>
                  <a:srgbClr val="6B7480"/>
                </a:solidFill>
                <a:latin typeface="Malgun Gothic"/>
              </a:defRPr>
            </a:pPr>
            <a:r>
              <a:t>Service · Security · Integration · Common Concerns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4087368"/>
            <a:ext cx="603504" cy="219456"/>
          </a:xfrm>
          <a:prstGeom prst="rect">
            <a:avLst/>
          </a:prstGeom>
          <a:noFill/>
        </p:spPr>
        <p:txBody>
          <a:bodyPr wrap="square" lIns="27432" tIns="0" rIns="27432" bIns="0">
            <a:normAutofit fontScale="92500" lnSpcReduction="20000"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3759"/>
                </a:solidFill>
              </a:rPr>
              <a:t>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608576"/>
            <a:ext cx="10881360" cy="585216"/>
          </a:xfrm>
          <a:prstGeom prst="roundRect">
            <a:avLst/>
          </a:prstGeom>
          <a:solidFill>
            <a:srgbClr val="F7F8FB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3816" y="4709160"/>
            <a:ext cx="502920" cy="384048"/>
          </a:xfrm>
          <a:prstGeom prst="roundRect">
            <a:avLst/>
          </a:prstGeom>
          <a:solidFill>
            <a:srgbClr val="2E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7904" y="4681728"/>
            <a:ext cx="7315200" cy="228600"/>
          </a:xfrm>
          <a:prstGeom prst="rect">
            <a:avLst/>
          </a:prstGeom>
          <a:noFill/>
        </p:spPr>
        <p:txBody>
          <a:bodyPr wrap="square" lIns="27432" tIns="0" rIns="27432" bIns="0">
            <a:normAutofit fontScale="92500" lnSpcReduction="10000"/>
          </a:bodyPr>
          <a:lstStyle/>
          <a:p>
            <a:pPr>
              <a:defRPr sz="1700" b="1">
                <a:solidFill>
                  <a:srgbClr val="1D395B"/>
                </a:solidFill>
                <a:latin typeface="Malgun Gothic"/>
              </a:defRPr>
            </a:pPr>
            <a:r>
              <a:t>Software Engineering Foundation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7048" y="4946904"/>
            <a:ext cx="9052560" cy="192024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pPr>
              <a:defRPr sz="1000" b="0">
                <a:solidFill>
                  <a:srgbClr val="6B7480"/>
                </a:solidFill>
                <a:latin typeface="Malgun Gothic"/>
              </a:defRPr>
            </a:pPr>
            <a:r>
              <a:t>성능 최적화 · 플랫폼 연동 · 품질 검증 및 협업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4791456"/>
            <a:ext cx="603504" cy="219456"/>
          </a:xfrm>
          <a:prstGeom prst="rect">
            <a:avLst/>
          </a:prstGeom>
          <a:noFill/>
        </p:spPr>
        <p:txBody>
          <a:bodyPr wrap="square" lIns="27432" tIns="0" rIns="27432" bIns="0">
            <a:normAutofit fontScale="92500" lnSpcReduction="20000"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3759"/>
                </a:solidFill>
              </a:rPr>
              <a:t>14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12664"/>
            <a:ext cx="10881360" cy="585216"/>
          </a:xfrm>
          <a:prstGeom prst="roundRect">
            <a:avLst/>
          </a:prstGeom>
          <a:solidFill>
            <a:srgbClr val="F7F8FB"/>
          </a:solidFill>
          <a:ln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13816" y="5413248"/>
            <a:ext cx="502920" cy="384048"/>
          </a:xfrm>
          <a:prstGeom prst="roundRect">
            <a:avLst/>
          </a:prstGeom>
          <a:solidFill>
            <a:srgbClr val="378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7904" y="5385816"/>
            <a:ext cx="7315200" cy="228600"/>
          </a:xfrm>
          <a:prstGeom prst="rect">
            <a:avLst/>
          </a:prstGeom>
          <a:noFill/>
        </p:spPr>
        <p:txBody>
          <a:bodyPr wrap="square" lIns="27432" tIns="0" rIns="27432" bIns="0">
            <a:normAutofit fontScale="92500" lnSpcReduction="10000"/>
          </a:bodyPr>
          <a:lstStyle/>
          <a:p>
            <a:pPr>
              <a:defRPr sz="1700" b="1">
                <a:solidFill>
                  <a:srgbClr val="1D395B"/>
                </a:solidFill>
                <a:latin typeface="Malgun Gothic"/>
              </a:defRPr>
            </a:pPr>
            <a:r>
              <a:t>Technical Positioning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7048" y="5650992"/>
            <a:ext cx="9052560" cy="192024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pPr>
              <a:defRPr sz="1000" b="0">
                <a:solidFill>
                  <a:srgbClr val="6B7480"/>
                </a:solidFill>
                <a:latin typeface="Malgun Gothic"/>
              </a:defRPr>
            </a:pPr>
            <a:r>
              <a:t>Model · Training · Runtime · Application 역량 정리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5495544"/>
            <a:ext cx="603504" cy="219456"/>
          </a:xfrm>
          <a:prstGeom prst="rect">
            <a:avLst/>
          </a:prstGeom>
          <a:noFill/>
        </p:spPr>
        <p:txBody>
          <a:bodyPr wrap="square" lIns="27432" tIns="0" rIns="27432" bIns="0">
            <a:normAutofit fontScale="92500" lnSpcReduction="20000"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D3759"/>
                </a:solidFill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27664" y="6492240"/>
            <a:ext cx="420624" cy="182880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8229600" cy="27432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398153"/>
                </a:solidFill>
                <a:latin typeface="Malgun Gothic"/>
              </a:defRPr>
            </a:pPr>
            <a: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0972800" cy="16459"/>
          </a:xfrm>
          <a:prstGeom prst="rect">
            <a:avLst/>
          </a:prstGeom>
          <a:solidFill>
            <a:srgbClr val="398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64240" cy="621792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9365B"/>
                </a:solidFill>
                <a:latin typeface="Malgun Gothic"/>
              </a:defRPr>
            </a:pPr>
            <a:r>
              <a:t>기술 경험의 연결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353312"/>
            <a:ext cx="10972800" cy="36576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A78"/>
                </a:solidFill>
                <a:latin typeface="Malgun Gothic"/>
              </a:defRPr>
            </a:pPr>
            <a:r>
              <a:t>직접 구현 → 공통화 → 진단 → 서비스 연계로 이어지는 기술적 축적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640330" cy="420624"/>
          </a:xfrm>
          <a:prstGeom prst="roundRect">
            <a:avLst/>
          </a:prstGeom>
          <a:solidFill>
            <a:srgbClr val="2B56C0"/>
          </a:solidFill>
          <a:ln>
            <a:solidFill>
              <a:srgbClr val="2B5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01625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DNN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53288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Neuron / Layer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Forward / Backward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Gradient 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96596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7570" y="1965960"/>
            <a:ext cx="2640330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8" y="201625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3874" y="253288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Tokenizer → Decoder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학습·검증·추론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Intel XPU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196596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5060" y="1965960"/>
            <a:ext cx="2640330" cy="420624"/>
          </a:xfrm>
          <a:prstGeom prst="roundRect">
            <a:avLst/>
          </a:prstGeom>
          <a:solidFill>
            <a:srgbClr val="704CA6"/>
          </a:solidFill>
          <a:ln>
            <a:solidFill>
              <a:srgbClr val="70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4788" y="201625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deep-learning-core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1364" y="253288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 fontScale="92500" lnSpcReduction="10000"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Training</a:t>
            </a:r>
            <a:r>
              <a:rPr lang="en-US"/>
              <a:t> Roop</a:t>
            </a:r>
            <a:endParaRPr lang="en-US" dirty="0"/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rPr lang="en-US" dirty="0"/>
              <a:t>Checkpoint/Restore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rPr lang="en-US" dirty="0"/>
              <a:t>Weight/Gradient Diagnostic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rPr lang="en-US" dirty="0" err="1"/>
              <a:t>ModelAnalyzer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8972550" y="196596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72550" y="1965960"/>
            <a:ext cx="2640330" cy="420624"/>
          </a:xfrm>
          <a:prstGeom prst="roundRect">
            <a:avLst/>
          </a:prstGeom>
          <a:solidFill>
            <a:srgbClr val="C56E2E"/>
          </a:solidFill>
          <a:ln>
            <a:solidFill>
              <a:srgbClr val="C5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2278" y="201625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8854" y="253288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Security / API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Integration / Logging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AI 연동 기반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160520"/>
            <a:ext cx="10652760" cy="1280160"/>
          </a:xfrm>
          <a:prstGeom prst="roundRect">
            <a:avLst/>
          </a:prstGeom>
          <a:solidFill>
            <a:srgbClr val="F6F8FC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4370832"/>
            <a:ext cx="1828800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65B"/>
                </a:solidFill>
                <a:latin typeface="Malgun Gothic"/>
              </a:defRPr>
            </a:pPr>
            <a:r>
              <a:t>핵심 방향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343400"/>
            <a:ext cx="8229600" cy="621792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B56C0"/>
                </a:solidFill>
                <a:latin typeface="Malgun Gothic"/>
              </a:defRPr>
            </a:pPr>
            <a:r>
              <a:t>Model Engineering  +  Training Engineering  +  Runtime Analysis  +  Software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8229600" cy="27432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398153"/>
                </a:solidFill>
                <a:latin typeface="Malgun Gothic"/>
              </a:defRPr>
            </a:pPr>
            <a: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0972800" cy="16459"/>
          </a:xfrm>
          <a:prstGeom prst="rect">
            <a:avLst/>
          </a:prstGeom>
          <a:solidFill>
            <a:srgbClr val="398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64240" cy="621792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r>
              <a:rPr sz="2400" b="1" dirty="0">
                <a:latin typeface="+mj-ea"/>
                <a:ea typeface="+mj-ea"/>
              </a:rPr>
              <a:t>01. deep-learning-core | </a:t>
            </a:r>
            <a:r>
              <a:rPr sz="2400" b="1" dirty="0" err="1">
                <a:latin typeface="+mj-ea"/>
                <a:ea typeface="+mj-ea"/>
              </a:rPr>
              <a:t>문제</a:t>
            </a:r>
            <a:r>
              <a:rPr sz="2400" b="1" dirty="0">
                <a:latin typeface="+mj-ea"/>
                <a:ea typeface="+mj-ea"/>
              </a:rPr>
              <a:t> </a:t>
            </a:r>
            <a:r>
              <a:rPr sz="2400" b="1" dirty="0" err="1">
                <a:latin typeface="+mj-ea"/>
                <a:ea typeface="+mj-ea"/>
              </a:rPr>
              <a:t>정의</a:t>
            </a:r>
            <a:r>
              <a:rPr sz="2400" b="1" dirty="0">
                <a:latin typeface="+mj-ea"/>
                <a:ea typeface="+mj-ea"/>
              </a:rPr>
              <a:t> 및 </a:t>
            </a:r>
            <a:r>
              <a:rPr sz="2400" b="1" dirty="0" err="1">
                <a:latin typeface="+mj-ea"/>
                <a:ea typeface="+mj-ea"/>
              </a:rPr>
              <a:t>설계</a:t>
            </a:r>
            <a:r>
              <a:rPr sz="2400" b="1" dirty="0">
                <a:latin typeface="+mj-ea"/>
                <a:ea typeface="+mj-ea"/>
              </a:rPr>
              <a:t> </a:t>
            </a:r>
            <a:r>
              <a:rPr sz="2400" b="1" dirty="0" err="1">
                <a:latin typeface="+mj-ea"/>
                <a:ea typeface="+mj-ea"/>
              </a:rPr>
              <a:t>개선</a:t>
            </a:r>
            <a:endParaRPr sz="24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0936" y="1353312"/>
            <a:ext cx="10972800" cy="36576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A78"/>
                </a:solidFill>
                <a:latin typeface="Malgun Gothic"/>
              </a:defRPr>
            </a:pPr>
            <a:r>
              <a:t>2026.09–현재  ·  PG  ·  Python / PyTorch / pytest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663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66360" cy="420624"/>
          </a:xfrm>
          <a:prstGeom prst="roundRect">
            <a:avLst/>
          </a:prstGeom>
          <a:solidFill>
            <a:srgbClr val="C56E2E"/>
          </a:solidFill>
          <a:ln>
            <a:solidFill>
              <a:srgbClr val="C5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879092"/>
            <a:ext cx="494690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BEFORE | SLM-specific coupling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95728"/>
            <a:ext cx="4873752" cy="1847088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D38"/>
                </a:solidFill>
                <a:latin typeface="Malgun Gothic"/>
              </a:defRPr>
            </a:pPr>
            <a:r>
              <a:t>기존 Training Loop는 이미 모듈화되어 있었지만</a:t>
            </a:r>
          </a:p>
          <a:p>
            <a:pPr>
              <a:spcAft>
                <a:spcPts val="700"/>
              </a:spcAft>
              <a:defRPr sz="1700" b="0">
                <a:solidFill>
                  <a:srgbClr val="242D38"/>
                </a:solidFill>
                <a:latin typeface="Malgun Gothic"/>
              </a:defRPr>
            </a:pPr>
            <a:r>
              <a:t>Tokenizer · Masking 등 SLM 고유 코드와</a:t>
            </a:r>
          </a:p>
          <a:p>
            <a:pPr>
              <a:spcAft>
                <a:spcPts val="700"/>
              </a:spcAft>
              <a:defRPr sz="1700" b="0">
                <a:solidFill>
                  <a:srgbClr val="242D38"/>
                </a:solidFill>
                <a:latin typeface="Malgun Gothic"/>
              </a:defRPr>
            </a:pPr>
            <a:r>
              <a:t>학습 공통 모듈 간 의존성이 존재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828800"/>
            <a:ext cx="51663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5166360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1879092"/>
            <a:ext cx="494690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AFTER | Model-independent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2395728"/>
            <a:ext cx="4873752" cy="1847088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D38"/>
                </a:solidFill>
                <a:latin typeface="Malgun Gothic"/>
              </a:defRPr>
            </a:pPr>
            <a:r>
              <a:t>모델 고유 로직은 각 모델 프로젝트에 유지</a:t>
            </a:r>
          </a:p>
          <a:p>
            <a:pPr>
              <a:spcAft>
                <a:spcPts val="700"/>
              </a:spcAft>
              <a:defRPr sz="1700" b="0">
                <a:solidFill>
                  <a:srgbClr val="242D38"/>
                </a:solidFill>
                <a:latin typeface="Malgun Gothic"/>
              </a:defRPr>
            </a:pPr>
            <a:r>
              <a:t>Training / Evaluation / Device / Checkpoint</a:t>
            </a:r>
          </a:p>
          <a:p>
            <a:pPr>
              <a:spcAft>
                <a:spcPts val="700"/>
              </a:spcAft>
              <a:defRPr sz="1700" b="0">
                <a:solidFill>
                  <a:srgbClr val="242D38"/>
                </a:solidFill>
                <a:latin typeface="Malgun Gothic"/>
              </a:defRPr>
            </a:pPr>
            <a:r>
              <a:t>Metrics / Diagnostics를 Library로 분리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690872"/>
            <a:ext cx="10332720" cy="1051560"/>
          </a:xfrm>
          <a:prstGeom prst="roundRect">
            <a:avLst/>
          </a:prstGeom>
          <a:solidFill>
            <a:srgbClr val="F6F8FC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5010912"/>
            <a:ext cx="9966960" cy="502920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9365B"/>
                </a:solidFill>
                <a:latin typeface="Malgun Gothic"/>
              </a:defRPr>
            </a:pP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경계</a:t>
            </a:r>
            <a:r>
              <a:rPr dirty="0"/>
              <a:t>  :  </a:t>
            </a:r>
            <a:r>
              <a:rPr dirty="0" err="1"/>
              <a:t>torch.nn.Module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 →  </a:t>
            </a:r>
            <a:r>
              <a:rPr dirty="0" err="1"/>
              <a:t>재사용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Training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8229600" cy="27432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398153"/>
                </a:solidFill>
                <a:latin typeface="Malgun Gothic"/>
              </a:defRPr>
            </a:pPr>
            <a: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0972800" cy="16459"/>
          </a:xfrm>
          <a:prstGeom prst="rect">
            <a:avLst/>
          </a:prstGeom>
          <a:solidFill>
            <a:srgbClr val="398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64240" cy="437043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9365B"/>
                </a:solidFill>
                <a:latin typeface="Malgun Gothic"/>
              </a:defRPr>
            </a:pPr>
            <a:r>
              <a:rPr dirty="0"/>
              <a:t>01. </a:t>
            </a:r>
            <a:r>
              <a:rPr lang="en-US" altLang="ko-KR" dirty="0"/>
              <a:t>deep-learning-core | </a:t>
            </a:r>
            <a:r>
              <a:rPr dirty="0"/>
              <a:t>모델 비종속 학습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353312"/>
            <a:ext cx="10972800" cy="36576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400"/>
              </a:spcAft>
            </a:pPr>
            <a:r>
              <a:rPr sz="1300"/>
              <a:t>모델별 로직과 공통 학습·진단 인프라 분리 | PyTorch reusable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2640330" cy="420624"/>
          </a:xfrm>
          <a:prstGeom prst="roundRect">
            <a:avLst/>
          </a:prstGeom>
          <a:solidFill>
            <a:srgbClr val="2B56C0"/>
          </a:solidFill>
          <a:ln>
            <a:solidFill>
              <a:srgbClr val="2B5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15341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MODEL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700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Tokenizer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Vocabulary / Masking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210312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7570" y="2103120"/>
            <a:ext cx="2640330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8" y="215341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MODEL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3874" y="26700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torch.nn.Module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ModelBuilder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SequentialModel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0312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5060" y="2103120"/>
            <a:ext cx="2640330" cy="420624"/>
          </a:xfrm>
          <a:prstGeom prst="roundRect">
            <a:avLst/>
          </a:prstGeom>
          <a:solidFill>
            <a:srgbClr val="704CA6"/>
          </a:solidFill>
          <a:ln>
            <a:solidFill>
              <a:srgbClr val="70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4788" y="215341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TRAINING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1364" y="26700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Batch / Epoch Runner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Trainer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Loss /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550" y="210312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72550" y="2103120"/>
            <a:ext cx="2640330" cy="420624"/>
          </a:xfrm>
          <a:prstGeom prst="roundRect">
            <a:avLst/>
          </a:prstGeom>
          <a:solidFill>
            <a:srgbClr val="C56E2E"/>
          </a:solidFill>
          <a:ln>
            <a:solidFill>
              <a:srgbClr val="C5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2278" y="215341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CONTROL &amp;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8854" y="26700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400"/>
              </a:spcAft>
            </a:pPr>
            <a:r>
              <a:rPr sz="1500"/>
              <a:t>Checkpoint / Metrics</a:t>
            </a:r>
          </a:p>
          <a:p>
            <a:pPr>
              <a:spcAft>
                <a:spcPts val="400"/>
              </a:spcAft>
            </a:pPr>
            <a:r>
              <a:rPr sz="1500"/>
              <a:t>DeviceProfiler / Diagnostics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251960"/>
            <a:ext cx="10561320" cy="1207008"/>
          </a:xfrm>
          <a:prstGeom prst="roundRect">
            <a:avLst/>
          </a:prstGeom>
          <a:solidFill>
            <a:srgbClr val="F6F8FC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" y="4581144"/>
            <a:ext cx="10058400" cy="576072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D3759"/>
                </a:solidFill>
              </a:rPr>
              <a:t>Separation of Concerns  ·  Modular Design  ·  Reusable Python Package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8229600" cy="27432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398153"/>
                </a:solidFill>
                <a:latin typeface="Malgun Gothic"/>
              </a:defRPr>
            </a:pPr>
            <a: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0972800" cy="16459"/>
          </a:xfrm>
          <a:prstGeom prst="rect">
            <a:avLst/>
          </a:prstGeom>
          <a:solidFill>
            <a:srgbClr val="398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64240" cy="437043"/>
          </a:xfrm>
          <a:prstGeom prst="rect">
            <a:avLst/>
          </a:prstGeom>
          <a:noFill/>
        </p:spPr>
        <p:txBody>
          <a:bodyPr wrap="square" lIns="64008" tIns="36576" rIns="45720">
            <a:noAutofit/>
          </a:bodyPr>
          <a:lstStyle/>
          <a:p>
            <a:r>
              <a:rPr sz="2400" b="1" dirty="0">
                <a:latin typeface="+mj-ea"/>
                <a:ea typeface="+mj-ea"/>
              </a:rPr>
              <a:t>01. deep-learning-core | </a:t>
            </a:r>
            <a:r>
              <a:rPr sz="2400" b="1" dirty="0" err="1">
                <a:latin typeface="+mj-ea"/>
                <a:ea typeface="+mj-ea"/>
              </a:rPr>
              <a:t>학습</a:t>
            </a:r>
            <a:r>
              <a:rPr sz="2400" b="1" dirty="0">
                <a:latin typeface="+mj-ea"/>
                <a:ea typeface="+mj-ea"/>
              </a:rPr>
              <a:t> </a:t>
            </a:r>
            <a:r>
              <a:rPr sz="2400" b="1" dirty="0" err="1">
                <a:latin typeface="+mj-ea"/>
                <a:ea typeface="+mj-ea"/>
              </a:rPr>
              <a:t>실행</a:t>
            </a:r>
            <a:r>
              <a:rPr sz="2400" b="1" dirty="0">
                <a:latin typeface="+mj-ea"/>
                <a:ea typeface="+mj-ea"/>
              </a:rPr>
              <a:t> 및 </a:t>
            </a:r>
            <a:r>
              <a:rPr sz="2400" b="1" dirty="0" err="1">
                <a:latin typeface="+mj-ea"/>
                <a:ea typeface="+mj-ea"/>
              </a:rPr>
              <a:t>운영</a:t>
            </a:r>
            <a:r>
              <a:rPr sz="2400" b="1" dirty="0">
                <a:latin typeface="+mj-ea"/>
                <a:ea typeface="+mj-ea"/>
              </a:rPr>
              <a:t> </a:t>
            </a:r>
            <a:r>
              <a:rPr sz="2400" b="1" dirty="0" err="1">
                <a:latin typeface="+mj-ea"/>
                <a:ea typeface="+mj-ea"/>
              </a:rPr>
              <a:t>제어</a:t>
            </a:r>
            <a:r>
              <a:rPr sz="2400" b="1" dirty="0">
                <a:latin typeface="+mj-ea"/>
                <a:ea typeface="+mj-ea"/>
              </a:rPr>
              <a:t> </a:t>
            </a:r>
            <a:r>
              <a:rPr sz="2400" b="1" dirty="0" err="1">
                <a:latin typeface="+mj-ea"/>
                <a:ea typeface="+mj-ea"/>
              </a:rPr>
              <a:t>흐름</a:t>
            </a:r>
            <a:endParaRPr sz="24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0936" y="1353312"/>
            <a:ext cx="10972800" cy="36576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A78"/>
                </a:solidFill>
                <a:latin typeface="Malgun Gothic"/>
              </a:defRPr>
            </a:pPr>
            <a:r>
              <a:t>BatchRunner의 핵심 연산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640330" cy="420624"/>
          </a:xfrm>
          <a:prstGeom prst="roundRect">
            <a:avLst/>
          </a:prstGeom>
          <a:solidFill>
            <a:srgbClr val="2B56C0"/>
          </a:solidFill>
          <a:ln>
            <a:solidFill>
              <a:srgbClr val="2B5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92481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414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r>
              <a:rPr sz="1600"/>
              <a:t>inputs / targets → device</a:t>
            </a:r>
          </a:p>
          <a:p>
            <a:r>
              <a:rPr sz="1600"/>
              <a:t>중첩 dict · tuple · list 이동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874519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7570" y="1874519"/>
            <a:ext cx="2640330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8" y="192481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3874" y="24414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zero_grad()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Forward / Loss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1874519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5060" y="1874519"/>
            <a:ext cx="2640330" cy="420624"/>
          </a:xfrm>
          <a:prstGeom prst="roundRect">
            <a:avLst/>
          </a:prstGeom>
          <a:solidFill>
            <a:srgbClr val="704CA6"/>
          </a:solidFill>
          <a:ln>
            <a:solidFill>
              <a:srgbClr val="70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4788" y="192481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1364" y="24414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Backward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optimizer.step()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550" y="1874519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72550" y="1874519"/>
            <a:ext cx="2640330" cy="420624"/>
          </a:xfrm>
          <a:prstGeom prst="roundRect">
            <a:avLst/>
          </a:prstGeom>
          <a:solidFill>
            <a:srgbClr val="C56E2E"/>
          </a:solidFill>
          <a:ln>
            <a:solidFill>
              <a:srgbClr val="C5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2278" y="192481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8854" y="24414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Accuracy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Train / 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977639"/>
            <a:ext cx="5138928" cy="1527048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" y="3977639"/>
            <a:ext cx="5138928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4027931"/>
            <a:ext cx="4919472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TRAINING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4544568"/>
            <a:ext cx="4846320" cy="905255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D38"/>
                </a:solidFill>
                <a:latin typeface="Malgun Gothic"/>
              </a:defRPr>
            </a:pPr>
            <a:r>
              <a:t>Best checkpoint 저장·복원  /  EarlyStopping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977639"/>
            <a:ext cx="5138928" cy="1527048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26480" y="3977639"/>
            <a:ext cx="5138928" cy="420624"/>
          </a:xfrm>
          <a:prstGeom prst="roundRect">
            <a:avLst/>
          </a:prstGeom>
          <a:solidFill>
            <a:srgbClr val="704CA6"/>
          </a:solidFill>
          <a:ln>
            <a:solidFill>
              <a:srgbClr val="70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36208" y="4027931"/>
            <a:ext cx="4919472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MODEL DIAGNOSTICS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4544568"/>
            <a:ext cx="4846320" cy="905255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400"/>
              </a:spcAft>
            </a:pPr>
            <a:r>
              <a:rPr sz="1600"/>
              <a:t>ModelAnalyzer · TransformerModelAnalyzer</a:t>
            </a:r>
          </a:p>
          <a:p>
            <a:pPr>
              <a:spcAft>
                <a:spcPts val="400"/>
              </a:spcAft>
            </a:pPr>
            <a:r>
              <a:rPr sz="1600"/>
              <a:t>WeightInspector · DeviceProfiler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8229600" cy="27432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398153"/>
                </a:solidFill>
                <a:latin typeface="Malgun Gothic"/>
              </a:defRPr>
            </a:pPr>
            <a: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0972800" cy="16459"/>
          </a:xfrm>
          <a:prstGeom prst="rect">
            <a:avLst/>
          </a:prstGeom>
          <a:solidFill>
            <a:srgbClr val="398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64240" cy="437043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9365B"/>
                </a:solidFill>
                <a:latin typeface="Malgun Gothic"/>
              </a:defRPr>
            </a:pPr>
            <a:r>
              <a:t>01. deep-learning-core | Model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353312"/>
            <a:ext cx="10972800" cy="36576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400"/>
              </a:spcAft>
            </a:pPr>
            <a:r>
              <a:rPr sz="1200"/>
              <a:t>구현: Recursive Layer Resolution · Inspector 자동 등록 · Neuron-Level Weight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640330" cy="2181352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2640330" cy="420624"/>
          </a:xfrm>
          <a:prstGeom prst="roundRect">
            <a:avLst/>
          </a:prstGeom>
          <a:solidFill>
            <a:srgbClr val="2B56C0"/>
          </a:solidFill>
          <a:ln>
            <a:solidFill>
              <a:srgbClr val="2B5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15341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LAYER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70048"/>
            <a:ext cx="2347722" cy="1287272"/>
          </a:xfrm>
          <a:prstGeom prst="rect">
            <a:avLst/>
          </a:prstGeom>
          <a:noFill/>
        </p:spPr>
        <p:txBody>
          <a:bodyPr wrap="square" lIns="64008" tIns="36576" rIns="45720">
            <a:normAutofit fontScale="92500" lnSpcReduction="10000"/>
          </a:bodyPr>
          <a:lstStyle/>
          <a:p>
            <a:pPr>
              <a:spcAft>
                <a:spcPts val="400"/>
              </a:spcAft>
            </a:pPr>
            <a:r>
              <a:rPr sz="1500"/>
              <a:t>Nested nn.Sequential</a:t>
            </a:r>
          </a:p>
          <a:p>
            <a:pPr>
              <a:spcAft>
                <a:spcPts val="400"/>
              </a:spcAft>
            </a:pPr>
            <a:r>
              <a:rPr sz="1500"/>
              <a:t>Primary Layer / Stage</a:t>
            </a:r>
          </a:p>
          <a:p>
            <a:pPr>
              <a:spcAft>
                <a:spcPts val="400"/>
              </a:spcAft>
            </a:pPr>
            <a:r>
              <a:rPr sz="1500"/>
              <a:t>Qualified Layer Names</a:t>
            </a:r>
          </a:p>
          <a:p>
            <a:pPr>
              <a:spcAft>
                <a:spcPts val="400"/>
              </a:spcAft>
            </a:pPr>
            <a:r>
              <a:rPr sz="1500"/>
              <a:t>Recursive Resolution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2103119"/>
            <a:ext cx="2640330" cy="2181351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7570" y="2103120"/>
            <a:ext cx="2640330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8" y="215341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TENSOR STATISTICS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3874" y="26700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400"/>
              </a:spcAft>
            </a:pPr>
            <a:r>
              <a:rPr sz="1500"/>
              <a:t>Mean / Std · L1 / L2</a:t>
            </a:r>
          </a:p>
          <a:p>
            <a:pPr>
              <a:spcAft>
                <a:spcPts val="400"/>
              </a:spcAft>
            </a:pPr>
            <a:r>
              <a:rPr sz="1500"/>
              <a:t>Zero / Positive / Negative Ratio</a:t>
            </a:r>
          </a:p>
          <a:p>
            <a:pPr>
              <a:spcAft>
                <a:spcPts val="400"/>
              </a:spcAft>
            </a:pPr>
            <a:r>
              <a:rPr sz="1500"/>
              <a:t>NaN / Inf · Min / Max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03120"/>
            <a:ext cx="2640330" cy="218135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5060" y="2103120"/>
            <a:ext cx="2640330" cy="420624"/>
          </a:xfrm>
          <a:prstGeom prst="roundRect">
            <a:avLst/>
          </a:prstGeom>
          <a:solidFill>
            <a:srgbClr val="704CA6"/>
          </a:solidFill>
          <a:ln>
            <a:solidFill>
              <a:srgbClr val="70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4788" y="215341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WEIGHT DIAGNOSTIC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1364" y="26700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 lnSpcReduction="10000"/>
          </a:bodyPr>
          <a:lstStyle/>
          <a:p>
            <a:pPr>
              <a:spcAft>
                <a:spcPts val="400"/>
              </a:spcAft>
            </a:pPr>
            <a:r>
              <a:rPr sz="1500"/>
              <a:t>All-Zero / Constant</a:t>
            </a:r>
          </a:p>
          <a:p>
            <a:pPr>
              <a:spcAft>
                <a:spcPts val="400"/>
              </a:spcAft>
            </a:pPr>
            <a:r>
              <a:rPr sz="1500"/>
              <a:t>Small / Large Threshold</a:t>
            </a:r>
          </a:p>
          <a:p>
            <a:pPr>
              <a:spcAft>
                <a:spcPts val="400"/>
              </a:spcAft>
            </a:pPr>
            <a:r>
              <a:rPr sz="1500"/>
              <a:t>Neuron Similarity</a:t>
            </a:r>
          </a:p>
          <a:p>
            <a:pPr>
              <a:spcAft>
                <a:spcPts val="400"/>
              </a:spcAft>
            </a:pPr>
            <a:r>
              <a:rPr sz="1500"/>
              <a:t>Input Contribution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550" y="2103120"/>
            <a:ext cx="2640330" cy="2181352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72550" y="2103120"/>
            <a:ext cx="2640330" cy="420624"/>
          </a:xfrm>
          <a:prstGeom prst="roundRect">
            <a:avLst/>
          </a:prstGeom>
          <a:solidFill>
            <a:srgbClr val="C56E2E"/>
          </a:solidFill>
          <a:ln>
            <a:solidFill>
              <a:srgbClr val="C5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2278" y="215341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400"/>
              </a:spcAft>
            </a:pPr>
            <a:r>
              <a:rPr sz="1500" b="1"/>
              <a:t>NEURON-LEVEL INSPECTION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8854" y="2670048"/>
            <a:ext cx="2347722" cy="1083564"/>
          </a:xfrm>
          <a:prstGeom prst="rect">
            <a:avLst/>
          </a:prstGeom>
          <a:noFill/>
        </p:spPr>
        <p:txBody>
          <a:bodyPr wrap="square" lIns="64008" tIns="36576" rIns="45720">
            <a:normAutofit fontScale="85000" lnSpcReduction="10000"/>
          </a:bodyPr>
          <a:lstStyle/>
          <a:p>
            <a:pPr>
              <a:spcAft>
                <a:spcPts val="400"/>
              </a:spcAft>
            </a:pPr>
            <a:r>
              <a:rPr sz="1500"/>
              <a:t>Inspector Registry</a:t>
            </a:r>
          </a:p>
          <a:p>
            <a:pPr>
              <a:spcAft>
                <a:spcPts val="400"/>
              </a:spcAft>
            </a:pPr>
            <a:r>
              <a:rPr sz="1500"/>
              <a:t>inspect_neuron()</a:t>
            </a:r>
          </a:p>
          <a:p>
            <a:pPr>
              <a:spcAft>
                <a:spcPts val="400"/>
              </a:spcAft>
            </a:pPr>
            <a:r>
              <a:rPr sz="1500"/>
              <a:t>get_problem_neurons()</a:t>
            </a:r>
          </a:p>
          <a:p>
            <a:pPr>
              <a:spcAft>
                <a:spcPts val="400"/>
              </a:spcAft>
            </a:pPr>
            <a:r>
              <a:rPr sz="1500"/>
              <a:t>Layer / Neuron Index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4761992"/>
            <a:ext cx="10561320" cy="1207008"/>
          </a:xfrm>
          <a:prstGeom prst="roundRect">
            <a:avLst/>
          </a:prstGeom>
          <a:solidFill>
            <a:srgbClr val="F6F8FC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" y="5157216"/>
            <a:ext cx="10058400" cy="576072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D3759"/>
                </a:solidFill>
              </a:rPr>
              <a:t>Layer 탐색 → Inspector 등록 → 뉴런별 Weight 통계 → 조건 기반 문제 탐지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317E52"/>
                </a:solidFill>
              </a:rP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21207"/>
            <a:ext cx="10972800" cy="16459"/>
          </a:xfrm>
          <a:prstGeom prst="rect">
            <a:avLst/>
          </a:prstGeom>
          <a:solidFill>
            <a:srgbClr val="31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1D3759"/>
                </a:solidFill>
              </a:rPr>
              <a:t>01. deep-learning-core | Layer Inspector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A626E"/>
                </a:solidFill>
              </a:rPr>
              <a:t>확장 가능한 Inspector 등록과 뉴런 단위 진단의 책임 분리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01952"/>
            <a:ext cx="2578608" cy="2240280"/>
          </a:xfrm>
          <a:prstGeom prst="roundRect">
            <a:avLst/>
          </a:prstGeom>
          <a:solidFill>
            <a:srgbClr val="FAFAFC"/>
          </a:solidFill>
          <a:ln>
            <a:solidFill>
              <a:srgbClr val="DB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2578608" cy="438912"/>
          </a:xfrm>
          <a:prstGeom prst="roundRect">
            <a:avLst/>
          </a:prstGeom>
          <a:solidFill>
            <a:srgbClr val="2E5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01  RESOLVE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505456"/>
            <a:ext cx="23042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nn.Sequential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↓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SequentialLayerResolver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↓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LayerDefinition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01952"/>
            <a:ext cx="2578608" cy="2240280"/>
          </a:xfrm>
          <a:prstGeom prst="roundRect">
            <a:avLst/>
          </a:prstGeom>
          <a:solidFill>
            <a:srgbClr val="FAFAFC"/>
          </a:solidFill>
          <a:ln>
            <a:solidFill>
              <a:srgbClr val="DB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29000" y="1901952"/>
            <a:ext cx="2578608" cy="438912"/>
          </a:xfrm>
          <a:prstGeom prst="roundRect">
            <a:avLst/>
          </a:prstGeom>
          <a:solidFill>
            <a:srgbClr val="31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02 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505456"/>
            <a:ext cx="23042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LayerInspectorFactory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↓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LayerInspectorRegistry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↓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Supported Inspectors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2578608" cy="2240280"/>
          </a:xfrm>
          <a:prstGeom prst="roundRect">
            <a:avLst/>
          </a:prstGeom>
          <a:solidFill>
            <a:srgbClr val="FAFAFC"/>
          </a:solidFill>
          <a:ln>
            <a:solidFill>
              <a:srgbClr val="DB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2578608" cy="438912"/>
          </a:xfrm>
          <a:prstGeom prst="roundRect">
            <a:avLst/>
          </a:prstGeom>
          <a:solidFill>
            <a:srgbClr val="6F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03  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505456"/>
            <a:ext cx="23042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SequentialLayerInspector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↓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OutputWeightInspector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↓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Neuron Selection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901952"/>
            <a:ext cx="2578608" cy="2240280"/>
          </a:xfrm>
          <a:prstGeom prst="roundRect">
            <a:avLst/>
          </a:prstGeom>
          <a:solidFill>
            <a:srgbClr val="FAFAFC"/>
          </a:solidFill>
          <a:ln>
            <a:solidFill>
              <a:srgbClr val="DB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915400" y="1901952"/>
            <a:ext cx="2578608" cy="438912"/>
          </a:xfrm>
          <a:prstGeom prst="roundRect">
            <a:avLst/>
          </a:prstGeom>
          <a:solidFill>
            <a:srgbClr val="C36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04  DIAGNOSE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4" y="2505456"/>
            <a:ext cx="23042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TensorStatistics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+ WeightDiagnostic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↓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get_problem_neurons()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27448"/>
            <a:ext cx="10515600" cy="77724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D3759"/>
                </a:solidFill>
                <a:latin typeface="Malgun Gothic"/>
              </a:rPr>
              <a:t>Recursive Layer Resolution  →  Automatic Registration  →  Neuron-Level Diagnostics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317E52"/>
                </a:solidFill>
              </a:rP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21207"/>
            <a:ext cx="10972800" cy="16459"/>
          </a:xfrm>
          <a:prstGeom prst="rect">
            <a:avLst/>
          </a:prstGeom>
          <a:solidFill>
            <a:srgbClr val="31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2500" b="1">
                <a:solidFill>
                  <a:srgbClr val="1D3759"/>
                </a:solidFill>
              </a:rPr>
              <a:t>01. deep-learning-core | Transformer Model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A626E"/>
                </a:solidFill>
              </a:rPr>
              <a:t>실측 프로파일링과 구분되는 정적 추정: 메모리 · 연산량 · 대역폭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01952"/>
            <a:ext cx="3401568" cy="2240280"/>
          </a:xfrm>
          <a:prstGeom prst="roundRect">
            <a:avLst/>
          </a:prstGeom>
          <a:solidFill>
            <a:srgbClr val="FAFAFC"/>
          </a:solidFill>
          <a:ln>
            <a:solidFill>
              <a:srgbClr val="DB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3401568" cy="438912"/>
          </a:xfrm>
          <a:prstGeom prst="roundRect">
            <a:avLst/>
          </a:prstGeom>
          <a:solidFill>
            <a:srgbClr val="2E5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MODEL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505456"/>
            <a:ext cx="31272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Vocabulary / Embedding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Attention Heads / Head Dim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Transformer Layers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01952"/>
            <a:ext cx="3401568" cy="2240280"/>
          </a:xfrm>
          <a:prstGeom prst="roundRect">
            <a:avLst/>
          </a:prstGeom>
          <a:solidFill>
            <a:srgbClr val="FAFAFC"/>
          </a:solidFill>
          <a:ln>
            <a:solidFill>
              <a:srgbClr val="DB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9120" y="1901952"/>
            <a:ext cx="3401568" cy="438912"/>
          </a:xfrm>
          <a:prstGeom prst="roundRect">
            <a:avLst/>
          </a:prstGeom>
          <a:solidFill>
            <a:srgbClr val="31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MEMORY &amp; 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505456"/>
            <a:ext cx="31272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Attention Score Memory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Embedding / Logits Memory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Estimated FLOPs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01952"/>
            <a:ext cx="3401568" cy="2240280"/>
          </a:xfrm>
          <a:prstGeom prst="roundRect">
            <a:avLst/>
          </a:prstGeom>
          <a:solidFill>
            <a:srgbClr val="FAFAFC"/>
          </a:solidFill>
          <a:ln>
            <a:solidFill>
              <a:srgbClr val="DB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2440" y="1901952"/>
            <a:ext cx="3401568" cy="438912"/>
          </a:xfrm>
          <a:prstGeom prst="roundRect">
            <a:avLst/>
          </a:prstGeom>
          <a:solidFill>
            <a:srgbClr val="6F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EFFICIENCY ESTIMATE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505456"/>
            <a:ext cx="31272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Estimated Memory Traffic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Arithmetic Intensity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3759"/>
                </a:solidFill>
                <a:latin typeface="Malgun Gothic"/>
              </a:rPr>
              <a:t>Bandwidth Utilization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09160"/>
            <a:ext cx="10378440" cy="941832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91440" rIns="109728" rtlCol="0" anchor="ctr"/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D3759"/>
                </a:solidFill>
                <a:latin typeface="Malgun Gothic"/>
              </a:rPr>
              <a:t>Attention memory ∝ Batch × Heads × Sequence² × Bytes/element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D3759"/>
                </a:solidFill>
                <a:latin typeface="Malgun Gothic"/>
              </a:rPr>
              <a:t>추정값(Estimated)이며 실제 장치의 성능 측정 결과와 구분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8229600" cy="27432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398153"/>
                </a:solidFill>
                <a:latin typeface="Malgun Gothic"/>
              </a:defRPr>
            </a:pPr>
            <a: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0972800" cy="16459"/>
          </a:xfrm>
          <a:prstGeom prst="rect">
            <a:avLst/>
          </a:prstGeom>
          <a:solidFill>
            <a:srgbClr val="398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64240" cy="437043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9365B"/>
                </a:solidFill>
                <a:latin typeface="Malgun Gothic"/>
              </a:defRPr>
            </a:pPr>
            <a:r>
              <a:rPr dirty="0"/>
              <a:t>01. </a:t>
            </a:r>
            <a:r>
              <a:rPr lang="en-US" altLang="ko-KR" dirty="0"/>
              <a:t>deep-learning-core | </a:t>
            </a:r>
            <a:r>
              <a:rPr dirty="0"/>
              <a:t>검증 </a:t>
            </a:r>
            <a:r>
              <a:rPr dirty="0" err="1"/>
              <a:t>결과와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범위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30936" y="1353312"/>
            <a:ext cx="10972800" cy="252377"/>
          </a:xfrm>
          <a:prstGeom prst="rect">
            <a:avLst/>
          </a:prstGeom>
          <a:noFill/>
        </p:spPr>
        <p:txBody>
          <a:bodyPr wrap="square" lIns="64008" tIns="0" rIns="45720" bIns="0">
            <a:normAutofit lnSpcReduction="10000"/>
          </a:bodyPr>
          <a:lstStyle/>
          <a:p>
            <a:pPr>
              <a:spcAft>
                <a:spcPts val="400"/>
              </a:spcAft>
            </a:pPr>
            <a:r>
              <a:rPr sz="1300"/>
              <a:t>pytest 단위 테스트 검증 결과 | Python 3.10.12 | 실행 시간 11.27초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847088"/>
            <a:ext cx="5212080" cy="2240280"/>
          </a:xfrm>
          <a:prstGeom prst="roundRect">
            <a:avLst/>
          </a:prstGeom>
          <a:solidFill>
            <a:srgbClr val="ECF7EF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2103120"/>
            <a:ext cx="4480560" cy="1005840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400"/>
              </a:spcAft>
            </a:pPr>
            <a:r>
              <a:rPr sz="6400" b="1">
                <a:solidFill>
                  <a:srgbClr val="317E52"/>
                </a:solidFill>
              </a:rPr>
              <a:t>240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4617720" cy="457200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D3759"/>
                </a:solidFill>
              </a:rPr>
              <a:t>Unit Tests Passed  /  0 Failed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47088"/>
            <a:ext cx="501091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99632" y="1847088"/>
            <a:ext cx="5010912" cy="420624"/>
          </a:xfrm>
          <a:prstGeom prst="roundRect">
            <a:avLst/>
          </a:prstGeom>
          <a:solidFill>
            <a:srgbClr val="2B56C0"/>
          </a:solidFill>
          <a:ln>
            <a:solidFill>
              <a:srgbClr val="2B5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897380"/>
            <a:ext cx="4791456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414016"/>
            <a:ext cx="4718304" cy="1618488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400"/>
              </a:spcAft>
            </a:pPr>
            <a:r>
              <a:rPr sz="1500"/>
              <a:t>Model / Transformer Analyzer</a:t>
            </a:r>
          </a:p>
          <a:p>
            <a:pPr>
              <a:spcAft>
                <a:spcPts val="400"/>
              </a:spcAft>
            </a:pPr>
            <a:r>
              <a:rPr sz="1500"/>
              <a:t>Layer Resolver / Inspector Factory</a:t>
            </a:r>
          </a:p>
          <a:p>
            <a:pPr>
              <a:spcAft>
                <a:spcPts val="400"/>
              </a:spcAft>
            </a:pPr>
            <a:r>
              <a:rPr sz="1500"/>
              <a:t>Weight &amp; Neuron Inspection</a:t>
            </a:r>
          </a:p>
          <a:p>
            <a:pPr>
              <a:spcAft>
                <a:spcPts val="400"/>
              </a:spcAft>
            </a:pPr>
            <a:r>
              <a:rPr sz="1500"/>
              <a:t>Training / Checkpoint / Profiling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34840"/>
            <a:ext cx="10469880" cy="1051560"/>
          </a:xfrm>
          <a:prstGeom prst="roundRect">
            <a:avLst/>
          </a:prstGeom>
          <a:solidFill>
            <a:srgbClr val="F6F8FC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4736592"/>
            <a:ext cx="9966960" cy="5212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D3759"/>
                </a:solidFill>
              </a:rPr>
              <a:t>240 passed in 11.27s  |  단위 테스트 검증 결과 (2026.10.28 제공 로그)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8229600" cy="27432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398153"/>
                </a:solidFill>
                <a:latin typeface="Malgun Gothic"/>
              </a:defRPr>
            </a:pPr>
            <a: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0972800" cy="16459"/>
          </a:xfrm>
          <a:prstGeom prst="rect">
            <a:avLst/>
          </a:prstGeom>
          <a:solidFill>
            <a:srgbClr val="398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64240" cy="621792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9365B"/>
                </a:solidFill>
                <a:latin typeface="Malgun Gothic"/>
              </a:defRPr>
            </a:pPr>
            <a:r>
              <a:rPr dirty="0"/>
              <a:t>02. Decoder-only Transformer SLM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353312"/>
            <a:ext cx="10972800" cy="36576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A78"/>
                </a:solidFill>
                <a:latin typeface="Malgun Gothic"/>
              </a:defRPr>
            </a:pPr>
            <a:r>
              <a:t>2026.06–2026.08  ·  PG  ·  PyTorch / SentencePiece / Intel XPU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640330" cy="420624"/>
          </a:xfrm>
          <a:prstGeom prst="roundRect">
            <a:avLst/>
          </a:prstGeom>
          <a:solidFill>
            <a:srgbClr val="2B56C0"/>
          </a:solidFill>
          <a:ln>
            <a:solidFill>
              <a:srgbClr val="2B5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988820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505456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SentencePiece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Tokenizer 학습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Token ID 변환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938528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7570" y="1938528"/>
            <a:ext cx="2640330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8" y="1988820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3874" y="2505456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Embedding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Masked Self-Attention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Decoder Blocks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1938528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5060" y="1938528"/>
            <a:ext cx="2640330" cy="420624"/>
          </a:xfrm>
          <a:prstGeom prst="roundRect">
            <a:avLst/>
          </a:prstGeom>
          <a:solidFill>
            <a:srgbClr val="704CA6"/>
          </a:solidFill>
          <a:ln>
            <a:solidFill>
              <a:srgbClr val="70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4788" y="1988820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1364" y="2505456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Logits / Loss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Backpropagation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550" y="1938528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72550" y="1938528"/>
            <a:ext cx="2640330" cy="420624"/>
          </a:xfrm>
          <a:prstGeom prst="roundRect">
            <a:avLst/>
          </a:prstGeom>
          <a:solidFill>
            <a:srgbClr val="C56E2E"/>
          </a:solidFill>
          <a:ln>
            <a:solidFill>
              <a:srgbClr val="C5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2278" y="1988820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8854" y="2505456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CPU ↔ XPU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Device Profiling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Batch Size 분석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178808"/>
            <a:ext cx="10469880" cy="1307592"/>
          </a:xfrm>
          <a:prstGeom prst="roundRect">
            <a:avLst/>
          </a:prstGeom>
          <a:solidFill>
            <a:srgbClr val="F6F8FC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416552"/>
            <a:ext cx="1828800" cy="347472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98153"/>
                </a:solidFill>
                <a:latin typeface="Malgun Gothic"/>
              </a:defRPr>
            </a:pPr>
            <a:r>
              <a:t>EVOLUTION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00600"/>
            <a:ext cx="9875520" cy="484632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9365B"/>
                </a:solidFill>
                <a:latin typeface="Malgun Gothic"/>
              </a:defRPr>
            </a:pPr>
            <a:r>
              <a:t>SLM에서 확인한 공통 학습 로직을 독립 라이브러리로 분리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8229600" cy="27432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398153"/>
                </a:solidFill>
                <a:latin typeface="Malgun Gothic"/>
              </a:defRPr>
            </a:pPr>
            <a: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0972800" cy="16459"/>
          </a:xfrm>
          <a:prstGeom prst="rect">
            <a:avLst/>
          </a:prstGeom>
          <a:solidFill>
            <a:srgbClr val="398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64240" cy="621792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9365B"/>
                </a:solidFill>
                <a:latin typeface="Malgun Gothic"/>
              </a:defRPr>
            </a:pPr>
            <a:r>
              <a:t>03. Fully Connected DNN 직접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353312"/>
            <a:ext cx="10972800" cy="36576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A78"/>
                </a:solidFill>
                <a:latin typeface="Malgun Gothic"/>
              </a:defRPr>
            </a:pPr>
            <a:r>
              <a:t>2024.08–2025.06  ·  PG  · 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38528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2640330" cy="420624"/>
          </a:xfrm>
          <a:prstGeom prst="roundRect">
            <a:avLst/>
          </a:prstGeom>
          <a:solidFill>
            <a:srgbClr val="2B56C0"/>
          </a:solidFill>
          <a:ln>
            <a:solidFill>
              <a:srgbClr val="2B5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988820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505456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Neuron / Layer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Fully Connected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938528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7570" y="1938528"/>
            <a:ext cx="2640330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8" y="1988820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FORWARD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3874" y="2505456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Activation Function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Forward Propagation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1938528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5060" y="1938528"/>
            <a:ext cx="2640330" cy="420624"/>
          </a:xfrm>
          <a:prstGeom prst="roundRect">
            <a:avLst/>
          </a:prstGeom>
          <a:solidFill>
            <a:srgbClr val="704CA6"/>
          </a:solidFill>
          <a:ln>
            <a:solidFill>
              <a:srgbClr val="70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4788" y="1988820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BACKWARD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1364" y="2505456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미분 / Chain Rule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Gradient 계산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550" y="1938528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72550" y="1938528"/>
            <a:ext cx="2640330" cy="420624"/>
          </a:xfrm>
          <a:prstGeom prst="roundRect">
            <a:avLst/>
          </a:prstGeom>
          <a:solidFill>
            <a:srgbClr val="C56E2E"/>
          </a:solidFill>
          <a:ln>
            <a:solidFill>
              <a:srgbClr val="C5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2278" y="1988820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8854" y="2505456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Weight / Bias 갱신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단위 테스트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160520"/>
            <a:ext cx="10515600" cy="1389888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" y="4160520"/>
            <a:ext cx="10515600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4210812"/>
            <a:ext cx="1029614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4727448"/>
            <a:ext cx="10222992" cy="768096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D38"/>
                </a:solidFill>
                <a:latin typeface="Malgun Gothic"/>
              </a:defRPr>
            </a:pPr>
            <a:r>
              <a:t>수학적 기댓값과 출력·Gradient를 비교하는 단위 테스트로 구현 정확성 검증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8229600" cy="27432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398153"/>
                </a:solidFill>
                <a:latin typeface="Malgun Gothic"/>
              </a:defRPr>
            </a:pPr>
            <a: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0972800" cy="16459"/>
          </a:xfrm>
          <a:prstGeom prst="rect">
            <a:avLst/>
          </a:prstGeom>
          <a:solidFill>
            <a:srgbClr val="398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64240" cy="621792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9365B"/>
                </a:solidFill>
                <a:latin typeface="Malgun Gothic"/>
              </a:defRPr>
            </a:pPr>
            <a:r>
              <a:rPr dirty="0"/>
              <a:t>04. Reusable Spring Boot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353312"/>
            <a:ext cx="10972800" cy="36576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A78"/>
                </a:solidFill>
                <a:latin typeface="Malgun Gothic"/>
              </a:defRPr>
            </a:pPr>
            <a:r>
              <a:t>2025.07–2025.08  ·  Application Architect  ·  Java 21 / Spring Boot 3.3.1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640330" cy="420624"/>
          </a:xfrm>
          <a:prstGeom prst="roundRect">
            <a:avLst/>
          </a:prstGeom>
          <a:solidFill>
            <a:srgbClr val="2B56C0"/>
          </a:solidFill>
          <a:ln>
            <a:solidFill>
              <a:srgbClr val="2B5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01625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SERVICE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53288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Controller / Service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Config / AOP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7570" y="196596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7570" y="1965960"/>
            <a:ext cx="2640330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8" y="201625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3874" y="253288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SecurityFilterChain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Stateless / BCrypt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196596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5060" y="1965960"/>
            <a:ext cx="2640330" cy="420624"/>
          </a:xfrm>
          <a:prstGeom prst="roundRect">
            <a:avLst/>
          </a:prstGeom>
          <a:solidFill>
            <a:srgbClr val="704CA6"/>
          </a:solidFill>
          <a:ln>
            <a:solidFill>
              <a:srgbClr val="70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4788" y="201625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1364" y="253288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RestTemplate / WebClient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Connection Pool / Timeout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2550" y="196596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72550" y="1965960"/>
            <a:ext cx="2640330" cy="420624"/>
          </a:xfrm>
          <a:prstGeom prst="roundRect">
            <a:avLst/>
          </a:prstGeom>
          <a:solidFill>
            <a:srgbClr val="C56E2E"/>
          </a:solidFill>
          <a:ln>
            <a:solidFill>
              <a:srgbClr val="C5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2278" y="2016252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COMMON CONCERNS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8854" y="253288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Validation / Exception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Logging / API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206240"/>
            <a:ext cx="10497312" cy="1234440"/>
          </a:xfrm>
          <a:prstGeom prst="roundRect">
            <a:avLst/>
          </a:prstGeom>
          <a:solidFill>
            <a:srgbClr val="F6F8FC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0704" y="4434840"/>
            <a:ext cx="2286000" cy="411480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98153"/>
                </a:solidFill>
                <a:latin typeface="Malgun Gothic"/>
              </a:defRPr>
            </a:pPr>
            <a:r>
              <a:t>AI 연동과의 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407408"/>
            <a:ext cx="7680960" cy="329321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r>
              <a:t>AI 추론 API 연계에 필요한 서비스·보안·통신·예외 처리 기반 설계 (추론 서비스 구현 실적과 구분)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8229600" cy="27432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398153"/>
                </a:solidFill>
                <a:latin typeface="Malgun Gothic"/>
              </a:defRPr>
            </a:pPr>
            <a: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0972800" cy="16459"/>
          </a:xfrm>
          <a:prstGeom prst="rect">
            <a:avLst/>
          </a:prstGeom>
          <a:solidFill>
            <a:srgbClr val="398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64240" cy="437043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9365B"/>
                </a:solidFill>
                <a:latin typeface="Malgun Gothic"/>
              </a:defRPr>
            </a:pPr>
            <a:r>
              <a:rPr lang="en-US" dirty="0"/>
              <a:t>05. </a:t>
            </a:r>
            <a:r>
              <a:rPr dirty="0"/>
              <a:t>Software Engineering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353312"/>
            <a:ext cx="10972800" cy="36576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A78"/>
                </a:solidFill>
                <a:latin typeface="Malgun Gothic"/>
              </a:defRPr>
            </a:pPr>
            <a:r>
              <a:t>AI 모델을 실제 시스템과 연결하는 기반 역량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204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520440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879092"/>
            <a:ext cx="330098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395728"/>
            <a:ext cx="3227832" cy="2258568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D38"/>
                </a:solidFill>
                <a:latin typeface="Malgun Gothic"/>
              </a:defRPr>
            </a:pPr>
            <a:r>
              <a:rPr dirty="0"/>
              <a:t>Samsung SDS</a:t>
            </a:r>
            <a:endParaRPr lang="en-US" dirty="0"/>
          </a:p>
          <a:p>
            <a:pPr>
              <a:spcAft>
                <a:spcPts val="700"/>
              </a:spcAft>
              <a:defRPr sz="1600" b="0">
                <a:solidFill>
                  <a:srgbClr val="242D38"/>
                </a:solidFill>
                <a:latin typeface="Malgun Gothic"/>
              </a:defRPr>
            </a:pPr>
            <a:r>
              <a:rPr lang="en-US" dirty="0"/>
              <a:t>RCP </a:t>
            </a:r>
            <a:r>
              <a:rPr lang="en-US" dirty="0" err="1"/>
              <a:t>PlugIn</a:t>
            </a:r>
            <a:r>
              <a:rPr lang="en-US" dirty="0"/>
              <a:t> </a:t>
            </a:r>
            <a:r>
              <a:rPr lang="ko-KR" altLang="en-US" dirty="0"/>
              <a:t>개발</a:t>
            </a:r>
            <a:endParaRPr dirty="0"/>
          </a:p>
          <a:p>
            <a:pPr>
              <a:spcAft>
                <a:spcPts val="700"/>
              </a:spcAft>
              <a:defRPr sz="1600" b="0">
                <a:solidFill>
                  <a:srgbClr val="242D38"/>
                </a:solidFill>
                <a:latin typeface="Malgun Gothic"/>
              </a:defRPr>
            </a:pPr>
            <a:r>
              <a:rPr dirty="0" err="1"/>
              <a:t>기업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및 Batch Procedure </a:t>
            </a:r>
            <a:r>
              <a:rPr dirty="0" err="1"/>
              <a:t>개선</a:t>
            </a:r>
            <a:endParaRPr dirty="0"/>
          </a:p>
          <a:p>
            <a:pPr>
              <a:spcAft>
                <a:spcPts val="700"/>
              </a:spcAft>
              <a:defRPr sz="1600" b="0">
                <a:solidFill>
                  <a:srgbClr val="242D38"/>
                </a:solidFill>
                <a:latin typeface="Malgun Gothic"/>
              </a:defRPr>
            </a:pPr>
            <a:r>
              <a:rPr dirty="0" err="1"/>
              <a:t>배치</a:t>
            </a:r>
            <a:r>
              <a:rPr dirty="0"/>
              <a:t> </a:t>
            </a:r>
            <a:r>
              <a:rPr dirty="0" err="1"/>
              <a:t>처리시간</a:t>
            </a:r>
            <a:r>
              <a:rPr dirty="0"/>
              <a:t> 약 24h → 2h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420624"/>
          </a:xfrm>
          <a:prstGeom prst="roundRect">
            <a:avLst/>
          </a:prstGeom>
          <a:solidFill>
            <a:srgbClr val="2B56C0"/>
          </a:solidFill>
          <a:ln>
            <a:solidFill>
              <a:srgbClr val="2B5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1879092"/>
            <a:ext cx="330098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95728"/>
            <a:ext cx="3227832" cy="2258568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D38"/>
                </a:solidFill>
                <a:latin typeface="Malgun Gothic"/>
              </a:defRPr>
            </a:pPr>
            <a:r>
              <a:rPr dirty="0" err="1"/>
              <a:t>CubicWave</a:t>
            </a:r>
            <a:endParaRPr dirty="0"/>
          </a:p>
          <a:p>
            <a:pPr>
              <a:spcAft>
                <a:spcPts val="700"/>
              </a:spcAft>
              <a:defRPr sz="1600" b="0">
                <a:solidFill>
                  <a:srgbClr val="242D38"/>
                </a:solidFill>
                <a:latin typeface="Malgun Gothic"/>
              </a:defRPr>
            </a:pPr>
            <a:r>
              <a:rPr dirty="0" err="1"/>
              <a:t>모바일</a:t>
            </a:r>
            <a:r>
              <a:rPr dirty="0"/>
              <a:t> </a:t>
            </a:r>
            <a:r>
              <a:rPr dirty="0" err="1"/>
              <a:t>플랫폼·하드웨어</a:t>
            </a:r>
            <a:r>
              <a:rPr dirty="0"/>
              <a:t> </a:t>
            </a:r>
            <a:r>
              <a:rPr dirty="0" err="1"/>
              <a:t>연동</a:t>
            </a:r>
            <a:endParaRPr dirty="0"/>
          </a:p>
          <a:p>
            <a:pPr>
              <a:spcAft>
                <a:spcPts val="700"/>
              </a:spcAft>
              <a:defRPr sz="1600" b="0">
                <a:solidFill>
                  <a:srgbClr val="242D38"/>
                </a:solidFill>
                <a:latin typeface="Malgun Gothic"/>
              </a:defRPr>
            </a:pPr>
            <a:r>
              <a:rPr dirty="0"/>
              <a:t>Bluetooth / </a:t>
            </a:r>
            <a:r>
              <a:rPr dirty="0" err="1"/>
              <a:t>멀티미디어</a:t>
            </a:r>
            <a:r>
              <a:rPr dirty="0"/>
              <a:t> / </a:t>
            </a:r>
            <a:r>
              <a:rPr dirty="0" err="1"/>
              <a:t>인증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52044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20440" cy="420624"/>
          </a:xfrm>
          <a:prstGeom prst="roundRect">
            <a:avLst/>
          </a:prstGeom>
          <a:solidFill>
            <a:srgbClr val="704CA6"/>
          </a:solidFill>
          <a:ln>
            <a:solidFill>
              <a:srgbClr val="70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0727" y="1879092"/>
            <a:ext cx="330098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2395728"/>
            <a:ext cx="3227832" cy="2258568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D38"/>
                </a:solidFill>
                <a:latin typeface="Malgun Gothic"/>
              </a:defRPr>
            </a:pPr>
            <a:r>
              <a:t>TrueMobile</a:t>
            </a:r>
          </a:p>
          <a:p>
            <a:pPr>
              <a:spcAft>
                <a:spcPts val="700"/>
              </a:spcAft>
              <a:defRPr sz="1600" b="0">
                <a:solidFill>
                  <a:srgbClr val="242D38"/>
                </a:solidFill>
                <a:latin typeface="Malgun Gothic"/>
              </a:defRPr>
            </a:pPr>
            <a:r>
              <a:t>중국·홍콩·대만 Localization</a:t>
            </a:r>
          </a:p>
          <a:p>
            <a:pPr>
              <a:spcAft>
                <a:spcPts val="700"/>
              </a:spcAft>
              <a:defRPr sz="1600" b="0">
                <a:solidFill>
                  <a:srgbClr val="242D38"/>
                </a:solidFill>
                <a:latin typeface="Malgun Gothic"/>
              </a:defRPr>
            </a:pPr>
            <a:r>
              <a:t>결함 수정·해외 QA 협업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10912"/>
            <a:ext cx="10515600" cy="777240"/>
          </a:xfrm>
          <a:prstGeom prst="roundRect">
            <a:avLst/>
          </a:prstGeom>
          <a:solidFill>
            <a:srgbClr val="F6F8FC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5212080"/>
            <a:ext cx="10058400" cy="438912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365B"/>
                </a:solidFill>
                <a:latin typeface="Malgun Gothic"/>
              </a:defRPr>
            </a:pPr>
            <a:r>
              <a:t>Performance Optimization  ·  Platform Integration  ·  Verification &amp; Collaboration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8229600" cy="27432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398153"/>
                </a:solidFill>
                <a:latin typeface="Malgun Gothic"/>
              </a:defRPr>
            </a:pPr>
            <a:r>
              <a:t>AI SOFTWARE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0972800" cy="16459"/>
          </a:xfrm>
          <a:prstGeom prst="rect">
            <a:avLst/>
          </a:prstGeom>
          <a:solidFill>
            <a:srgbClr val="398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64240" cy="437043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9365B"/>
                </a:solidFill>
                <a:latin typeface="Malgun Gothic"/>
              </a:defRPr>
            </a:pPr>
            <a:r>
              <a:rPr lang="en-US" dirty="0"/>
              <a:t>06. </a:t>
            </a:r>
            <a:r>
              <a:rPr dirty="0"/>
              <a:t>Technical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353312"/>
            <a:ext cx="10972800" cy="36576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A78"/>
                </a:solidFill>
                <a:latin typeface="Malgun Gothic"/>
              </a:defRPr>
            </a:pPr>
            <a:r>
              <a:t>AI Software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64008" tIns="0" rIns="45720" bIns="0">
            <a:normAutofit fontScale="77500" lnSpcReduction="20000"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5A626E"/>
                </a:solidFill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10698480" cy="1325880"/>
          </a:xfrm>
          <a:prstGeom prst="roundRect">
            <a:avLst/>
          </a:prstGeom>
          <a:solidFill>
            <a:srgbClr val="F6F8FC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76272"/>
            <a:ext cx="10241280" cy="594360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9365B"/>
                </a:solidFill>
                <a:latin typeface="Malgun Gothic"/>
              </a:defRPr>
            </a:pPr>
            <a:r>
              <a:t>모델 구현 · 학습 공통화 · 진단 설계 · 실행환경 분석 · 서비스 아키텍처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2640330" cy="420624"/>
          </a:xfrm>
          <a:prstGeom prst="roundRect">
            <a:avLst/>
          </a:prstGeom>
          <a:solidFill>
            <a:srgbClr val="2B56C0"/>
          </a:solidFill>
          <a:ln>
            <a:solidFill>
              <a:srgbClr val="2B5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753611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2702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Transformer / DNN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Forward / Backward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7570" y="370332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17570" y="3703320"/>
            <a:ext cx="2640330" cy="420624"/>
          </a:xfrm>
          <a:prstGeom prst="roundRect">
            <a:avLst/>
          </a:prstGeom>
          <a:solidFill>
            <a:srgbClr val="398153"/>
          </a:solidFill>
          <a:ln>
            <a:solidFill>
              <a:srgbClr val="398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7298" y="3753611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3874" y="42702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Model-independent Core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Checkpoint /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370332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95060" y="3703320"/>
            <a:ext cx="2640330" cy="420624"/>
          </a:xfrm>
          <a:prstGeom prst="roundRect">
            <a:avLst/>
          </a:prstGeom>
          <a:solidFill>
            <a:srgbClr val="704CA6"/>
          </a:solidFill>
          <a:ln>
            <a:solidFill>
              <a:srgbClr val="70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4788" y="3753611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1364" y="42702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CPU / CUDA / XPU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t>Device Profiling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550" y="3703320"/>
            <a:ext cx="264033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72550" y="3703320"/>
            <a:ext cx="2640330" cy="420624"/>
          </a:xfrm>
          <a:prstGeom prst="roundRect">
            <a:avLst/>
          </a:prstGeom>
          <a:solidFill>
            <a:srgbClr val="C56E2E"/>
          </a:solidFill>
          <a:ln>
            <a:solidFill>
              <a:srgbClr val="C5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82278" y="3753611"/>
            <a:ext cx="2420874" cy="320040"/>
          </a:xfrm>
          <a:prstGeom prst="rect">
            <a:avLst/>
          </a:prstGeom>
          <a:noFill/>
        </p:spPr>
        <p:txBody>
          <a:bodyPr wrap="square" lIns="64008" tIns="0" rIns="45720" bIns="0">
            <a:norm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8854" y="4270248"/>
            <a:ext cx="2347722" cy="978407"/>
          </a:xfrm>
          <a:prstGeom prst="rect">
            <a:avLst/>
          </a:prstGeom>
          <a:noFill/>
        </p:spPr>
        <p:txBody>
          <a:bodyPr wrap="square" lIns="64008" tIns="36576" rIns="45720">
            <a:norm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rPr dirty="0"/>
              <a:t>Java / Spring</a:t>
            </a:r>
          </a:p>
          <a:p>
            <a:pPr>
              <a:spcAft>
                <a:spcPts val="700"/>
              </a:spcAft>
              <a:defRPr sz="1200" b="0">
                <a:solidFill>
                  <a:srgbClr val="242D38"/>
                </a:solidFill>
                <a:latin typeface="Malgun Gothic"/>
              </a:defRPr>
            </a:pPr>
            <a:r>
              <a:rPr dirty="0"/>
              <a:t>Integration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1100</Words>
  <Application>Microsoft Office PowerPoint</Application>
  <PresentationFormat>와이드스크린</PresentationFormat>
  <Paragraphs>298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노미정</cp:lastModifiedBy>
  <cp:revision>60</cp:revision>
  <dcterms:created xsi:type="dcterms:W3CDTF">2013-01-27T09:14:16Z</dcterms:created>
  <dcterms:modified xsi:type="dcterms:W3CDTF">2026-10-29T11:19:32Z</dcterms:modified>
  <cp:category/>
</cp:coreProperties>
</file>
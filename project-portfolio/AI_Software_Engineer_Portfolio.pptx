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68" r:id="rId3"/>
    <p:sldId id="257" r:id="rId4"/>
    <p:sldId id="258" r:id="rId5"/>
    <p:sldId id="259" r:id="rId6"/>
    <p:sldId id="260" r:id="rId7"/>
    <p:sldId id="267" r:id="rId8"/>
    <p:sldId id="269" r:id="rId9"/>
    <p:sldId id="270" r:id="rId10"/>
    <p:sldId id="261" r:id="rId11"/>
    <p:sldId id="262" r:id="rId12"/>
    <p:sldId id="263" r:id="rId13"/>
    <p:sldId id="264" r:id="rId14"/>
    <p:sldId id="265" r:id="rId15"/>
    <p:sldId id="266"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4143" autoAdjust="0"/>
  </p:normalViewPr>
  <p:slideViewPr>
    <p:cSldViewPr snapToGrid="0" snapToObjects="1">
      <p:cViewPr varScale="1">
        <p:scale>
          <a:sx n="40" d="100"/>
          <a:sy n="40" d="100"/>
        </p:scale>
        <p:origin x="1660"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844868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발표의 핵심은 AI 모델 구현 경험을 재사용 가능한 학습·진단 인프라와 서비스 설계까지 연결했다는 점입니다.</a:t>
            </a:r>
          </a:p>
          <a:p/>
          <a:p>
            <a:r>
              <a:t>상세 설명</a:t>
            </a:r>
          </a:p>
          <a:p>
            <a:r>
              <a:t>포트폴리오는 네 영역으로 구성했습니다. Fully Connected DNN에서는 순전파와 역전파를 직접 구현하며 학습 원리를 검증했습니다. Decoder-only SLM에서는 토크나이저부터 Transformer Decoder, 학습과 추론까지 구현했습니다. 이후 SLM 프로젝트에 결합되어 있던 공통 학습 기능을 deep-learning-core로 분리하고, 모델 내부 상태를 확인하는 진단 기능을 추가했습니다. 마지막으로 Spring Boot 기반의 서비스 설계 경험을 통해 모델을 애플리케이션과 연계하는 역량을 설명하겠습니다.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핵심 포인트</a:t>
            </a:r>
          </a:p>
          <a:p>
            <a:r>
              <a:t>이 슬라이드는 프로젝트별 설명 순서와 평가할 기술 요소를 안내합니다.</a:t>
            </a:r>
          </a:p>
          <a:p/>
          <a:p>
            <a:r>
              <a:t>상세 설명</a:t>
            </a:r>
          </a:p>
          <a:p>
            <a:r>
              <a:t>먼저 deep-learning-core의 설계 문제, 모듈 경계, 학습 실행 흐름, 모델 진단 구조, 테스트 결과를 설명합니다. 다음으로 Decoder-only Transformer SLM의 데이터 처리와 모델 구현을 소개하고, Fully Connected DNN을 통해 기울기 계산의 기초를 어떻게 검증했는지 설명합니다. 이어서 Spring Boot 애플리케이션 구조와 이전 소프트웨어 개발 경험을 제시한 뒤, 마지막으로 전체 역량을 정리하겠습니다.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핵심은 네 프로젝트가 독립된 작업이 아니라 모델 내부 구현에서 공통 인프라와 서비스 구조로 확장된 과정이라는 점입니다.</a:t>
            </a:r>
          </a:p>
          <a:p/>
          <a:p>
            <a:r>
              <a:t>상세 설명</a:t>
            </a:r>
          </a:p>
          <a:p>
            <a:r>
              <a:t>DNN 프로젝트에서는 Neuron과 Layer를 직접 만들고 Forward, Backward, Gradient 계산을 검증했습니다. Transformer 프로젝트에서는 이 원리를 Attention과 Decoder 구조로 확장했습니다. 반복적으로 사용되는 학습 및 검증 로직은 deep-learning-core로 분리해 모델별 코드와의 결합을 줄였습니다. Application 영역은 인증, API 통신, 로깅 등 모델을 서비스에 연결할 때 필요한 기반 기술을 다룹니다. 각 프로젝트는 구현 수준과 검증 범위를 구분해 설명하겠습니다.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이 슬라이드에서 설명할 포인트는 SLM에 결합된 공통 학습 코드를 모델 비종속 라이브러리로 분리한 이유입니다.</a:t>
            </a:r>
          </a:p>
          <a:p/>
          <a:p>
            <a:r>
              <a:t>상세 설명</a:t>
            </a:r>
          </a:p>
          <a:p>
            <a:r>
              <a:t>기존 SLM 프로젝트에서도 학습 루프는 모듈화되어 있었지만 토크나이저와 시퀀스 마스킹 같은 언어모델 전용 처리와 공통 기능 사이에 의존성이 남아 있었습니다. 다른 모델에 같은 학습 코드를 적용하려면 모델 고유 로직까지 함께 수정해야 할 수 있다는 점이 문제였습니다. 이를 개선하기 위해 토큰화, 마스킹, 추론은 모델 프로젝트에 유지하고 Training, Evaluation, Device, Checkpoint, Metrics, Diagnostics를 공통 라이브러리의 책임으로 분리했습니다. 설계 경계는 PyTorch의 nn.Module을 중심으로 잡았습니다.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핵심은 모델별 로직과 공통 학습·실행 기능 사이의 책임 경계를 명확히 한 아키텍처입니다.</a:t>
            </a:r>
          </a:p>
          <a:p/>
          <a:p>
            <a:r>
              <a:t>상세 설명</a:t>
            </a:r>
          </a:p>
          <a:p>
            <a:r>
              <a:t>왼쪽 Model Project는 Tokenizer, Vocabulary, Masking, Inference처럼 데이터와 모델의 의미에 종속되는 처리를 담당합니다. Model Boundary에서는 nn.Module을 공통 인터페이스로 사용하고 ModelBuilder와 SequentialModel을 통해 모델 구성을 연결합니다. Training Core는 Batch와 Epoch 단위 실행, Trainer, Loss 및 Metrics 처리를 담당합니다. Control &amp; Runtime에는 Checkpoint, Metrics, DeviceProfiler, Diagnostics를 배치했습니다. 이 분리는 새로운 모델을 도입할 때 학습 제어 코드를 재사용하고 모델별 변경 범위를 줄이기 위한 설계입니다.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이 슬라이드의 핵심은 BatchRunner가 한 배치의 학습 연산을 어떤 순서로 제어하는지입니다.</a:t>
            </a:r>
          </a:p>
          <a:p/>
          <a:p>
            <a:r>
              <a:t>상세 설명</a:t>
            </a:r>
          </a:p>
          <a:p>
            <a:r>
              <a:t>첫 단계에서 입력과 정답을 실행 장치로 옮깁니다. Tensor뿐 아니라 dict, tuple, list처럼 중첩된 자료구조도 형태를 유지한 채 이동하도록 처리했습니다. 학습 단계에서는 optimizer의 gradient를 초기화한 다음 Forward로 예측값을 얻고 Loss를 계산합니다. 이어 Backward로 기울기를 계산하고 optimizer.step()으로 파라미터를 갱신합니다. 평가 단계에서는 정확도 등 지표를 계산하되, 학습과 검증의 실행 목적을 구분합니다. 학습 제어 기능으로 Best Checkpoint 저장·복원과 EarlyStopping을 두었고, Analyzer 및 Profiler는 학습 연산과 별도로 모델 구조와 실행 정보를 확인합니다.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핵심 포인트</a:t>
            </a:r>
          </a:p>
          <a:p>
            <a:r>
              <a:t>이 슬라이드에서 강조할 포인트는 모델의 Loss뿐 아니라 Layer와 Neuron의 Weight 상태까지 분석할 수 있도록 구성했다는 점입니다.</a:t>
            </a:r>
          </a:p>
          <a:p/>
          <a:p>
            <a:r>
              <a:t>상세 설명</a:t>
            </a:r>
          </a:p>
          <a:p>
            <a:r>
              <a:t>SequentialLayerResolver는 중첩된 nn.Sequential을 재귀적으로 탐색하고 Linear·Conv 계열의 주요 Layer와 활성화 함수 같은 Stage를 구분합니다. TensorStatistics는 Mean, Std, L1·L2 Norm, 0의 비율, 양수·음수 비율, NaN·Inf 등의 수치를 계산합니다. WeightDiagnostic는 이 통계와 임계값을 바탕으로 Weight 상태를 판정합니다. Inspector는 Layer Index와 Neuron Index를 사용해 결과를 조회할 수 있게 연결합니다. get_problem_neurons()는 현재 모든 Weight가 0인 출력 뉴런을 찾아 위치와 원인을 반환합니다. 다만 Weight가 모두 0이라는 사실만으로 해당 뉴런의 실제 출력까지 0이라고 단정할 수는 없으며 Bias와 활성화 함수의 영향은 별도로 고려해야 합니다.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핵심 포인트</a:t>
            </a:r>
          </a:p>
          <a:p>
            <a:r>
              <a:t>핵심은 Layer 탐색, Inspector 선택, 뉴런 분석, 진단 판정을 서로 다른 컴포넌트로 분리한 구조입니다.</a:t>
            </a:r>
          </a:p>
          <a:p/>
          <a:p>
            <a:r>
              <a:t>상세 설명</a:t>
            </a:r>
          </a:p>
          <a:p>
            <a:r>
              <a:t>첫 번째 Resolve 단계에서 SequentialLayerResolver가 모델 구조를 해석하고 LayerDefinition으로 정리합니다. 두 번째 Register 단계에서는 LayerInspectorFactory가 모듈 유형과 supports() 결과를 확인하고 LayerInspectorRegistry에 적합한 Inspector를 등록합니다. 세 번째 Inspect 단계에서 SequentialLayerInspector가 Layer와 뉴런 단위 요청을 조정하고 OutputWeightInspector가 선택한 출력 뉴런의 Weight를 조회합니다. 마지막 Diagnose 단계에서는 TensorStatistics가 수치를 계산하고 WeightDiagnostic가 진단 결과를 생성합니다. 이처럼 책임을 분리하면 새 Inspector를 추가할 때 모델 탐색 로직을 함께 수정해야 하는 범위를 줄일 수 있습니다.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핵심 포인트</a:t>
            </a:r>
          </a:p>
          <a:p>
            <a:r>
              <a:t>이 슬라이드의 핵심은 Transformer 구조로부터 메모리 요구량과 연산량을 추정하고 실제 성능 측정과 구분한다는 점입니다.</a:t>
            </a:r>
          </a:p>
          <a:p/>
          <a:p>
            <a:r>
              <a:t>상세 설명</a:t>
            </a:r>
          </a:p>
          <a:p>
            <a:r>
              <a:t>TransformerModelAnalyzer는 Vocabulary, Embedding 크기, Head 수, Head Dimension, Layer 수 등 구조 정보를 바탕으로 주요 Tensor의 메모리 사용량을 추정합니다. 예를 들어 Attention Score Tensor는 일반적인 전체 Attention 계산에서 Batch Size 곱하기 Head 수 곱하기 Sequence Length의 제곱에 비례합니다. 여기에 원소당 Byte 수를 곱하면 저장 공간의 근삿값을 얻을 수 있습니다. Attention과 Output Projection의 연산량을 FLOPs로 추정하고, FLOPs를 예상 Memory Traffic으로 나누어 Arithmetic Intensity를 계산합니다. Bandwidth Utilization 역시 가정된 대역폭과 반복 처리량을 사용한 추정값입니다. 실제 장치의 실행 시간이나 대역폭을 직접 측정한 결과로 해석해서는 안 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이 슬라이드에서 제시할 포인트는 구현한 주요 모듈을 pytest 단위 테스트로 검증했다는 사실입니다.</a:t>
            </a:r>
          </a:p>
          <a:p/>
          <a:p>
            <a:r>
              <a:t>상세 설명</a:t>
            </a:r>
          </a:p>
          <a:p>
            <a:r>
              <a:t>제시된 2026년 10월 28일 실행 로그 기준으로 240개 테스트가 통과했고 실패는 0건이며 실행 시간은 11.27초입니다. 테스트 대상에는 ModelAnalyzer와 TransformerModelAnalyzer, Layer Resolver, Inspector Factory, Weight·Neuron Inspection, Training, Checkpoint, Profiling 등이 포함됩니다. 이 수치는 해당 시점의 코드와 테스트 환경에서 확인한 결과입니다. 단위 테스트 통과가 실제 운영 환경의 안정성이나 하드웨어 성능까지 보증하는 것은 아니므로, 기능 검증과 성능 검증의 범위는 구분해서 설명하겠습니다.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이 슬라이드의 핵심은 Decoder-only Transformer를 데이터 처리부터 학습과 실행환경 검토까지 직접 구현했다는 점입니다.</a:t>
            </a:r>
          </a:p>
          <a:p/>
          <a:p>
            <a:r>
              <a:t>상세 설명</a:t>
            </a:r>
          </a:p>
          <a:p>
            <a:r>
              <a:t>SentencePiece를 이용해 텍스트 토크나이저를 학습하고 입력 문장을 Token ID로 변환했습니다. 모델은 Embedding, Masked Self-Attention, Decoder Block을 중심으로 구성했습니다. Causal Mask는 현재 위치가 미래 토큰을 참조하지 못하게 제한하며, 학습에서는 다음 토큰 예측의 Loss를 계산하고 역전파로 파라미터를 갱신합니다. 검증 단계에서는 학습 데이터와 구분된 데이터로 결과를 확인했습니다. 실행환경 측면에서는 CPU와 Intel XPU 사용 가능 여부를 점검하고 Device Profiling 및 Batch Size 영향을 분석했습니다. XPU에서 실제 가속이 확인되었다는 의미로 과장하지 않고, 확인한 환경 제약을 구분하겠습니다. 이 프로젝트의 공통 학습 로직이 이후 deep-learning-core 분리의 출발점이 되었습니다.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핵심은 딥러닝 프레임워크의 자동 미분에만 의존하지 않고 순전파와 역전파의 계산 구조를 직접 구현해 검증했다는 점입니다.</a:t>
            </a:r>
          </a:p>
          <a:p/>
          <a:p>
            <a:r>
              <a:t>상세 설명</a:t>
            </a:r>
          </a:p>
          <a:p>
            <a:r>
              <a:t>Neuron과 Layer를 구성하고 Weight, Bias, Activation Function을 이용한 Forward Propagation을 구현했습니다. 역전파에서는 Chain Rule을 사용해 각 레이어의 Gradient를 계산하고 이를 바탕으로 Weight와 Bias를 갱신했습니다. 검증에서는 입력과 파라미터가 주어진 경우 수학적으로 기대되는 출력과 Gradient를 단위 테스트 결과와 비교했습니다. 이 작업은 이후 Transformer 학습 과정에서 Loss, Gradient, Optimizer의 역할을 구분하고 문제를 추적하는 기반이 되었습니다.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이 슬라이드의 포인트는 AI 모델 자체가 아니라 모델을 서비스와 연결할 때 필요한 재사용 가능한 애플리케이션 구조입니다.</a:t>
            </a:r>
          </a:p>
          <a:p/>
          <a:p>
            <a:r>
              <a:t>상세 설명</a:t>
            </a:r>
          </a:p>
          <a:p>
            <a:r>
              <a:t>Spring Boot에서는 Controller와 Service의 책임을 분리하고 Config와 AOP를 이용해 공통 관심사를 관리하도록 설계했습니다. SecurityFilterChain과 Stateless 구성, BCrypt 기반 비밀번호 처리 등 인증·보안 관련 요소를 다뤘습니다. 외부 연동에는 RestTemplate과 WebClient, 연결 및 Timeout 설정을 고려했고, Validation, 예외 처리, Logging, API Test도 구조에 포함했습니다. 이 경험은 향후 AI 추론 API를 연결할 때 필요한 기반이지만, 이 프로젝트 자체를 완성된 AI 추론 서비스 구현 실적으로 설명하지는 않겠습니다.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이 슬라이드에서 강조할 포인트는 기존 소프트웨어 개발 경험이 AI 프로젝트의 성능 분석, 플랫폼 연동, 품질 검증 방식으로 이어진다는 점입니다.</a:t>
            </a:r>
          </a:p>
          <a:p/>
          <a:p>
            <a:r>
              <a:t>상세 설명</a:t>
            </a:r>
          </a:p>
          <a:p>
            <a:r>
              <a:t>Samsung SDS 관련 업무에서는 Java 기반 RCP Plugin과 기업 시스템 개발을 수행했고, KPI 집계 Batch의 처리 시간을 약 24시간에서 2시간으로 단축한 경험이 있습니다. CubicWave에서는 모바일 플랫폼과 하드웨어 연동, Bluetooth·멀티미디어·인증 관련 업무를 수행했습니다. TrueMobile에서는 중국·홍콩·대만 시장 대상 Localization, 결함 수정, 해외 QA 협업을 경험했습니다. 이러한 업무를 통해 기능 구현뿐 아니라 성능 병목 파악, 환경별 차이 분석, 재현 가능한 검증의 중요성을 익혔습니다.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ko-KR" altLang="en-US"/>
          </a:p>
        </p:txBody>
      </p:sp>
      <p:sp>
        <p:nvSpPr>
          <p:cNvPr id="3" name="Notes Placeholder 2"/>
          <p:cNvSpPr>
            <a:spLocks noGrp="1"/>
          </p:cNvSpPr>
          <p:nvPr>
            <p:ph type="body" sz="quarter" idx="3"/>
          </p:nvPr>
        </p:nvSpPr>
        <p:spPr/>
        <p:txBody>
          <a:bodyPr/>
          <a:lstStyle/>
          <a:p>
            <a:r>
              <a:t>핵심 포인트</a:t>
            </a:r>
          </a:p>
          <a:p>
            <a:r>
              <a:t>마지막으로 전달할 핵심은 모델 구현, 학습 공통화, 실행환경 분석, 애플리케이션 설계를 연결할 수 있는 AI Software Engineer 역량입니다.</a:t>
            </a:r>
          </a:p>
          <a:p/>
          <a:p>
            <a:r>
              <a:t>상세 설명</a:t>
            </a:r>
          </a:p>
          <a:p>
            <a:r>
              <a:t>Model 영역에서는 Fully Connected DNN의 Forward·Backward와 Decoder-only Transformer의 구성요소를 직접 구현했습니다. Training 영역에서는 모델 비종속 학습 루프와 Checkpoint, Metrics, Diagnostics를 공통화했습니다. Runtime 영역에서는 CPU와 XPU 환경을 검토하고 Device Profiling과 모델 구조 기반 자원 추정을 다뤘습니다. Application 영역에서는 Java와 Spring Boot 기반 서비스 구조 및 외부 시스템 연동 경험을 보유하고 있습니다. 구현한 기능, 추정한 지표, 실제 측정한 결과를 구분해 제시한다는 점도 이 포트폴리오의 중요한 원칙입니다.</a:t>
            </a:r>
          </a:p>
        </p:txBody>
      </p:sp>
      <p:sp>
        <p:nvSpPr>
          <p:cNvPr id="4" name="Slide Number Placeholder 3"/>
          <p:cNvSpPr>
            <a:spLocks noGrp="1"/>
          </p:cNvSpPr>
          <p:nvPr>
            <p:ph type="sldNum" sz="quarter" idx="5"/>
          </p:nvPr>
        </p:nvSpPr>
        <p:spPr/>
        <p:txBody>
          <a:bodyPr/>
          <a:lstStyle/>
          <a:p>
            <a:endParaRPr lang="ko-KR"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hyperlink" Target="https://github.com/withlionbuddha"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rPr dirty="0"/>
              <a:t>TECHNICAL PORTFOLIO</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621792"/>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t>AI PROJECT PORTFOLIO</a:t>
            </a: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700"/>
              </a:spcAft>
              <a:defRPr sz="1100" b="0">
                <a:solidFill>
                  <a:srgbClr val="5F6A78"/>
                </a:solidFill>
                <a:latin typeface="Malgun Gothic"/>
              </a:defRPr>
            </a:pPr>
            <a:r>
              <a:rPr lang="en-US" dirty="0"/>
              <a:t>Roh </a:t>
            </a:r>
            <a:r>
              <a:rPr dirty="0"/>
              <a:t>Mi</a:t>
            </a:r>
            <a:r>
              <a:rPr lang="en-US" dirty="0"/>
              <a:t> </a:t>
            </a:r>
            <a:r>
              <a:rPr dirty="0"/>
              <a:t>Jeong</a:t>
            </a:r>
            <a:r>
              <a:rPr lang="en-US" dirty="0"/>
              <a:t> </a:t>
            </a:r>
            <a:r>
              <a:rPr dirty="0"/>
              <a:t>| AI Software Engineer  |  GitHub: </a:t>
            </a:r>
            <a:r>
              <a:rPr dirty="0" err="1">
                <a:hlinkClick r:id="rId3"/>
              </a:rPr>
              <a:t>withlionbuddha</a:t>
            </a:r>
            <a:endParaRPr dirty="0"/>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01</a:t>
            </a:r>
          </a:p>
        </p:txBody>
      </p:sp>
      <p:sp>
        <p:nvSpPr>
          <p:cNvPr id="7" name="Rounded Rectangle 6"/>
          <p:cNvSpPr/>
          <p:nvPr/>
        </p:nvSpPr>
        <p:spPr>
          <a:xfrm>
            <a:off x="685800" y="1920240"/>
            <a:ext cx="10789920" cy="1078992"/>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2121408"/>
            <a:ext cx="10241280" cy="758952"/>
          </a:xfrm>
          <a:prstGeom prst="rect">
            <a:avLst/>
          </a:prstGeom>
          <a:noFill/>
        </p:spPr>
        <p:txBody>
          <a:bodyPr wrap="square" lIns="64008" tIns="36576" rIns="45720">
            <a:normAutofit lnSpcReduction="10000"/>
          </a:bodyPr>
          <a:lstStyle/>
          <a:p>
            <a:pPr>
              <a:spcAft>
                <a:spcPts val="700"/>
              </a:spcAft>
              <a:defRPr sz="2000" b="1">
                <a:solidFill>
                  <a:srgbClr val="19365B"/>
                </a:solidFill>
                <a:latin typeface="Malgun Gothic"/>
              </a:defRPr>
            </a:pPr>
            <a:r>
              <a:t>11년 4개월 SW 프로젝트 경험을 기반으로</a:t>
            </a:r>
          </a:p>
          <a:p>
            <a:pPr>
              <a:spcAft>
                <a:spcPts val="700"/>
              </a:spcAft>
              <a:defRPr sz="2000" b="1">
                <a:solidFill>
                  <a:srgbClr val="19365B"/>
                </a:solidFill>
                <a:latin typeface="Malgun Gothic"/>
              </a:defRPr>
            </a:pPr>
            <a:r>
              <a:t>AI 모델 구현 → 학습 인프라 → 실행환경 → 서비스 아키텍처로 확장</a:t>
            </a:r>
          </a:p>
        </p:txBody>
      </p:sp>
      <p:sp>
        <p:nvSpPr>
          <p:cNvPr id="9" name="Rounded Rectangle 8"/>
          <p:cNvSpPr/>
          <p:nvPr/>
        </p:nvSpPr>
        <p:spPr>
          <a:xfrm>
            <a:off x="640080" y="37033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40080" y="3703320"/>
            <a:ext cx="264033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3753611"/>
            <a:ext cx="2420874" cy="283154"/>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rPr dirty="0"/>
              <a:t>01  TRAINING</a:t>
            </a:r>
            <a:r>
              <a:rPr lang="en-US" dirty="0"/>
              <a:t> Core</a:t>
            </a:r>
            <a:endParaRPr dirty="0"/>
          </a:p>
        </p:txBody>
      </p:sp>
      <p:sp>
        <p:nvSpPr>
          <p:cNvPr id="12" name="TextBox 11"/>
          <p:cNvSpPr txBox="1"/>
          <p:nvPr/>
        </p:nvSpPr>
        <p:spPr>
          <a:xfrm>
            <a:off x="786384" y="42702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deep-learning-core</a:t>
            </a:r>
          </a:p>
          <a:p>
            <a:pPr>
              <a:spcAft>
                <a:spcPts val="700"/>
              </a:spcAft>
              <a:defRPr sz="1200" b="0">
                <a:solidFill>
                  <a:srgbClr val="242D38"/>
                </a:solidFill>
                <a:latin typeface="Malgun Gothic"/>
              </a:defRPr>
            </a:pPr>
            <a:r>
              <a:t>모델 비종속 학습 인프라</a:t>
            </a:r>
          </a:p>
        </p:txBody>
      </p:sp>
      <p:sp>
        <p:nvSpPr>
          <p:cNvPr id="13" name="Rounded Rectangle 12"/>
          <p:cNvSpPr/>
          <p:nvPr/>
        </p:nvSpPr>
        <p:spPr>
          <a:xfrm>
            <a:off x="3417570" y="37033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17570" y="3703320"/>
            <a:ext cx="264033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27298" y="3753611"/>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02  MODEL</a:t>
            </a:r>
          </a:p>
        </p:txBody>
      </p:sp>
      <p:sp>
        <p:nvSpPr>
          <p:cNvPr id="16" name="TextBox 15"/>
          <p:cNvSpPr txBox="1"/>
          <p:nvPr/>
        </p:nvSpPr>
        <p:spPr>
          <a:xfrm>
            <a:off x="3563874" y="42702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Decoder-only SLM</a:t>
            </a:r>
          </a:p>
          <a:p>
            <a:pPr>
              <a:spcAft>
                <a:spcPts val="700"/>
              </a:spcAft>
              <a:defRPr sz="1200" b="0">
                <a:solidFill>
                  <a:srgbClr val="242D38"/>
                </a:solidFill>
                <a:latin typeface="Malgun Gothic"/>
              </a:defRPr>
            </a:pPr>
            <a:r>
              <a:t>Transformer 구현</a:t>
            </a:r>
          </a:p>
        </p:txBody>
      </p:sp>
      <p:sp>
        <p:nvSpPr>
          <p:cNvPr id="17" name="Rounded Rectangle 16"/>
          <p:cNvSpPr/>
          <p:nvPr/>
        </p:nvSpPr>
        <p:spPr>
          <a:xfrm>
            <a:off x="6195060" y="37033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195060" y="3703320"/>
            <a:ext cx="264033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04788" y="3753611"/>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03  FUNDAMENTALS</a:t>
            </a:r>
          </a:p>
        </p:txBody>
      </p:sp>
      <p:sp>
        <p:nvSpPr>
          <p:cNvPr id="20" name="TextBox 19"/>
          <p:cNvSpPr txBox="1"/>
          <p:nvPr/>
        </p:nvSpPr>
        <p:spPr>
          <a:xfrm>
            <a:off x="6341364" y="42702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Fully Connected DNN</a:t>
            </a:r>
          </a:p>
          <a:p>
            <a:pPr>
              <a:spcAft>
                <a:spcPts val="700"/>
              </a:spcAft>
              <a:defRPr sz="1200" b="0">
                <a:solidFill>
                  <a:srgbClr val="242D38"/>
                </a:solidFill>
                <a:latin typeface="Malgun Gothic"/>
              </a:defRPr>
            </a:pPr>
            <a:r>
              <a:t>미분·역전파 검증</a:t>
            </a:r>
          </a:p>
        </p:txBody>
      </p:sp>
      <p:sp>
        <p:nvSpPr>
          <p:cNvPr id="21" name="Rounded Rectangle 20"/>
          <p:cNvSpPr/>
          <p:nvPr/>
        </p:nvSpPr>
        <p:spPr>
          <a:xfrm>
            <a:off x="8972550" y="37033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8972550" y="3703320"/>
            <a:ext cx="264033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082278" y="3753611"/>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04  APPLICATION</a:t>
            </a:r>
          </a:p>
        </p:txBody>
      </p:sp>
      <p:sp>
        <p:nvSpPr>
          <p:cNvPr id="24" name="TextBox 23"/>
          <p:cNvSpPr txBox="1"/>
          <p:nvPr/>
        </p:nvSpPr>
        <p:spPr>
          <a:xfrm>
            <a:off x="9118854" y="42702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Spring Boot</a:t>
            </a:r>
          </a:p>
          <a:p>
            <a:pPr>
              <a:spcAft>
                <a:spcPts val="700"/>
              </a:spcAft>
              <a:defRPr sz="1200" b="0">
                <a:solidFill>
                  <a:srgbClr val="242D38"/>
                </a:solidFill>
                <a:latin typeface="Malgun Gothic"/>
              </a:defRPr>
            </a:pPr>
            <a:r>
              <a:t>재사용 서비스 구조</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21792" y="438912"/>
            <a:ext cx="10972800" cy="15544"/>
          </a:xfrm>
          <a:prstGeom prst="rect">
            <a:avLst/>
          </a:prstGeom>
          <a:solidFill>
            <a:srgbClr val="3781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01168"/>
            <a:ext cx="5486400" cy="201168"/>
          </a:xfrm>
          <a:prstGeom prst="rect">
            <a:avLst/>
          </a:prstGeom>
          <a:noFill/>
        </p:spPr>
        <p:txBody>
          <a:bodyPr wrap="square" lIns="27432" tIns="0" rIns="27432" bIns="0">
            <a:normAutofit/>
          </a:bodyPr>
          <a:lstStyle/>
          <a:p>
            <a:pPr>
              <a:defRPr sz="1100" b="0">
                <a:solidFill>
                  <a:srgbClr val="378158"/>
                </a:solidFill>
                <a:latin typeface="Malgun Gothic"/>
              </a:defRPr>
            </a:pPr>
            <a:r>
              <a:t>AI SOFTWARE ENGINEERING</a:t>
            </a:r>
          </a:p>
        </p:txBody>
      </p:sp>
      <p:sp>
        <p:nvSpPr>
          <p:cNvPr id="4" name="TextBox 3"/>
          <p:cNvSpPr txBox="1"/>
          <p:nvPr/>
        </p:nvSpPr>
        <p:spPr>
          <a:xfrm>
            <a:off x="658368" y="685800"/>
            <a:ext cx="10058400" cy="512064"/>
          </a:xfrm>
          <a:prstGeom prst="rect">
            <a:avLst/>
          </a:prstGeom>
          <a:noFill/>
        </p:spPr>
        <p:txBody>
          <a:bodyPr wrap="square" lIns="27432" tIns="0" rIns="27432" bIns="0">
            <a:normAutofit/>
          </a:bodyPr>
          <a:lstStyle/>
          <a:p>
            <a:pPr>
              <a:defRPr sz="2900" b="1">
                <a:solidFill>
                  <a:srgbClr val="1D395B"/>
                </a:solidFill>
                <a:latin typeface="Malgun Gothic"/>
              </a:defRPr>
            </a:pPr>
            <a:r>
              <a:t>CONTENTS  |  목차</a:t>
            </a:r>
          </a:p>
        </p:txBody>
      </p:sp>
      <p:sp>
        <p:nvSpPr>
          <p:cNvPr id="5" name="TextBox 4"/>
          <p:cNvSpPr txBox="1"/>
          <p:nvPr/>
        </p:nvSpPr>
        <p:spPr>
          <a:xfrm>
            <a:off x="676656" y="1298448"/>
            <a:ext cx="10058400" cy="320040"/>
          </a:xfrm>
          <a:prstGeom prst="rect">
            <a:avLst/>
          </a:prstGeom>
          <a:noFill/>
        </p:spPr>
        <p:txBody>
          <a:bodyPr wrap="square" lIns="27432" tIns="0" rIns="27432" bIns="0">
            <a:normAutofit/>
          </a:bodyPr>
          <a:lstStyle/>
          <a:p>
            <a:pPr>
              <a:defRPr sz="1300" b="0">
                <a:solidFill>
                  <a:srgbClr val="6B7480"/>
                </a:solidFill>
                <a:latin typeface="Malgun Gothic"/>
              </a:defRPr>
            </a:pPr>
            <a:r>
              <a:t>기술평가자를 위한 프로젝트별 문제 정의 · 구현 범위 · 검증 근거 · 개발 현황</a:t>
            </a:r>
          </a:p>
        </p:txBody>
      </p:sp>
      <p:sp>
        <p:nvSpPr>
          <p:cNvPr id="6" name="Rounded Rectangle 5"/>
          <p:cNvSpPr/>
          <p:nvPr/>
        </p:nvSpPr>
        <p:spPr>
          <a:xfrm>
            <a:off x="658368" y="1792224"/>
            <a:ext cx="10881360" cy="585216"/>
          </a:xfrm>
          <a:prstGeom prst="roundRect">
            <a:avLst/>
          </a:prstGeom>
          <a:solidFill>
            <a:srgbClr val="F7F8FB"/>
          </a:solidFill>
          <a:ln>
            <a:solidFill>
              <a:srgbClr val="E0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13816" y="1892807"/>
            <a:ext cx="502920" cy="384048"/>
          </a:xfrm>
          <a:prstGeom prst="roundRect">
            <a:avLst/>
          </a:prstGeom>
          <a:solidFill>
            <a:srgbClr val="2E5BBB"/>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defRPr sz="1500" b="1">
                <a:solidFill>
                  <a:srgbClr val="FFFFFF"/>
                </a:solidFill>
              </a:defRPr>
            </a:pPr>
            <a:r>
              <a:t>01</a:t>
            </a:r>
          </a:p>
        </p:txBody>
      </p:sp>
      <p:sp>
        <p:nvSpPr>
          <p:cNvPr id="8" name="TextBox 7"/>
          <p:cNvSpPr txBox="1"/>
          <p:nvPr/>
        </p:nvSpPr>
        <p:spPr>
          <a:xfrm>
            <a:off x="1517904" y="1865376"/>
            <a:ext cx="7315200" cy="228600"/>
          </a:xfrm>
          <a:prstGeom prst="rect">
            <a:avLst/>
          </a:prstGeom>
          <a:noFill/>
        </p:spPr>
        <p:txBody>
          <a:bodyPr wrap="square" lIns="27432" tIns="0" rIns="27432" bIns="0">
            <a:normAutofit fontScale="92500" lnSpcReduction="10000"/>
          </a:bodyPr>
          <a:lstStyle/>
          <a:p>
            <a:pPr>
              <a:defRPr sz="1700" b="1">
                <a:solidFill>
                  <a:srgbClr val="1D395B"/>
                </a:solidFill>
                <a:latin typeface="Malgun Gothic"/>
              </a:defRPr>
            </a:pPr>
            <a:r>
              <a:t>deep-learning-core</a:t>
            </a:r>
          </a:p>
        </p:txBody>
      </p:sp>
      <p:sp>
        <p:nvSpPr>
          <p:cNvPr id="9" name="TextBox 8"/>
          <p:cNvSpPr txBox="1"/>
          <p:nvPr/>
        </p:nvSpPr>
        <p:spPr>
          <a:xfrm>
            <a:off x="1527048" y="2130552"/>
            <a:ext cx="9052560" cy="192024"/>
          </a:xfrm>
          <a:prstGeom prst="rect">
            <a:avLst/>
          </a:prstGeom>
          <a:noFill/>
        </p:spPr>
        <p:txBody>
          <a:bodyPr wrap="square" lIns="27432" tIns="0" rIns="27432" bIns="0">
            <a:normAutofit/>
          </a:bodyPr>
          <a:lstStyle/>
          <a:p>
            <a:pPr>
              <a:defRPr sz="1000" b="0">
                <a:solidFill>
                  <a:srgbClr val="6B7480"/>
                </a:solidFill>
                <a:latin typeface="Malgun Gothic"/>
              </a:defRPr>
            </a:pPr>
            <a:r>
              <a:t>모델 비종속 학습 인프라 · Training Architecture · Model Diagnostics</a:t>
            </a:r>
          </a:p>
        </p:txBody>
      </p:sp>
      <p:sp>
        <p:nvSpPr>
          <p:cNvPr id="10" name="TextBox 9"/>
          <p:cNvSpPr txBox="1"/>
          <p:nvPr/>
        </p:nvSpPr>
        <p:spPr>
          <a:xfrm>
            <a:off x="10744200" y="1975104"/>
            <a:ext cx="603504" cy="219456"/>
          </a:xfrm>
          <a:prstGeom prst="rect">
            <a:avLst/>
          </a:prstGeom>
          <a:noFill/>
        </p:spPr>
        <p:txBody>
          <a:bodyPr wrap="square" lIns="27432" tIns="0" rIns="27432" bIns="0">
            <a:normAutofit/>
          </a:bodyPr>
          <a:lstStyle/>
          <a:p>
            <a:pPr>
              <a:spcAft>
                <a:spcPts val="400"/>
              </a:spcAft>
            </a:pPr>
            <a:r>
              <a:rPr sz="1200" b="1">
                <a:solidFill>
                  <a:srgbClr val="1D3759"/>
                </a:solidFill>
              </a:rPr>
              <a:t>04–10</a:t>
            </a:r>
          </a:p>
        </p:txBody>
      </p:sp>
      <p:sp>
        <p:nvSpPr>
          <p:cNvPr id="11" name="Rounded Rectangle 10"/>
          <p:cNvSpPr/>
          <p:nvPr/>
        </p:nvSpPr>
        <p:spPr>
          <a:xfrm>
            <a:off x="658368" y="2496312"/>
            <a:ext cx="10881360" cy="585216"/>
          </a:xfrm>
          <a:prstGeom prst="roundRect">
            <a:avLst/>
          </a:prstGeom>
          <a:solidFill>
            <a:srgbClr val="F7F8FB"/>
          </a:solidFill>
          <a:ln>
            <a:solidFill>
              <a:srgbClr val="E0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13816" y="2596896"/>
            <a:ext cx="502920" cy="384048"/>
          </a:xfrm>
          <a:prstGeom prst="roundRect">
            <a:avLst/>
          </a:prstGeom>
          <a:solidFill>
            <a:srgbClr val="378158"/>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defRPr sz="1500" b="1">
                <a:solidFill>
                  <a:srgbClr val="FFFFFF"/>
                </a:solidFill>
              </a:defRPr>
            </a:pPr>
            <a:r>
              <a:t>02</a:t>
            </a:r>
          </a:p>
        </p:txBody>
      </p:sp>
      <p:sp>
        <p:nvSpPr>
          <p:cNvPr id="13" name="TextBox 12"/>
          <p:cNvSpPr txBox="1"/>
          <p:nvPr/>
        </p:nvSpPr>
        <p:spPr>
          <a:xfrm>
            <a:off x="1517904" y="2569464"/>
            <a:ext cx="7315200" cy="228600"/>
          </a:xfrm>
          <a:prstGeom prst="rect">
            <a:avLst/>
          </a:prstGeom>
          <a:noFill/>
        </p:spPr>
        <p:txBody>
          <a:bodyPr wrap="square" lIns="27432" tIns="0" rIns="27432" bIns="0">
            <a:normAutofit fontScale="92500" lnSpcReduction="10000"/>
          </a:bodyPr>
          <a:lstStyle/>
          <a:p>
            <a:pPr>
              <a:defRPr sz="1700" b="1">
                <a:solidFill>
                  <a:srgbClr val="1D395B"/>
                </a:solidFill>
                <a:latin typeface="Malgun Gothic"/>
              </a:defRPr>
            </a:pPr>
            <a:r>
              <a:t>Decoder-only Transformer SLM</a:t>
            </a:r>
          </a:p>
        </p:txBody>
      </p:sp>
      <p:sp>
        <p:nvSpPr>
          <p:cNvPr id="14" name="TextBox 13"/>
          <p:cNvSpPr txBox="1"/>
          <p:nvPr/>
        </p:nvSpPr>
        <p:spPr>
          <a:xfrm>
            <a:off x="1527048" y="2834640"/>
            <a:ext cx="9052560" cy="192024"/>
          </a:xfrm>
          <a:prstGeom prst="rect">
            <a:avLst/>
          </a:prstGeom>
          <a:noFill/>
        </p:spPr>
        <p:txBody>
          <a:bodyPr wrap="square" lIns="27432" tIns="0" rIns="27432" bIns="0">
            <a:normAutofit/>
          </a:bodyPr>
          <a:lstStyle/>
          <a:p>
            <a:pPr>
              <a:defRPr sz="1000" b="0">
                <a:solidFill>
                  <a:srgbClr val="6B7480"/>
                </a:solidFill>
                <a:latin typeface="Malgun Gothic"/>
              </a:defRPr>
            </a:pPr>
            <a:r>
              <a:t>Tokenizer · Decoder 구현 · 학습 및 Intel XPU 분석</a:t>
            </a:r>
          </a:p>
        </p:txBody>
      </p:sp>
      <p:sp>
        <p:nvSpPr>
          <p:cNvPr id="15" name="TextBox 14"/>
          <p:cNvSpPr txBox="1"/>
          <p:nvPr/>
        </p:nvSpPr>
        <p:spPr>
          <a:xfrm>
            <a:off x="10744200" y="2679192"/>
            <a:ext cx="603504" cy="219456"/>
          </a:xfrm>
          <a:prstGeom prst="rect">
            <a:avLst/>
          </a:prstGeom>
          <a:noFill/>
        </p:spPr>
        <p:txBody>
          <a:bodyPr wrap="square" lIns="27432" tIns="0" rIns="27432" bIns="0">
            <a:normAutofit fontScale="92500" lnSpcReduction="20000"/>
          </a:bodyPr>
          <a:lstStyle/>
          <a:p>
            <a:pPr>
              <a:spcAft>
                <a:spcPts val="400"/>
              </a:spcAft>
            </a:pPr>
            <a:r>
              <a:rPr sz="1200" b="1">
                <a:solidFill>
                  <a:srgbClr val="1D3759"/>
                </a:solidFill>
              </a:rPr>
              <a:t>11</a:t>
            </a:r>
          </a:p>
        </p:txBody>
      </p:sp>
      <p:sp>
        <p:nvSpPr>
          <p:cNvPr id="16" name="Rounded Rectangle 15"/>
          <p:cNvSpPr/>
          <p:nvPr/>
        </p:nvSpPr>
        <p:spPr>
          <a:xfrm>
            <a:off x="658368" y="3200400"/>
            <a:ext cx="10881360" cy="585216"/>
          </a:xfrm>
          <a:prstGeom prst="roundRect">
            <a:avLst/>
          </a:prstGeom>
          <a:solidFill>
            <a:srgbClr val="F7F8FB"/>
          </a:solidFill>
          <a:ln>
            <a:solidFill>
              <a:srgbClr val="E0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13816" y="3300984"/>
            <a:ext cx="502920" cy="384048"/>
          </a:xfrm>
          <a:prstGeom prst="roundRect">
            <a:avLst/>
          </a:prstGeom>
          <a:solidFill>
            <a:srgbClr val="714EA1"/>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defRPr sz="1500" b="1">
                <a:solidFill>
                  <a:srgbClr val="FFFFFF"/>
                </a:solidFill>
              </a:defRPr>
            </a:pPr>
            <a:r>
              <a:t>03</a:t>
            </a:r>
          </a:p>
        </p:txBody>
      </p:sp>
      <p:sp>
        <p:nvSpPr>
          <p:cNvPr id="18" name="TextBox 17"/>
          <p:cNvSpPr txBox="1"/>
          <p:nvPr/>
        </p:nvSpPr>
        <p:spPr>
          <a:xfrm>
            <a:off x="1517904" y="3273552"/>
            <a:ext cx="7315200" cy="228600"/>
          </a:xfrm>
          <a:prstGeom prst="rect">
            <a:avLst/>
          </a:prstGeom>
          <a:noFill/>
        </p:spPr>
        <p:txBody>
          <a:bodyPr wrap="square" lIns="27432" tIns="0" rIns="27432" bIns="0">
            <a:normAutofit fontScale="92500" lnSpcReduction="10000"/>
          </a:bodyPr>
          <a:lstStyle/>
          <a:p>
            <a:pPr>
              <a:defRPr sz="1700" b="1">
                <a:solidFill>
                  <a:srgbClr val="1D395B"/>
                </a:solidFill>
                <a:latin typeface="Malgun Gothic"/>
              </a:defRPr>
            </a:pPr>
            <a:r>
              <a:t>Fully Connected DNN</a:t>
            </a:r>
          </a:p>
        </p:txBody>
      </p:sp>
      <p:sp>
        <p:nvSpPr>
          <p:cNvPr id="19" name="TextBox 18"/>
          <p:cNvSpPr txBox="1"/>
          <p:nvPr/>
        </p:nvSpPr>
        <p:spPr>
          <a:xfrm>
            <a:off x="1527048" y="3538728"/>
            <a:ext cx="9052560" cy="192024"/>
          </a:xfrm>
          <a:prstGeom prst="rect">
            <a:avLst/>
          </a:prstGeom>
          <a:noFill/>
        </p:spPr>
        <p:txBody>
          <a:bodyPr wrap="square" lIns="27432" tIns="0" rIns="27432" bIns="0">
            <a:normAutofit/>
          </a:bodyPr>
          <a:lstStyle/>
          <a:p>
            <a:pPr>
              <a:defRPr sz="1000" b="0">
                <a:solidFill>
                  <a:srgbClr val="6B7480"/>
                </a:solidFill>
                <a:latin typeface="Malgun Gothic"/>
              </a:defRPr>
            </a:pPr>
            <a:r>
              <a:t>Neuron/Layer 직접 구현 · Forward/Backward · Gradient 검증</a:t>
            </a:r>
          </a:p>
        </p:txBody>
      </p:sp>
      <p:sp>
        <p:nvSpPr>
          <p:cNvPr id="20" name="TextBox 19"/>
          <p:cNvSpPr txBox="1"/>
          <p:nvPr/>
        </p:nvSpPr>
        <p:spPr>
          <a:xfrm>
            <a:off x="10744200" y="3383280"/>
            <a:ext cx="603504" cy="219456"/>
          </a:xfrm>
          <a:prstGeom prst="rect">
            <a:avLst/>
          </a:prstGeom>
          <a:noFill/>
        </p:spPr>
        <p:txBody>
          <a:bodyPr wrap="square" lIns="27432" tIns="0" rIns="27432" bIns="0">
            <a:normAutofit fontScale="92500" lnSpcReduction="20000"/>
          </a:bodyPr>
          <a:lstStyle/>
          <a:p>
            <a:pPr>
              <a:spcAft>
                <a:spcPts val="400"/>
              </a:spcAft>
            </a:pPr>
            <a:r>
              <a:rPr sz="1200" b="1">
                <a:solidFill>
                  <a:srgbClr val="1D3759"/>
                </a:solidFill>
              </a:rPr>
              <a:t>12</a:t>
            </a:r>
          </a:p>
        </p:txBody>
      </p:sp>
      <p:sp>
        <p:nvSpPr>
          <p:cNvPr id="21" name="Rounded Rectangle 20"/>
          <p:cNvSpPr/>
          <p:nvPr/>
        </p:nvSpPr>
        <p:spPr>
          <a:xfrm>
            <a:off x="658368" y="3904487"/>
            <a:ext cx="10881360" cy="585216"/>
          </a:xfrm>
          <a:prstGeom prst="roundRect">
            <a:avLst/>
          </a:prstGeom>
          <a:solidFill>
            <a:srgbClr val="F7F8FB"/>
          </a:solidFill>
          <a:ln>
            <a:solidFill>
              <a:srgbClr val="E0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813816" y="4005072"/>
            <a:ext cx="502920" cy="384048"/>
          </a:xfrm>
          <a:prstGeom prst="roundRect">
            <a:avLst/>
          </a:prstGeom>
          <a:solidFill>
            <a:srgbClr val="C26928"/>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defRPr sz="1500" b="1">
                <a:solidFill>
                  <a:srgbClr val="FFFFFF"/>
                </a:solidFill>
              </a:defRPr>
            </a:pPr>
            <a:r>
              <a:t>04</a:t>
            </a:r>
          </a:p>
        </p:txBody>
      </p:sp>
      <p:sp>
        <p:nvSpPr>
          <p:cNvPr id="23" name="TextBox 22"/>
          <p:cNvSpPr txBox="1"/>
          <p:nvPr/>
        </p:nvSpPr>
        <p:spPr>
          <a:xfrm>
            <a:off x="1517904" y="3977639"/>
            <a:ext cx="7315200" cy="228600"/>
          </a:xfrm>
          <a:prstGeom prst="rect">
            <a:avLst/>
          </a:prstGeom>
          <a:noFill/>
        </p:spPr>
        <p:txBody>
          <a:bodyPr wrap="square" lIns="27432" tIns="0" rIns="27432" bIns="0">
            <a:normAutofit fontScale="92500" lnSpcReduction="10000"/>
          </a:bodyPr>
          <a:lstStyle/>
          <a:p>
            <a:pPr>
              <a:defRPr sz="1700" b="1">
                <a:solidFill>
                  <a:srgbClr val="1D395B"/>
                </a:solidFill>
                <a:latin typeface="Malgun Gothic"/>
              </a:defRPr>
            </a:pPr>
            <a:r>
              <a:t>Reusable Spring Boot Architecture</a:t>
            </a:r>
          </a:p>
        </p:txBody>
      </p:sp>
      <p:sp>
        <p:nvSpPr>
          <p:cNvPr id="24" name="TextBox 23"/>
          <p:cNvSpPr txBox="1"/>
          <p:nvPr/>
        </p:nvSpPr>
        <p:spPr>
          <a:xfrm>
            <a:off x="1527048" y="4242816"/>
            <a:ext cx="9052560" cy="192024"/>
          </a:xfrm>
          <a:prstGeom prst="rect">
            <a:avLst/>
          </a:prstGeom>
          <a:noFill/>
        </p:spPr>
        <p:txBody>
          <a:bodyPr wrap="square" lIns="27432" tIns="0" rIns="27432" bIns="0">
            <a:normAutofit/>
          </a:bodyPr>
          <a:lstStyle/>
          <a:p>
            <a:pPr>
              <a:defRPr sz="1000" b="0">
                <a:solidFill>
                  <a:srgbClr val="6B7480"/>
                </a:solidFill>
                <a:latin typeface="Malgun Gothic"/>
              </a:defRPr>
            </a:pPr>
            <a:r>
              <a:t>Service · Security · Integration · Common Concerns</a:t>
            </a:r>
          </a:p>
        </p:txBody>
      </p:sp>
      <p:sp>
        <p:nvSpPr>
          <p:cNvPr id="25" name="TextBox 24"/>
          <p:cNvSpPr txBox="1"/>
          <p:nvPr/>
        </p:nvSpPr>
        <p:spPr>
          <a:xfrm>
            <a:off x="10744200" y="4087368"/>
            <a:ext cx="603504" cy="219456"/>
          </a:xfrm>
          <a:prstGeom prst="rect">
            <a:avLst/>
          </a:prstGeom>
          <a:noFill/>
        </p:spPr>
        <p:txBody>
          <a:bodyPr wrap="square" lIns="27432" tIns="0" rIns="27432" bIns="0">
            <a:normAutofit fontScale="92500" lnSpcReduction="20000"/>
          </a:bodyPr>
          <a:lstStyle/>
          <a:p>
            <a:pPr>
              <a:spcAft>
                <a:spcPts val="400"/>
              </a:spcAft>
            </a:pPr>
            <a:r>
              <a:rPr sz="1200" b="1">
                <a:solidFill>
                  <a:srgbClr val="1D3759"/>
                </a:solidFill>
              </a:rPr>
              <a:t>13</a:t>
            </a:r>
          </a:p>
        </p:txBody>
      </p:sp>
      <p:sp>
        <p:nvSpPr>
          <p:cNvPr id="26" name="Rounded Rectangle 25"/>
          <p:cNvSpPr/>
          <p:nvPr/>
        </p:nvSpPr>
        <p:spPr>
          <a:xfrm>
            <a:off x="658368" y="4608576"/>
            <a:ext cx="10881360" cy="585216"/>
          </a:xfrm>
          <a:prstGeom prst="roundRect">
            <a:avLst/>
          </a:prstGeom>
          <a:solidFill>
            <a:srgbClr val="F7F8FB"/>
          </a:solidFill>
          <a:ln>
            <a:solidFill>
              <a:srgbClr val="E0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13816" y="4709160"/>
            <a:ext cx="502920" cy="384048"/>
          </a:xfrm>
          <a:prstGeom prst="roundRect">
            <a:avLst/>
          </a:prstGeom>
          <a:solidFill>
            <a:srgbClr val="2E5BBB"/>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defRPr sz="1500" b="1">
                <a:solidFill>
                  <a:srgbClr val="FFFFFF"/>
                </a:solidFill>
              </a:defRPr>
            </a:pPr>
            <a:r>
              <a:t>05</a:t>
            </a:r>
          </a:p>
        </p:txBody>
      </p:sp>
      <p:sp>
        <p:nvSpPr>
          <p:cNvPr id="28" name="TextBox 27"/>
          <p:cNvSpPr txBox="1"/>
          <p:nvPr/>
        </p:nvSpPr>
        <p:spPr>
          <a:xfrm>
            <a:off x="1517904" y="4681728"/>
            <a:ext cx="7315200" cy="228600"/>
          </a:xfrm>
          <a:prstGeom prst="rect">
            <a:avLst/>
          </a:prstGeom>
          <a:noFill/>
        </p:spPr>
        <p:txBody>
          <a:bodyPr wrap="square" lIns="27432" tIns="0" rIns="27432" bIns="0">
            <a:normAutofit fontScale="92500" lnSpcReduction="10000"/>
          </a:bodyPr>
          <a:lstStyle/>
          <a:p>
            <a:pPr>
              <a:defRPr sz="1700" b="1">
                <a:solidFill>
                  <a:srgbClr val="1D395B"/>
                </a:solidFill>
                <a:latin typeface="Malgun Gothic"/>
              </a:defRPr>
            </a:pPr>
            <a:r>
              <a:t>Software Engineering Foundation</a:t>
            </a:r>
          </a:p>
        </p:txBody>
      </p:sp>
      <p:sp>
        <p:nvSpPr>
          <p:cNvPr id="29" name="TextBox 28"/>
          <p:cNvSpPr txBox="1"/>
          <p:nvPr/>
        </p:nvSpPr>
        <p:spPr>
          <a:xfrm>
            <a:off x="1527048" y="4946904"/>
            <a:ext cx="9052560" cy="192024"/>
          </a:xfrm>
          <a:prstGeom prst="rect">
            <a:avLst/>
          </a:prstGeom>
          <a:noFill/>
        </p:spPr>
        <p:txBody>
          <a:bodyPr wrap="square" lIns="27432" tIns="0" rIns="27432" bIns="0">
            <a:normAutofit/>
          </a:bodyPr>
          <a:lstStyle/>
          <a:p>
            <a:pPr>
              <a:defRPr sz="1000" b="0">
                <a:solidFill>
                  <a:srgbClr val="6B7480"/>
                </a:solidFill>
                <a:latin typeface="Malgun Gothic"/>
              </a:defRPr>
            </a:pPr>
            <a:r>
              <a:t>성능 최적화 · 플랫폼 연동 · 품질 검증 및 협업</a:t>
            </a:r>
          </a:p>
        </p:txBody>
      </p:sp>
      <p:sp>
        <p:nvSpPr>
          <p:cNvPr id="30" name="TextBox 29"/>
          <p:cNvSpPr txBox="1"/>
          <p:nvPr/>
        </p:nvSpPr>
        <p:spPr>
          <a:xfrm>
            <a:off x="10744200" y="4791456"/>
            <a:ext cx="603504" cy="219456"/>
          </a:xfrm>
          <a:prstGeom prst="rect">
            <a:avLst/>
          </a:prstGeom>
          <a:noFill/>
        </p:spPr>
        <p:txBody>
          <a:bodyPr wrap="square" lIns="27432" tIns="0" rIns="27432" bIns="0">
            <a:normAutofit fontScale="92500" lnSpcReduction="20000"/>
          </a:bodyPr>
          <a:lstStyle/>
          <a:p>
            <a:pPr>
              <a:spcAft>
                <a:spcPts val="400"/>
              </a:spcAft>
            </a:pPr>
            <a:r>
              <a:rPr sz="1200" b="1">
                <a:solidFill>
                  <a:srgbClr val="1D3759"/>
                </a:solidFill>
              </a:rPr>
              <a:t>14</a:t>
            </a:r>
          </a:p>
        </p:txBody>
      </p:sp>
      <p:sp>
        <p:nvSpPr>
          <p:cNvPr id="31" name="Rounded Rectangle 30"/>
          <p:cNvSpPr/>
          <p:nvPr/>
        </p:nvSpPr>
        <p:spPr>
          <a:xfrm>
            <a:off x="658368" y="5312664"/>
            <a:ext cx="10881360" cy="585216"/>
          </a:xfrm>
          <a:prstGeom prst="roundRect">
            <a:avLst/>
          </a:prstGeom>
          <a:solidFill>
            <a:srgbClr val="F7F8FB"/>
          </a:solidFill>
          <a:ln>
            <a:solidFill>
              <a:srgbClr val="E0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813816" y="5413248"/>
            <a:ext cx="502920" cy="384048"/>
          </a:xfrm>
          <a:prstGeom prst="roundRect">
            <a:avLst/>
          </a:prstGeom>
          <a:solidFill>
            <a:srgbClr val="378158"/>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defRPr sz="1500" b="1">
                <a:solidFill>
                  <a:srgbClr val="FFFFFF"/>
                </a:solidFill>
              </a:defRPr>
            </a:pPr>
            <a:r>
              <a:t>06</a:t>
            </a:r>
          </a:p>
        </p:txBody>
      </p:sp>
      <p:sp>
        <p:nvSpPr>
          <p:cNvPr id="33" name="TextBox 32"/>
          <p:cNvSpPr txBox="1"/>
          <p:nvPr/>
        </p:nvSpPr>
        <p:spPr>
          <a:xfrm>
            <a:off x="1517904" y="5385816"/>
            <a:ext cx="7315200" cy="228600"/>
          </a:xfrm>
          <a:prstGeom prst="rect">
            <a:avLst/>
          </a:prstGeom>
          <a:noFill/>
        </p:spPr>
        <p:txBody>
          <a:bodyPr wrap="square" lIns="27432" tIns="0" rIns="27432" bIns="0">
            <a:normAutofit fontScale="92500" lnSpcReduction="10000"/>
          </a:bodyPr>
          <a:lstStyle/>
          <a:p>
            <a:pPr>
              <a:defRPr sz="1700" b="1">
                <a:solidFill>
                  <a:srgbClr val="1D395B"/>
                </a:solidFill>
                <a:latin typeface="Malgun Gothic"/>
              </a:defRPr>
            </a:pPr>
            <a:r>
              <a:t>Technical Positioning</a:t>
            </a:r>
          </a:p>
        </p:txBody>
      </p:sp>
      <p:sp>
        <p:nvSpPr>
          <p:cNvPr id="34" name="TextBox 33"/>
          <p:cNvSpPr txBox="1"/>
          <p:nvPr/>
        </p:nvSpPr>
        <p:spPr>
          <a:xfrm>
            <a:off x="1527048" y="5650992"/>
            <a:ext cx="9052560" cy="192024"/>
          </a:xfrm>
          <a:prstGeom prst="rect">
            <a:avLst/>
          </a:prstGeom>
          <a:noFill/>
        </p:spPr>
        <p:txBody>
          <a:bodyPr wrap="square" lIns="27432" tIns="0" rIns="27432" bIns="0">
            <a:normAutofit/>
          </a:bodyPr>
          <a:lstStyle/>
          <a:p>
            <a:pPr>
              <a:defRPr sz="1000" b="0">
                <a:solidFill>
                  <a:srgbClr val="6B7480"/>
                </a:solidFill>
                <a:latin typeface="Malgun Gothic"/>
              </a:defRPr>
            </a:pPr>
            <a:r>
              <a:t>Model · Training · Runtime · Application 역량 정리</a:t>
            </a:r>
          </a:p>
        </p:txBody>
      </p:sp>
      <p:sp>
        <p:nvSpPr>
          <p:cNvPr id="35" name="TextBox 34"/>
          <p:cNvSpPr txBox="1"/>
          <p:nvPr/>
        </p:nvSpPr>
        <p:spPr>
          <a:xfrm>
            <a:off x="10744200" y="5495544"/>
            <a:ext cx="603504" cy="219456"/>
          </a:xfrm>
          <a:prstGeom prst="rect">
            <a:avLst/>
          </a:prstGeom>
          <a:noFill/>
        </p:spPr>
        <p:txBody>
          <a:bodyPr wrap="square" lIns="27432" tIns="0" rIns="27432" bIns="0">
            <a:normAutofit fontScale="92500" lnSpcReduction="20000"/>
          </a:bodyPr>
          <a:lstStyle/>
          <a:p>
            <a:pPr>
              <a:spcAft>
                <a:spcPts val="400"/>
              </a:spcAft>
            </a:pPr>
            <a:r>
              <a:rPr sz="1200" b="1">
                <a:solidFill>
                  <a:srgbClr val="1D3759"/>
                </a:solidFill>
              </a:rPr>
              <a:t>15</a:t>
            </a:r>
          </a:p>
        </p:txBody>
      </p:sp>
      <p:sp>
        <p:nvSpPr>
          <p:cNvPr id="36" name="TextBox 35"/>
          <p:cNvSpPr txBox="1"/>
          <p:nvPr/>
        </p:nvSpPr>
        <p:spPr>
          <a:xfrm>
            <a:off x="11027664" y="6492240"/>
            <a:ext cx="420624" cy="182880"/>
          </a:xfrm>
          <a:prstGeom prst="rect">
            <a:avLst/>
          </a:prstGeom>
          <a:noFill/>
        </p:spPr>
        <p:txBody>
          <a:bodyPr wrap="square" lIns="27432" tIns="0" rIns="27432" bIns="0">
            <a:normAutofit/>
          </a:bodyPr>
          <a:lstStyle/>
          <a:p>
            <a:pPr>
              <a:spcAft>
                <a:spcPts val="400"/>
              </a:spcAft>
            </a:pPr>
            <a:r>
              <a:rPr sz="1000">
                <a:solidFill>
                  <a:srgbClr val="5A626E"/>
                </a:solidFill>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621792"/>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t>기술 경험의 연결 구조</a:t>
            </a: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700"/>
              </a:spcAft>
              <a:defRPr sz="1100" b="0">
                <a:solidFill>
                  <a:srgbClr val="5F6A78"/>
                </a:solidFill>
                <a:latin typeface="Malgun Gothic"/>
              </a:defRPr>
            </a:pPr>
            <a:r>
              <a:t>직접 구현 → 공통화 → 진단 → 서비스 연계로 이어지는 기술적 축적</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03</a:t>
            </a:r>
          </a:p>
        </p:txBody>
      </p:sp>
      <p:sp>
        <p:nvSpPr>
          <p:cNvPr id="7" name="Rounded Rectangle 6"/>
          <p:cNvSpPr/>
          <p:nvPr/>
        </p:nvSpPr>
        <p:spPr>
          <a:xfrm>
            <a:off x="640080" y="196596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40080" y="1965960"/>
            <a:ext cx="264033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01625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DNN</a:t>
            </a:r>
          </a:p>
        </p:txBody>
      </p:sp>
      <p:sp>
        <p:nvSpPr>
          <p:cNvPr id="10" name="TextBox 9"/>
          <p:cNvSpPr txBox="1"/>
          <p:nvPr/>
        </p:nvSpPr>
        <p:spPr>
          <a:xfrm>
            <a:off x="786384" y="253288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Neuron / Layer</a:t>
            </a:r>
          </a:p>
          <a:p>
            <a:pPr>
              <a:spcAft>
                <a:spcPts val="700"/>
              </a:spcAft>
              <a:defRPr sz="1200" b="0">
                <a:solidFill>
                  <a:srgbClr val="242D38"/>
                </a:solidFill>
                <a:latin typeface="Malgun Gothic"/>
              </a:defRPr>
            </a:pPr>
            <a:r>
              <a:t>Forward / Backward</a:t>
            </a:r>
          </a:p>
          <a:p>
            <a:pPr>
              <a:spcAft>
                <a:spcPts val="700"/>
              </a:spcAft>
              <a:defRPr sz="1200" b="0">
                <a:solidFill>
                  <a:srgbClr val="242D38"/>
                </a:solidFill>
                <a:latin typeface="Malgun Gothic"/>
              </a:defRPr>
            </a:pPr>
            <a:r>
              <a:t>Gradient 검증</a:t>
            </a:r>
          </a:p>
        </p:txBody>
      </p:sp>
      <p:sp>
        <p:nvSpPr>
          <p:cNvPr id="11" name="Rounded Rectangle 10"/>
          <p:cNvSpPr/>
          <p:nvPr/>
        </p:nvSpPr>
        <p:spPr>
          <a:xfrm>
            <a:off x="3417570" y="196596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417570" y="1965960"/>
            <a:ext cx="264033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27298" y="201625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rPr dirty="0"/>
              <a:t>Transformer</a:t>
            </a:r>
          </a:p>
        </p:txBody>
      </p:sp>
      <p:sp>
        <p:nvSpPr>
          <p:cNvPr id="14" name="TextBox 13"/>
          <p:cNvSpPr txBox="1"/>
          <p:nvPr/>
        </p:nvSpPr>
        <p:spPr>
          <a:xfrm>
            <a:off x="3563874" y="253288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Tokenizer → Decoder</a:t>
            </a:r>
          </a:p>
          <a:p>
            <a:pPr>
              <a:spcAft>
                <a:spcPts val="700"/>
              </a:spcAft>
              <a:defRPr sz="1200" b="0">
                <a:solidFill>
                  <a:srgbClr val="242D38"/>
                </a:solidFill>
                <a:latin typeface="Malgun Gothic"/>
              </a:defRPr>
            </a:pPr>
            <a:r>
              <a:t>학습·검증·추론</a:t>
            </a:r>
          </a:p>
          <a:p>
            <a:pPr>
              <a:spcAft>
                <a:spcPts val="700"/>
              </a:spcAft>
              <a:defRPr sz="1200" b="0">
                <a:solidFill>
                  <a:srgbClr val="242D38"/>
                </a:solidFill>
                <a:latin typeface="Malgun Gothic"/>
              </a:defRPr>
            </a:pPr>
            <a:r>
              <a:t>Intel XPU</a:t>
            </a:r>
          </a:p>
        </p:txBody>
      </p:sp>
      <p:sp>
        <p:nvSpPr>
          <p:cNvPr id="15" name="Rounded Rectangle 14"/>
          <p:cNvSpPr/>
          <p:nvPr/>
        </p:nvSpPr>
        <p:spPr>
          <a:xfrm>
            <a:off x="6195060" y="196596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195060" y="1965960"/>
            <a:ext cx="264033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4788" y="201625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rPr dirty="0"/>
              <a:t>deep-learning-core</a:t>
            </a:r>
          </a:p>
        </p:txBody>
      </p:sp>
      <p:sp>
        <p:nvSpPr>
          <p:cNvPr id="18" name="TextBox 17"/>
          <p:cNvSpPr txBox="1"/>
          <p:nvPr/>
        </p:nvSpPr>
        <p:spPr>
          <a:xfrm>
            <a:off x="6341364" y="253288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SLM 의존성 제거</a:t>
            </a:r>
          </a:p>
          <a:p>
            <a:pPr>
              <a:spcAft>
                <a:spcPts val="700"/>
              </a:spcAft>
              <a:defRPr sz="1200" b="0">
                <a:solidFill>
                  <a:srgbClr val="242D38"/>
                </a:solidFill>
                <a:latin typeface="Malgun Gothic"/>
              </a:defRPr>
            </a:pPr>
            <a:r>
              <a:t>nn.Module 경계</a:t>
            </a:r>
          </a:p>
          <a:p>
            <a:pPr>
              <a:spcAft>
                <a:spcPts val="700"/>
              </a:spcAft>
              <a:defRPr sz="1200" b="0">
                <a:solidFill>
                  <a:srgbClr val="242D38"/>
                </a:solidFill>
                <a:latin typeface="Malgun Gothic"/>
              </a:defRPr>
            </a:pPr>
            <a:r>
              <a:t>Training 재사용</a:t>
            </a:r>
          </a:p>
        </p:txBody>
      </p:sp>
      <p:sp>
        <p:nvSpPr>
          <p:cNvPr id="19" name="Rounded Rectangle 18"/>
          <p:cNvSpPr/>
          <p:nvPr/>
        </p:nvSpPr>
        <p:spPr>
          <a:xfrm>
            <a:off x="8972550" y="196596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972550" y="1965960"/>
            <a:ext cx="264033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2278" y="201625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Application</a:t>
            </a:r>
          </a:p>
        </p:txBody>
      </p:sp>
      <p:sp>
        <p:nvSpPr>
          <p:cNvPr id="22" name="TextBox 21"/>
          <p:cNvSpPr txBox="1"/>
          <p:nvPr/>
        </p:nvSpPr>
        <p:spPr>
          <a:xfrm>
            <a:off x="9118854" y="253288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Security / API</a:t>
            </a:r>
          </a:p>
          <a:p>
            <a:pPr>
              <a:spcAft>
                <a:spcPts val="700"/>
              </a:spcAft>
              <a:defRPr sz="1200" b="0">
                <a:solidFill>
                  <a:srgbClr val="242D38"/>
                </a:solidFill>
                <a:latin typeface="Malgun Gothic"/>
              </a:defRPr>
            </a:pPr>
            <a:r>
              <a:t>Integration / Logging</a:t>
            </a:r>
          </a:p>
          <a:p>
            <a:pPr>
              <a:spcAft>
                <a:spcPts val="700"/>
              </a:spcAft>
              <a:defRPr sz="1200" b="0">
                <a:solidFill>
                  <a:srgbClr val="242D38"/>
                </a:solidFill>
                <a:latin typeface="Malgun Gothic"/>
              </a:defRPr>
            </a:pPr>
            <a:r>
              <a:t>AI 연동 기반</a:t>
            </a:r>
          </a:p>
        </p:txBody>
      </p:sp>
      <p:sp>
        <p:nvSpPr>
          <p:cNvPr id="23" name="Rounded Rectangle 22"/>
          <p:cNvSpPr/>
          <p:nvPr/>
        </p:nvSpPr>
        <p:spPr>
          <a:xfrm>
            <a:off x="777240" y="4160520"/>
            <a:ext cx="10652760" cy="1280160"/>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24128" y="4370832"/>
            <a:ext cx="1828800" cy="320040"/>
          </a:xfrm>
          <a:prstGeom prst="rect">
            <a:avLst/>
          </a:prstGeom>
          <a:noFill/>
        </p:spPr>
        <p:txBody>
          <a:bodyPr wrap="square" lIns="64008" tIns="0" rIns="45720" bIns="0">
            <a:normAutofit/>
          </a:bodyPr>
          <a:lstStyle/>
          <a:p>
            <a:pPr>
              <a:spcAft>
                <a:spcPts val="700"/>
              </a:spcAft>
              <a:defRPr sz="1700" b="1">
                <a:solidFill>
                  <a:srgbClr val="19365B"/>
                </a:solidFill>
                <a:latin typeface="Malgun Gothic"/>
              </a:defRPr>
            </a:pPr>
            <a:r>
              <a:t>핵심 방향</a:t>
            </a:r>
          </a:p>
        </p:txBody>
      </p:sp>
      <p:sp>
        <p:nvSpPr>
          <p:cNvPr id="25" name="TextBox 24"/>
          <p:cNvSpPr txBox="1"/>
          <p:nvPr/>
        </p:nvSpPr>
        <p:spPr>
          <a:xfrm>
            <a:off x="2834640" y="4343400"/>
            <a:ext cx="8229600" cy="621792"/>
          </a:xfrm>
          <a:prstGeom prst="rect">
            <a:avLst/>
          </a:prstGeom>
          <a:noFill/>
        </p:spPr>
        <p:txBody>
          <a:bodyPr wrap="square" lIns="64008" tIns="36576" rIns="45720">
            <a:normAutofit/>
          </a:bodyPr>
          <a:lstStyle/>
          <a:p>
            <a:pPr>
              <a:spcAft>
                <a:spcPts val="700"/>
              </a:spcAft>
              <a:defRPr sz="1700" b="1">
                <a:solidFill>
                  <a:srgbClr val="2B56C0"/>
                </a:solidFill>
                <a:latin typeface="Malgun Gothic"/>
              </a:defRPr>
            </a:pPr>
            <a:r>
              <a:t>Model Engineering  +  Training Engineering  +  Runtime Analysis  +  Software Architecture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621792"/>
          </a:xfrm>
          <a:prstGeom prst="rect">
            <a:avLst/>
          </a:prstGeom>
          <a:noFill/>
        </p:spPr>
        <p:txBody>
          <a:bodyPr wrap="square" lIns="64008" tIns="36576" rIns="45720">
            <a:normAutofit/>
          </a:bodyPr>
          <a:lstStyle/>
          <a:p>
            <a:r>
              <a:rPr sz="2400" b="1" dirty="0">
                <a:latin typeface="+mj-ea"/>
                <a:ea typeface="+mj-ea"/>
              </a:rPr>
              <a:t>01. deep-learning-core | </a:t>
            </a:r>
            <a:r>
              <a:rPr sz="2400" b="1" dirty="0" err="1">
                <a:latin typeface="+mj-ea"/>
                <a:ea typeface="+mj-ea"/>
              </a:rPr>
              <a:t>문제</a:t>
            </a:r>
            <a:r>
              <a:rPr sz="2400" b="1" dirty="0">
                <a:latin typeface="+mj-ea"/>
                <a:ea typeface="+mj-ea"/>
              </a:rPr>
              <a:t> </a:t>
            </a:r>
            <a:r>
              <a:rPr sz="2400" b="1" dirty="0" err="1">
                <a:latin typeface="+mj-ea"/>
                <a:ea typeface="+mj-ea"/>
              </a:rPr>
              <a:t>정의</a:t>
            </a:r>
            <a:r>
              <a:rPr sz="2400" b="1" dirty="0">
                <a:latin typeface="+mj-ea"/>
                <a:ea typeface="+mj-ea"/>
              </a:rPr>
              <a:t> 및 </a:t>
            </a:r>
            <a:r>
              <a:rPr sz="2400" b="1" dirty="0" err="1">
                <a:latin typeface="+mj-ea"/>
                <a:ea typeface="+mj-ea"/>
              </a:rPr>
              <a:t>설계</a:t>
            </a:r>
            <a:r>
              <a:rPr sz="2400" b="1" dirty="0">
                <a:latin typeface="+mj-ea"/>
                <a:ea typeface="+mj-ea"/>
              </a:rPr>
              <a:t> </a:t>
            </a:r>
            <a:r>
              <a:rPr sz="2400" b="1" dirty="0" err="1">
                <a:latin typeface="+mj-ea"/>
                <a:ea typeface="+mj-ea"/>
              </a:rPr>
              <a:t>개선</a:t>
            </a:r>
            <a:endParaRPr sz="2400" b="1" dirty="0">
              <a:latin typeface="+mj-ea"/>
              <a:ea typeface="+mj-ea"/>
            </a:endParaRP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700"/>
              </a:spcAft>
              <a:defRPr sz="1100" b="0">
                <a:solidFill>
                  <a:srgbClr val="5F6A78"/>
                </a:solidFill>
                <a:latin typeface="Malgun Gothic"/>
              </a:defRPr>
            </a:pPr>
            <a:r>
              <a:t>2026.09–현재  ·  PG  ·  Python / PyTorch / pytest</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04</a:t>
            </a:r>
          </a:p>
        </p:txBody>
      </p:sp>
      <p:sp>
        <p:nvSpPr>
          <p:cNvPr id="7" name="Rounded Rectangle 6"/>
          <p:cNvSpPr/>
          <p:nvPr/>
        </p:nvSpPr>
        <p:spPr>
          <a:xfrm>
            <a:off x="731520" y="1828800"/>
            <a:ext cx="5166360" cy="246888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31520" y="1828800"/>
            <a:ext cx="516636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8" y="1879092"/>
            <a:ext cx="494690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BEFORE | SLM-specific coupling</a:t>
            </a:r>
          </a:p>
        </p:txBody>
      </p:sp>
      <p:sp>
        <p:nvSpPr>
          <p:cNvPr id="10" name="TextBox 9"/>
          <p:cNvSpPr txBox="1"/>
          <p:nvPr/>
        </p:nvSpPr>
        <p:spPr>
          <a:xfrm>
            <a:off x="877824" y="2395728"/>
            <a:ext cx="4873752" cy="1847088"/>
          </a:xfrm>
          <a:prstGeom prst="rect">
            <a:avLst/>
          </a:prstGeom>
          <a:noFill/>
        </p:spPr>
        <p:txBody>
          <a:bodyPr wrap="square" lIns="64008" tIns="36576" rIns="45720">
            <a:normAutofit/>
          </a:bodyPr>
          <a:lstStyle/>
          <a:p>
            <a:pPr>
              <a:spcAft>
                <a:spcPts val="700"/>
              </a:spcAft>
              <a:defRPr sz="1700" b="0">
                <a:solidFill>
                  <a:srgbClr val="242D38"/>
                </a:solidFill>
                <a:latin typeface="Malgun Gothic"/>
              </a:defRPr>
            </a:pPr>
            <a:r>
              <a:t>기존 Training Loop는 이미 모듈화되어 있었지만</a:t>
            </a:r>
          </a:p>
          <a:p>
            <a:pPr>
              <a:spcAft>
                <a:spcPts val="700"/>
              </a:spcAft>
              <a:defRPr sz="1700" b="0">
                <a:solidFill>
                  <a:srgbClr val="242D38"/>
                </a:solidFill>
                <a:latin typeface="Malgun Gothic"/>
              </a:defRPr>
            </a:pPr>
            <a:r>
              <a:t>Tokenizer · Masking 등 SLM 고유 코드와</a:t>
            </a:r>
          </a:p>
          <a:p>
            <a:pPr>
              <a:spcAft>
                <a:spcPts val="700"/>
              </a:spcAft>
              <a:defRPr sz="1700" b="0">
                <a:solidFill>
                  <a:srgbClr val="242D38"/>
                </a:solidFill>
                <a:latin typeface="Malgun Gothic"/>
              </a:defRPr>
            </a:pPr>
            <a:r>
              <a:t>학습 공통 모듈 간 의존성이 존재</a:t>
            </a:r>
          </a:p>
        </p:txBody>
      </p:sp>
      <p:sp>
        <p:nvSpPr>
          <p:cNvPr id="11" name="Rounded Rectangle 10"/>
          <p:cNvSpPr/>
          <p:nvPr/>
        </p:nvSpPr>
        <p:spPr>
          <a:xfrm>
            <a:off x="6080760" y="1828800"/>
            <a:ext cx="5166360" cy="246888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080760" y="1828800"/>
            <a:ext cx="516636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90488" y="1879092"/>
            <a:ext cx="494690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AFTER | Model-independent core</a:t>
            </a:r>
          </a:p>
        </p:txBody>
      </p:sp>
      <p:sp>
        <p:nvSpPr>
          <p:cNvPr id="14" name="TextBox 13"/>
          <p:cNvSpPr txBox="1"/>
          <p:nvPr/>
        </p:nvSpPr>
        <p:spPr>
          <a:xfrm>
            <a:off x="6227064" y="2395728"/>
            <a:ext cx="4873752" cy="1847088"/>
          </a:xfrm>
          <a:prstGeom prst="rect">
            <a:avLst/>
          </a:prstGeom>
          <a:noFill/>
        </p:spPr>
        <p:txBody>
          <a:bodyPr wrap="square" lIns="64008" tIns="36576" rIns="45720">
            <a:normAutofit/>
          </a:bodyPr>
          <a:lstStyle/>
          <a:p>
            <a:pPr>
              <a:spcAft>
                <a:spcPts val="700"/>
              </a:spcAft>
              <a:defRPr sz="1700" b="0">
                <a:solidFill>
                  <a:srgbClr val="242D38"/>
                </a:solidFill>
                <a:latin typeface="Malgun Gothic"/>
              </a:defRPr>
            </a:pPr>
            <a:r>
              <a:t>모델 고유 로직은 각 모델 프로젝트에 유지</a:t>
            </a:r>
          </a:p>
          <a:p>
            <a:pPr>
              <a:spcAft>
                <a:spcPts val="700"/>
              </a:spcAft>
              <a:defRPr sz="1700" b="0">
                <a:solidFill>
                  <a:srgbClr val="242D38"/>
                </a:solidFill>
                <a:latin typeface="Malgun Gothic"/>
              </a:defRPr>
            </a:pPr>
            <a:r>
              <a:t>Training / Evaluation / Device / Checkpoint</a:t>
            </a:r>
          </a:p>
          <a:p>
            <a:pPr>
              <a:spcAft>
                <a:spcPts val="700"/>
              </a:spcAft>
              <a:defRPr sz="1700" b="0">
                <a:solidFill>
                  <a:srgbClr val="242D38"/>
                </a:solidFill>
                <a:latin typeface="Malgun Gothic"/>
              </a:defRPr>
            </a:pPr>
            <a:r>
              <a:t>Metrics / Diagnostics를 Library로 분리</a:t>
            </a:r>
          </a:p>
        </p:txBody>
      </p:sp>
      <p:sp>
        <p:nvSpPr>
          <p:cNvPr id="15" name="Rounded Rectangle 14"/>
          <p:cNvSpPr/>
          <p:nvPr/>
        </p:nvSpPr>
        <p:spPr>
          <a:xfrm>
            <a:off x="868680" y="4690872"/>
            <a:ext cx="10332720" cy="1051560"/>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5010912"/>
            <a:ext cx="9966960" cy="502920"/>
          </a:xfrm>
          <a:prstGeom prst="rect">
            <a:avLst/>
          </a:prstGeom>
          <a:noFill/>
        </p:spPr>
        <p:txBody>
          <a:bodyPr wrap="square" lIns="64008" tIns="36576" rIns="45720">
            <a:normAutofit/>
          </a:bodyPr>
          <a:lstStyle/>
          <a:p>
            <a:pPr>
              <a:spcAft>
                <a:spcPts val="700"/>
              </a:spcAft>
              <a:defRPr sz="2000" b="1">
                <a:solidFill>
                  <a:srgbClr val="19365B"/>
                </a:solidFill>
                <a:latin typeface="Malgun Gothic"/>
              </a:defRPr>
            </a:pPr>
            <a:r>
              <a:rPr dirty="0" err="1"/>
              <a:t>설계</a:t>
            </a:r>
            <a:r>
              <a:rPr dirty="0"/>
              <a:t> </a:t>
            </a:r>
            <a:r>
              <a:rPr dirty="0" err="1"/>
              <a:t>경계</a:t>
            </a:r>
            <a:r>
              <a:rPr dirty="0"/>
              <a:t>  :  </a:t>
            </a:r>
            <a:r>
              <a:rPr dirty="0" err="1"/>
              <a:t>torch.nn.Module</a:t>
            </a:r>
            <a:r>
              <a:rPr dirty="0"/>
              <a:t> </a:t>
            </a:r>
            <a:r>
              <a:rPr dirty="0" err="1"/>
              <a:t>기반</a:t>
            </a:r>
            <a:r>
              <a:rPr dirty="0"/>
              <a:t> </a:t>
            </a:r>
            <a:r>
              <a:rPr dirty="0" err="1"/>
              <a:t>모델</a:t>
            </a:r>
            <a:r>
              <a:rPr dirty="0"/>
              <a:t>  →  </a:t>
            </a:r>
            <a:r>
              <a:rPr dirty="0" err="1"/>
              <a:t>재사용</a:t>
            </a:r>
            <a:r>
              <a:rPr dirty="0"/>
              <a:t> </a:t>
            </a:r>
            <a:r>
              <a:rPr dirty="0" err="1"/>
              <a:t>가능한</a:t>
            </a:r>
            <a:r>
              <a:rPr dirty="0"/>
              <a:t> Training Loop</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437043"/>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rPr dirty="0"/>
              <a:t>01. </a:t>
            </a:r>
            <a:r>
              <a:rPr lang="en-US" altLang="ko-KR" dirty="0"/>
              <a:t>deep-learning-core | </a:t>
            </a:r>
            <a:r>
              <a:rPr dirty="0"/>
              <a:t>모델 비종속 학습 아키텍처</a:t>
            </a: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400"/>
              </a:spcAft>
            </a:pPr>
            <a:r>
              <a:rPr sz="1300"/>
              <a:t>모델별 로직과 공통 학습·진단 인프라 분리 | PyTorch reusable library</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05</a:t>
            </a:r>
          </a:p>
        </p:txBody>
      </p:sp>
      <p:sp>
        <p:nvSpPr>
          <p:cNvPr id="7" name="Rounded Rectangle 6"/>
          <p:cNvSpPr/>
          <p:nvPr/>
        </p:nvSpPr>
        <p:spPr>
          <a:xfrm>
            <a:off x="640080" y="21031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40080" y="2103120"/>
            <a:ext cx="264033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1534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MODEL PROJECT</a:t>
            </a:r>
          </a:p>
        </p:txBody>
      </p:sp>
      <p:sp>
        <p:nvSpPr>
          <p:cNvPr id="10" name="TextBox 9"/>
          <p:cNvSpPr txBox="1"/>
          <p:nvPr/>
        </p:nvSpPr>
        <p:spPr>
          <a:xfrm>
            <a:off x="786384" y="26700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Tokenizer</a:t>
            </a:r>
          </a:p>
          <a:p>
            <a:pPr>
              <a:spcAft>
                <a:spcPts val="700"/>
              </a:spcAft>
              <a:defRPr sz="1200" b="0">
                <a:solidFill>
                  <a:srgbClr val="242D38"/>
                </a:solidFill>
                <a:latin typeface="Malgun Gothic"/>
              </a:defRPr>
            </a:pPr>
            <a:r>
              <a:t>Vocabulary / Masking</a:t>
            </a:r>
          </a:p>
          <a:p>
            <a:pPr>
              <a:spcAft>
                <a:spcPts val="700"/>
              </a:spcAft>
              <a:defRPr sz="1200" b="0">
                <a:solidFill>
                  <a:srgbClr val="242D38"/>
                </a:solidFill>
                <a:latin typeface="Malgun Gothic"/>
              </a:defRPr>
            </a:pPr>
            <a:r>
              <a:t>Inference</a:t>
            </a:r>
          </a:p>
        </p:txBody>
      </p:sp>
      <p:sp>
        <p:nvSpPr>
          <p:cNvPr id="11" name="Rounded Rectangle 10"/>
          <p:cNvSpPr/>
          <p:nvPr/>
        </p:nvSpPr>
        <p:spPr>
          <a:xfrm>
            <a:off x="3417570" y="21031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417570" y="2103120"/>
            <a:ext cx="264033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27298" y="21534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MODEL BOUNDARY</a:t>
            </a:r>
          </a:p>
        </p:txBody>
      </p:sp>
      <p:sp>
        <p:nvSpPr>
          <p:cNvPr id="14" name="TextBox 13"/>
          <p:cNvSpPr txBox="1"/>
          <p:nvPr/>
        </p:nvSpPr>
        <p:spPr>
          <a:xfrm>
            <a:off x="3563874" y="26700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torch.nn.Module</a:t>
            </a:r>
          </a:p>
          <a:p>
            <a:pPr>
              <a:spcAft>
                <a:spcPts val="700"/>
              </a:spcAft>
              <a:defRPr sz="1200" b="0">
                <a:solidFill>
                  <a:srgbClr val="242D38"/>
                </a:solidFill>
                <a:latin typeface="Malgun Gothic"/>
              </a:defRPr>
            </a:pPr>
            <a:r>
              <a:t>ModelBuilder</a:t>
            </a:r>
          </a:p>
          <a:p>
            <a:pPr>
              <a:spcAft>
                <a:spcPts val="700"/>
              </a:spcAft>
              <a:defRPr sz="1200" b="0">
                <a:solidFill>
                  <a:srgbClr val="242D38"/>
                </a:solidFill>
                <a:latin typeface="Malgun Gothic"/>
              </a:defRPr>
            </a:pPr>
            <a:r>
              <a:t>SequentialModel</a:t>
            </a:r>
          </a:p>
        </p:txBody>
      </p:sp>
      <p:sp>
        <p:nvSpPr>
          <p:cNvPr id="15" name="Rounded Rectangle 14"/>
          <p:cNvSpPr/>
          <p:nvPr/>
        </p:nvSpPr>
        <p:spPr>
          <a:xfrm>
            <a:off x="6195060" y="21031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195060" y="2103120"/>
            <a:ext cx="264033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4788" y="21534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TRAINING CORE</a:t>
            </a:r>
          </a:p>
        </p:txBody>
      </p:sp>
      <p:sp>
        <p:nvSpPr>
          <p:cNvPr id="18" name="TextBox 17"/>
          <p:cNvSpPr txBox="1"/>
          <p:nvPr/>
        </p:nvSpPr>
        <p:spPr>
          <a:xfrm>
            <a:off x="6341364" y="26700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Batch / Epoch Runner</a:t>
            </a:r>
          </a:p>
          <a:p>
            <a:pPr>
              <a:spcAft>
                <a:spcPts val="700"/>
              </a:spcAft>
              <a:defRPr sz="1200" b="0">
                <a:solidFill>
                  <a:srgbClr val="242D38"/>
                </a:solidFill>
                <a:latin typeface="Malgun Gothic"/>
              </a:defRPr>
            </a:pPr>
            <a:r>
              <a:t>Trainer</a:t>
            </a:r>
          </a:p>
          <a:p>
            <a:pPr>
              <a:spcAft>
                <a:spcPts val="700"/>
              </a:spcAft>
              <a:defRPr sz="1200" b="0">
                <a:solidFill>
                  <a:srgbClr val="242D38"/>
                </a:solidFill>
                <a:latin typeface="Malgun Gothic"/>
              </a:defRPr>
            </a:pPr>
            <a:r>
              <a:t>Loss / Metrics</a:t>
            </a:r>
          </a:p>
        </p:txBody>
      </p:sp>
      <p:sp>
        <p:nvSpPr>
          <p:cNvPr id="19" name="Rounded Rectangle 18"/>
          <p:cNvSpPr/>
          <p:nvPr/>
        </p:nvSpPr>
        <p:spPr>
          <a:xfrm>
            <a:off x="8972550" y="21031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972550" y="2103120"/>
            <a:ext cx="264033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2278" y="21534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CONTROL &amp; RUNTIME</a:t>
            </a:r>
          </a:p>
        </p:txBody>
      </p:sp>
      <p:sp>
        <p:nvSpPr>
          <p:cNvPr id="22" name="TextBox 21"/>
          <p:cNvSpPr txBox="1"/>
          <p:nvPr/>
        </p:nvSpPr>
        <p:spPr>
          <a:xfrm>
            <a:off x="9118854" y="2670048"/>
            <a:ext cx="2347722" cy="978407"/>
          </a:xfrm>
          <a:prstGeom prst="rect">
            <a:avLst/>
          </a:prstGeom>
          <a:noFill/>
        </p:spPr>
        <p:txBody>
          <a:bodyPr wrap="square" lIns="64008" tIns="36576" rIns="45720">
            <a:normAutofit/>
          </a:bodyPr>
          <a:lstStyle/>
          <a:p>
            <a:pPr>
              <a:spcAft>
                <a:spcPts val="400"/>
              </a:spcAft>
            </a:pPr>
            <a:r>
              <a:rPr sz="1500"/>
              <a:t>Checkpoint / Metrics</a:t>
            </a:r>
          </a:p>
          <a:p>
            <a:pPr>
              <a:spcAft>
                <a:spcPts val="400"/>
              </a:spcAft>
            </a:pPr>
            <a:r>
              <a:rPr sz="1500"/>
              <a:t>DeviceProfiler / Diagnostics</a:t>
            </a:r>
          </a:p>
        </p:txBody>
      </p:sp>
      <p:sp>
        <p:nvSpPr>
          <p:cNvPr id="23" name="Rounded Rectangle 22"/>
          <p:cNvSpPr/>
          <p:nvPr/>
        </p:nvSpPr>
        <p:spPr>
          <a:xfrm>
            <a:off x="822960" y="4251960"/>
            <a:ext cx="10561320" cy="1207008"/>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9848" y="4581144"/>
            <a:ext cx="10058400" cy="576072"/>
          </a:xfrm>
          <a:prstGeom prst="rect">
            <a:avLst/>
          </a:prstGeom>
          <a:noFill/>
        </p:spPr>
        <p:txBody>
          <a:bodyPr wrap="square" lIns="64008" tIns="36576" rIns="45720">
            <a:normAutofit/>
          </a:bodyPr>
          <a:lstStyle/>
          <a:p>
            <a:pPr>
              <a:spcAft>
                <a:spcPts val="400"/>
              </a:spcAft>
            </a:pPr>
            <a:r>
              <a:rPr sz="1900" b="1">
                <a:solidFill>
                  <a:srgbClr val="1D3759"/>
                </a:solidFill>
              </a:rPr>
              <a:t>Separation of Concerns  ·  Modular Design  ·  Reusable Python Package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437043"/>
          </a:xfrm>
          <a:prstGeom prst="rect">
            <a:avLst/>
          </a:prstGeom>
          <a:noFill/>
        </p:spPr>
        <p:txBody>
          <a:bodyPr wrap="square" lIns="64008" tIns="36576" rIns="45720">
            <a:noAutofit/>
          </a:bodyPr>
          <a:lstStyle/>
          <a:p>
            <a:r>
              <a:rPr sz="2400" b="1" dirty="0">
                <a:latin typeface="+mj-ea"/>
                <a:ea typeface="+mj-ea"/>
              </a:rPr>
              <a:t>01. deep-learning-core | </a:t>
            </a:r>
            <a:r>
              <a:rPr sz="2400" b="1" dirty="0" err="1">
                <a:latin typeface="+mj-ea"/>
                <a:ea typeface="+mj-ea"/>
              </a:rPr>
              <a:t>학습</a:t>
            </a:r>
            <a:r>
              <a:rPr sz="2400" b="1" dirty="0">
                <a:latin typeface="+mj-ea"/>
                <a:ea typeface="+mj-ea"/>
              </a:rPr>
              <a:t> </a:t>
            </a:r>
            <a:r>
              <a:rPr sz="2400" b="1" dirty="0" err="1">
                <a:latin typeface="+mj-ea"/>
                <a:ea typeface="+mj-ea"/>
              </a:rPr>
              <a:t>실행</a:t>
            </a:r>
            <a:r>
              <a:rPr sz="2400" b="1" dirty="0">
                <a:latin typeface="+mj-ea"/>
                <a:ea typeface="+mj-ea"/>
              </a:rPr>
              <a:t> 및 </a:t>
            </a:r>
            <a:r>
              <a:rPr sz="2400" b="1" dirty="0" err="1">
                <a:latin typeface="+mj-ea"/>
                <a:ea typeface="+mj-ea"/>
              </a:rPr>
              <a:t>운영</a:t>
            </a:r>
            <a:r>
              <a:rPr sz="2400" b="1" dirty="0">
                <a:latin typeface="+mj-ea"/>
                <a:ea typeface="+mj-ea"/>
              </a:rPr>
              <a:t> </a:t>
            </a:r>
            <a:r>
              <a:rPr sz="2400" b="1" dirty="0" err="1">
                <a:latin typeface="+mj-ea"/>
                <a:ea typeface="+mj-ea"/>
              </a:rPr>
              <a:t>제어</a:t>
            </a:r>
            <a:r>
              <a:rPr sz="2400" b="1" dirty="0">
                <a:latin typeface="+mj-ea"/>
                <a:ea typeface="+mj-ea"/>
              </a:rPr>
              <a:t> </a:t>
            </a:r>
            <a:r>
              <a:rPr sz="2400" b="1" dirty="0" err="1">
                <a:latin typeface="+mj-ea"/>
                <a:ea typeface="+mj-ea"/>
              </a:rPr>
              <a:t>흐름</a:t>
            </a:r>
            <a:endParaRPr sz="2400" b="1" dirty="0">
              <a:latin typeface="+mj-ea"/>
              <a:ea typeface="+mj-ea"/>
            </a:endParaRP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700"/>
              </a:spcAft>
              <a:defRPr sz="1100" b="0">
                <a:solidFill>
                  <a:srgbClr val="5F6A78"/>
                </a:solidFill>
                <a:latin typeface="Malgun Gothic"/>
              </a:defRPr>
            </a:pPr>
            <a:r>
              <a:t>BatchRunner의 핵심 연산 순서</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06</a:t>
            </a:r>
          </a:p>
        </p:txBody>
      </p:sp>
      <p:sp>
        <p:nvSpPr>
          <p:cNvPr id="7" name="Rounded Rectangle 6"/>
          <p:cNvSpPr/>
          <p:nvPr/>
        </p:nvSpPr>
        <p:spPr>
          <a:xfrm>
            <a:off x="640080" y="1874519"/>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40080" y="1874519"/>
            <a:ext cx="264033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19248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01</a:t>
            </a:r>
          </a:p>
        </p:txBody>
      </p:sp>
      <p:sp>
        <p:nvSpPr>
          <p:cNvPr id="10" name="TextBox 9"/>
          <p:cNvSpPr txBox="1"/>
          <p:nvPr/>
        </p:nvSpPr>
        <p:spPr>
          <a:xfrm>
            <a:off x="786384" y="2441448"/>
            <a:ext cx="2347722" cy="978407"/>
          </a:xfrm>
          <a:prstGeom prst="rect">
            <a:avLst/>
          </a:prstGeom>
          <a:noFill/>
        </p:spPr>
        <p:txBody>
          <a:bodyPr wrap="square" lIns="64008" tIns="36576" rIns="45720">
            <a:normAutofit/>
          </a:bodyPr>
          <a:lstStyle/>
          <a:p>
            <a:r>
              <a:rPr sz="1600"/>
              <a:t>inputs / targets → device</a:t>
            </a:r>
          </a:p>
          <a:p>
            <a:r>
              <a:rPr sz="1600"/>
              <a:t>중첩 dict · tuple · list 이동</a:t>
            </a:r>
          </a:p>
        </p:txBody>
      </p:sp>
      <p:sp>
        <p:nvSpPr>
          <p:cNvPr id="11" name="Rounded Rectangle 10"/>
          <p:cNvSpPr/>
          <p:nvPr/>
        </p:nvSpPr>
        <p:spPr>
          <a:xfrm>
            <a:off x="3417570" y="1874519"/>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417570" y="1874519"/>
            <a:ext cx="264033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27298" y="19248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02</a:t>
            </a:r>
          </a:p>
        </p:txBody>
      </p:sp>
      <p:sp>
        <p:nvSpPr>
          <p:cNvPr id="14" name="TextBox 13"/>
          <p:cNvSpPr txBox="1"/>
          <p:nvPr/>
        </p:nvSpPr>
        <p:spPr>
          <a:xfrm>
            <a:off x="3563874" y="24414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zero_grad()</a:t>
            </a:r>
          </a:p>
          <a:p>
            <a:pPr>
              <a:spcAft>
                <a:spcPts val="700"/>
              </a:spcAft>
              <a:defRPr sz="1200" b="0">
                <a:solidFill>
                  <a:srgbClr val="242D38"/>
                </a:solidFill>
                <a:latin typeface="Malgun Gothic"/>
              </a:defRPr>
            </a:pPr>
            <a:r>
              <a:t>Forward / Loss</a:t>
            </a:r>
          </a:p>
        </p:txBody>
      </p:sp>
      <p:sp>
        <p:nvSpPr>
          <p:cNvPr id="15" name="Rounded Rectangle 14"/>
          <p:cNvSpPr/>
          <p:nvPr/>
        </p:nvSpPr>
        <p:spPr>
          <a:xfrm>
            <a:off x="6195060" y="1874519"/>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195060" y="1874519"/>
            <a:ext cx="264033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4788" y="19248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03</a:t>
            </a:r>
          </a:p>
        </p:txBody>
      </p:sp>
      <p:sp>
        <p:nvSpPr>
          <p:cNvPr id="18" name="TextBox 17"/>
          <p:cNvSpPr txBox="1"/>
          <p:nvPr/>
        </p:nvSpPr>
        <p:spPr>
          <a:xfrm>
            <a:off x="6341364" y="24414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Backward</a:t>
            </a:r>
          </a:p>
          <a:p>
            <a:pPr>
              <a:spcAft>
                <a:spcPts val="700"/>
              </a:spcAft>
              <a:defRPr sz="1200" b="0">
                <a:solidFill>
                  <a:srgbClr val="242D38"/>
                </a:solidFill>
                <a:latin typeface="Malgun Gothic"/>
              </a:defRPr>
            </a:pPr>
            <a:r>
              <a:t>optimizer.step()</a:t>
            </a:r>
          </a:p>
        </p:txBody>
      </p:sp>
      <p:sp>
        <p:nvSpPr>
          <p:cNvPr id="19" name="Rounded Rectangle 18"/>
          <p:cNvSpPr/>
          <p:nvPr/>
        </p:nvSpPr>
        <p:spPr>
          <a:xfrm>
            <a:off x="8972550" y="1874519"/>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972550" y="1874519"/>
            <a:ext cx="264033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2278" y="19248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04</a:t>
            </a:r>
          </a:p>
        </p:txBody>
      </p:sp>
      <p:sp>
        <p:nvSpPr>
          <p:cNvPr id="22" name="TextBox 21"/>
          <p:cNvSpPr txBox="1"/>
          <p:nvPr/>
        </p:nvSpPr>
        <p:spPr>
          <a:xfrm>
            <a:off x="9118854" y="24414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Accuracy</a:t>
            </a:r>
          </a:p>
          <a:p>
            <a:pPr>
              <a:spcAft>
                <a:spcPts val="700"/>
              </a:spcAft>
              <a:defRPr sz="1200" b="0">
                <a:solidFill>
                  <a:srgbClr val="242D38"/>
                </a:solidFill>
                <a:latin typeface="Malgun Gothic"/>
              </a:defRPr>
            </a:pPr>
            <a:r>
              <a:t>Train / Validation</a:t>
            </a:r>
          </a:p>
        </p:txBody>
      </p:sp>
      <p:sp>
        <p:nvSpPr>
          <p:cNvPr id="23" name="Rounded Rectangle 22"/>
          <p:cNvSpPr/>
          <p:nvPr/>
        </p:nvSpPr>
        <p:spPr>
          <a:xfrm>
            <a:off x="822960" y="3977639"/>
            <a:ext cx="5138928" cy="1527048"/>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22960" y="3977639"/>
            <a:ext cx="5138928"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2688" y="4027931"/>
            <a:ext cx="4919472"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TRAINING CONTROL</a:t>
            </a:r>
          </a:p>
        </p:txBody>
      </p:sp>
      <p:sp>
        <p:nvSpPr>
          <p:cNvPr id="26" name="TextBox 25"/>
          <p:cNvSpPr txBox="1"/>
          <p:nvPr/>
        </p:nvSpPr>
        <p:spPr>
          <a:xfrm>
            <a:off x="969264" y="4544568"/>
            <a:ext cx="4846320" cy="905255"/>
          </a:xfrm>
          <a:prstGeom prst="rect">
            <a:avLst/>
          </a:prstGeom>
          <a:noFill/>
        </p:spPr>
        <p:txBody>
          <a:bodyPr wrap="square" lIns="64008" tIns="36576" rIns="45720">
            <a:normAutofit/>
          </a:bodyPr>
          <a:lstStyle/>
          <a:p>
            <a:pPr>
              <a:spcAft>
                <a:spcPts val="700"/>
              </a:spcAft>
              <a:defRPr sz="1400" b="0">
                <a:solidFill>
                  <a:srgbClr val="242D38"/>
                </a:solidFill>
                <a:latin typeface="Malgun Gothic"/>
              </a:defRPr>
            </a:pPr>
            <a:r>
              <a:t>Best checkpoint 저장·복원  /  EarlyStopping</a:t>
            </a:r>
          </a:p>
        </p:txBody>
      </p:sp>
      <p:sp>
        <p:nvSpPr>
          <p:cNvPr id="27" name="Rounded Rectangle 26"/>
          <p:cNvSpPr/>
          <p:nvPr/>
        </p:nvSpPr>
        <p:spPr>
          <a:xfrm>
            <a:off x="6126480" y="3977639"/>
            <a:ext cx="5138928" cy="1527048"/>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126480" y="3977639"/>
            <a:ext cx="5138928"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36208" y="4027931"/>
            <a:ext cx="4919472"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MODEL DIAGNOSTICS</a:t>
            </a:r>
          </a:p>
        </p:txBody>
      </p:sp>
      <p:sp>
        <p:nvSpPr>
          <p:cNvPr id="30" name="TextBox 29"/>
          <p:cNvSpPr txBox="1"/>
          <p:nvPr/>
        </p:nvSpPr>
        <p:spPr>
          <a:xfrm>
            <a:off x="6272784" y="4544568"/>
            <a:ext cx="4846320" cy="905255"/>
          </a:xfrm>
          <a:prstGeom prst="rect">
            <a:avLst/>
          </a:prstGeom>
          <a:noFill/>
        </p:spPr>
        <p:txBody>
          <a:bodyPr wrap="square" lIns="64008" tIns="36576" rIns="45720">
            <a:normAutofit/>
          </a:bodyPr>
          <a:lstStyle/>
          <a:p>
            <a:pPr>
              <a:spcAft>
                <a:spcPts val="400"/>
              </a:spcAft>
            </a:pPr>
            <a:r>
              <a:rPr sz="1600"/>
              <a:t>ModelAnalyzer · TransformerModelAnalyzer</a:t>
            </a:r>
          </a:p>
          <a:p>
            <a:pPr>
              <a:spcAft>
                <a:spcPts val="400"/>
              </a:spcAft>
            </a:pPr>
            <a:r>
              <a:rPr sz="1600"/>
              <a:t>WeightInspector · DeviceProfiler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437043"/>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t>01. deep-learning-core | Model Diagnostics</a:t>
            </a: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400"/>
              </a:spcAft>
            </a:pPr>
            <a:r>
              <a:rPr sz="1200"/>
              <a:t>구현: Recursive Layer Resolution · Inspector 자동 등록 · Neuron-Level Weight Diagnostics</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07</a:t>
            </a:r>
          </a:p>
        </p:txBody>
      </p:sp>
      <p:sp>
        <p:nvSpPr>
          <p:cNvPr id="7" name="Rounded Rectangle 6"/>
          <p:cNvSpPr/>
          <p:nvPr/>
        </p:nvSpPr>
        <p:spPr>
          <a:xfrm>
            <a:off x="640080" y="2103120"/>
            <a:ext cx="2640330" cy="2181352"/>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40080" y="2103120"/>
            <a:ext cx="264033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1534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LAYER STRUCTURE</a:t>
            </a:r>
          </a:p>
        </p:txBody>
      </p:sp>
      <p:sp>
        <p:nvSpPr>
          <p:cNvPr id="10" name="TextBox 9"/>
          <p:cNvSpPr txBox="1"/>
          <p:nvPr/>
        </p:nvSpPr>
        <p:spPr>
          <a:xfrm>
            <a:off x="786384" y="2670048"/>
            <a:ext cx="2347722" cy="1287272"/>
          </a:xfrm>
          <a:prstGeom prst="rect">
            <a:avLst/>
          </a:prstGeom>
          <a:noFill/>
        </p:spPr>
        <p:txBody>
          <a:bodyPr wrap="square" lIns="64008" tIns="36576" rIns="45720">
            <a:normAutofit fontScale="92500" lnSpcReduction="10000"/>
          </a:bodyPr>
          <a:lstStyle/>
          <a:p>
            <a:pPr>
              <a:spcAft>
                <a:spcPts val="400"/>
              </a:spcAft>
            </a:pPr>
            <a:r>
              <a:rPr sz="1500"/>
              <a:t>Nested nn.Sequential</a:t>
            </a:r>
          </a:p>
          <a:p>
            <a:pPr>
              <a:spcAft>
                <a:spcPts val="400"/>
              </a:spcAft>
            </a:pPr>
            <a:r>
              <a:rPr sz="1500"/>
              <a:t>Primary Layer / Stage</a:t>
            </a:r>
          </a:p>
          <a:p>
            <a:pPr>
              <a:spcAft>
                <a:spcPts val="400"/>
              </a:spcAft>
            </a:pPr>
            <a:r>
              <a:rPr sz="1500"/>
              <a:t>Qualified Layer Names</a:t>
            </a:r>
          </a:p>
          <a:p>
            <a:pPr>
              <a:spcAft>
                <a:spcPts val="400"/>
              </a:spcAft>
            </a:pPr>
            <a:r>
              <a:rPr sz="1500"/>
              <a:t>Recursive Resolution</a:t>
            </a:r>
          </a:p>
        </p:txBody>
      </p:sp>
      <p:sp>
        <p:nvSpPr>
          <p:cNvPr id="11" name="Rounded Rectangle 10"/>
          <p:cNvSpPr/>
          <p:nvPr/>
        </p:nvSpPr>
        <p:spPr>
          <a:xfrm>
            <a:off x="3417570" y="2103119"/>
            <a:ext cx="2640330" cy="2181351"/>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417570" y="2103120"/>
            <a:ext cx="264033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27298" y="21534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TENSOR STATISTICS</a:t>
            </a:r>
          </a:p>
        </p:txBody>
      </p:sp>
      <p:sp>
        <p:nvSpPr>
          <p:cNvPr id="14" name="TextBox 13"/>
          <p:cNvSpPr txBox="1"/>
          <p:nvPr/>
        </p:nvSpPr>
        <p:spPr>
          <a:xfrm>
            <a:off x="3563874" y="2670048"/>
            <a:ext cx="2347722" cy="978407"/>
          </a:xfrm>
          <a:prstGeom prst="rect">
            <a:avLst/>
          </a:prstGeom>
          <a:noFill/>
        </p:spPr>
        <p:txBody>
          <a:bodyPr wrap="square" lIns="64008" tIns="36576" rIns="45720">
            <a:normAutofit/>
          </a:bodyPr>
          <a:lstStyle/>
          <a:p>
            <a:pPr>
              <a:spcAft>
                <a:spcPts val="400"/>
              </a:spcAft>
            </a:pPr>
            <a:r>
              <a:rPr sz="1500"/>
              <a:t>Mean / Std · L1 / L2</a:t>
            </a:r>
          </a:p>
          <a:p>
            <a:pPr>
              <a:spcAft>
                <a:spcPts val="400"/>
              </a:spcAft>
            </a:pPr>
            <a:r>
              <a:rPr sz="1500"/>
              <a:t>Zero / Positive / Negative Ratio</a:t>
            </a:r>
          </a:p>
          <a:p>
            <a:pPr>
              <a:spcAft>
                <a:spcPts val="400"/>
              </a:spcAft>
            </a:pPr>
            <a:r>
              <a:rPr sz="1500"/>
              <a:t>NaN / Inf · Min / Max</a:t>
            </a:r>
          </a:p>
        </p:txBody>
      </p:sp>
      <p:sp>
        <p:nvSpPr>
          <p:cNvPr id="15" name="Rounded Rectangle 14"/>
          <p:cNvSpPr/>
          <p:nvPr/>
        </p:nvSpPr>
        <p:spPr>
          <a:xfrm>
            <a:off x="6195060" y="2103120"/>
            <a:ext cx="2640330" cy="218135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195060" y="2103120"/>
            <a:ext cx="264033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4788" y="215341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WEIGHT DIAGNOSTIC</a:t>
            </a:r>
          </a:p>
        </p:txBody>
      </p:sp>
      <p:sp>
        <p:nvSpPr>
          <p:cNvPr id="18" name="TextBox 17"/>
          <p:cNvSpPr txBox="1"/>
          <p:nvPr/>
        </p:nvSpPr>
        <p:spPr>
          <a:xfrm>
            <a:off x="6341364" y="2670048"/>
            <a:ext cx="2347722" cy="978407"/>
          </a:xfrm>
          <a:prstGeom prst="rect">
            <a:avLst/>
          </a:prstGeom>
          <a:noFill/>
        </p:spPr>
        <p:txBody>
          <a:bodyPr wrap="square" lIns="64008" tIns="36576" rIns="45720">
            <a:normAutofit lnSpcReduction="10000"/>
          </a:bodyPr>
          <a:lstStyle/>
          <a:p>
            <a:pPr>
              <a:spcAft>
                <a:spcPts val="400"/>
              </a:spcAft>
            </a:pPr>
            <a:r>
              <a:rPr sz="1500"/>
              <a:t>All-Zero / Constant</a:t>
            </a:r>
          </a:p>
          <a:p>
            <a:pPr>
              <a:spcAft>
                <a:spcPts val="400"/>
              </a:spcAft>
            </a:pPr>
            <a:r>
              <a:rPr sz="1500"/>
              <a:t>Small / Large Threshold</a:t>
            </a:r>
          </a:p>
          <a:p>
            <a:pPr>
              <a:spcAft>
                <a:spcPts val="400"/>
              </a:spcAft>
            </a:pPr>
            <a:r>
              <a:rPr sz="1500"/>
              <a:t>Neuron Similarity</a:t>
            </a:r>
          </a:p>
          <a:p>
            <a:pPr>
              <a:spcAft>
                <a:spcPts val="400"/>
              </a:spcAft>
            </a:pPr>
            <a:r>
              <a:rPr sz="1500"/>
              <a:t>Input Contribution</a:t>
            </a:r>
          </a:p>
        </p:txBody>
      </p:sp>
      <p:sp>
        <p:nvSpPr>
          <p:cNvPr id="19" name="Rounded Rectangle 18"/>
          <p:cNvSpPr/>
          <p:nvPr/>
        </p:nvSpPr>
        <p:spPr>
          <a:xfrm>
            <a:off x="8972550" y="2103120"/>
            <a:ext cx="2640330" cy="2181352"/>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972550" y="2103120"/>
            <a:ext cx="264033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2278" y="2153412"/>
            <a:ext cx="2420874" cy="320040"/>
          </a:xfrm>
          <a:prstGeom prst="rect">
            <a:avLst/>
          </a:prstGeom>
          <a:noFill/>
        </p:spPr>
        <p:txBody>
          <a:bodyPr wrap="square" lIns="64008" tIns="0" rIns="45720" bIns="0">
            <a:normAutofit/>
          </a:bodyPr>
          <a:lstStyle/>
          <a:p>
            <a:pPr>
              <a:spcAft>
                <a:spcPts val="400"/>
              </a:spcAft>
            </a:pPr>
            <a:r>
              <a:rPr sz="1500" b="1"/>
              <a:t>NEURON-LEVEL INSPECTION</a:t>
            </a:r>
          </a:p>
        </p:txBody>
      </p:sp>
      <p:sp>
        <p:nvSpPr>
          <p:cNvPr id="22" name="TextBox 21"/>
          <p:cNvSpPr txBox="1"/>
          <p:nvPr/>
        </p:nvSpPr>
        <p:spPr>
          <a:xfrm>
            <a:off x="9118854" y="2670048"/>
            <a:ext cx="2347722" cy="1083564"/>
          </a:xfrm>
          <a:prstGeom prst="rect">
            <a:avLst/>
          </a:prstGeom>
          <a:noFill/>
        </p:spPr>
        <p:txBody>
          <a:bodyPr wrap="square" lIns="64008" tIns="36576" rIns="45720">
            <a:normAutofit fontScale="85000" lnSpcReduction="10000"/>
          </a:bodyPr>
          <a:lstStyle/>
          <a:p>
            <a:pPr>
              <a:spcAft>
                <a:spcPts val="400"/>
              </a:spcAft>
            </a:pPr>
            <a:r>
              <a:rPr sz="1500"/>
              <a:t>Inspector Registry</a:t>
            </a:r>
          </a:p>
          <a:p>
            <a:pPr>
              <a:spcAft>
                <a:spcPts val="400"/>
              </a:spcAft>
            </a:pPr>
            <a:r>
              <a:rPr sz="1500"/>
              <a:t>inspect_neuron()</a:t>
            </a:r>
          </a:p>
          <a:p>
            <a:pPr>
              <a:spcAft>
                <a:spcPts val="400"/>
              </a:spcAft>
            </a:pPr>
            <a:r>
              <a:rPr sz="1500"/>
              <a:t>get_problem_neurons()</a:t>
            </a:r>
          </a:p>
          <a:p>
            <a:pPr>
              <a:spcAft>
                <a:spcPts val="400"/>
              </a:spcAft>
            </a:pPr>
            <a:r>
              <a:rPr sz="1500"/>
              <a:t>Layer / Neuron Index</a:t>
            </a:r>
          </a:p>
        </p:txBody>
      </p:sp>
      <p:sp>
        <p:nvSpPr>
          <p:cNvPr id="23" name="Rounded Rectangle 22"/>
          <p:cNvSpPr/>
          <p:nvPr/>
        </p:nvSpPr>
        <p:spPr>
          <a:xfrm>
            <a:off x="667512" y="4761992"/>
            <a:ext cx="10561320" cy="1207008"/>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8972" y="5157216"/>
            <a:ext cx="10058400" cy="576072"/>
          </a:xfrm>
          <a:prstGeom prst="rect">
            <a:avLst/>
          </a:prstGeom>
          <a:noFill/>
        </p:spPr>
        <p:txBody>
          <a:bodyPr wrap="square" lIns="64008" tIns="36576" rIns="45720">
            <a:normAutofit/>
          </a:bodyPr>
          <a:lstStyle/>
          <a:p>
            <a:pPr>
              <a:spcAft>
                <a:spcPts val="400"/>
              </a:spcAft>
            </a:pPr>
            <a:r>
              <a:rPr sz="1700" b="1">
                <a:solidFill>
                  <a:srgbClr val="1D3759"/>
                </a:solidFill>
              </a:rPr>
              <a:t>Layer 탐색 → Inspector 등록 → 뉴런별 Weight 통계 → 조건 기반 문제 탐지</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01168"/>
            <a:ext cx="9144000" cy="228600"/>
          </a:xfrm>
          <a:prstGeom prst="rect">
            <a:avLst/>
          </a:prstGeom>
          <a:noFill/>
        </p:spPr>
        <p:txBody>
          <a:bodyPr wrap="none">
            <a:spAutoFit/>
          </a:bodyPr>
          <a:lstStyle/>
          <a:p>
            <a:pPr>
              <a:spcAft>
                <a:spcPts val="400"/>
              </a:spcAft>
            </a:pPr>
            <a:r>
              <a:rPr sz="1000">
                <a:solidFill>
                  <a:srgbClr val="317E52"/>
                </a:solidFill>
              </a:rPr>
              <a:t>AI SOFTWARE ENGINEERING</a:t>
            </a:r>
          </a:p>
        </p:txBody>
      </p:sp>
      <p:sp>
        <p:nvSpPr>
          <p:cNvPr id="3" name="Rectangle 2"/>
          <p:cNvSpPr/>
          <p:nvPr/>
        </p:nvSpPr>
        <p:spPr>
          <a:xfrm>
            <a:off x="640080" y="521207"/>
            <a:ext cx="10972800" cy="16459"/>
          </a:xfrm>
          <a:prstGeom prst="rect">
            <a:avLst/>
          </a:prstGeom>
          <a:solidFill>
            <a:srgbClr val="317E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713232"/>
            <a:ext cx="10972800" cy="502920"/>
          </a:xfrm>
          <a:prstGeom prst="rect">
            <a:avLst/>
          </a:prstGeom>
          <a:noFill/>
        </p:spPr>
        <p:txBody>
          <a:bodyPr wrap="none">
            <a:spAutoFit/>
          </a:bodyPr>
          <a:lstStyle/>
          <a:p>
            <a:pPr>
              <a:spcAft>
                <a:spcPts val="400"/>
              </a:spcAft>
            </a:pPr>
            <a:r>
              <a:rPr sz="2500" b="1">
                <a:solidFill>
                  <a:srgbClr val="1D3759"/>
                </a:solidFill>
              </a:rPr>
              <a:t>01. deep-learning-core | Layer Inspector Architecture</a:t>
            </a:r>
          </a:p>
        </p:txBody>
      </p:sp>
      <p:sp>
        <p:nvSpPr>
          <p:cNvPr id="5" name="TextBox 4"/>
          <p:cNvSpPr txBox="1"/>
          <p:nvPr/>
        </p:nvSpPr>
        <p:spPr>
          <a:xfrm>
            <a:off x="640080" y="1353312"/>
            <a:ext cx="10972800" cy="320040"/>
          </a:xfrm>
          <a:prstGeom prst="rect">
            <a:avLst/>
          </a:prstGeom>
          <a:noFill/>
        </p:spPr>
        <p:txBody>
          <a:bodyPr wrap="none">
            <a:spAutoFit/>
          </a:bodyPr>
          <a:lstStyle/>
          <a:p>
            <a:pPr>
              <a:spcAft>
                <a:spcPts val="400"/>
              </a:spcAft>
            </a:pPr>
            <a:r>
              <a:rPr sz="1200">
                <a:solidFill>
                  <a:srgbClr val="5A626E"/>
                </a:solidFill>
              </a:rPr>
              <a:t>확장 가능한 Inspector 등록과 뉴런 단위 진단의 책임 분리</a:t>
            </a:r>
          </a:p>
        </p:txBody>
      </p:sp>
      <p:sp>
        <p:nvSpPr>
          <p:cNvPr id="6" name="Rounded Rectangle 5"/>
          <p:cNvSpPr/>
          <p:nvPr/>
        </p:nvSpPr>
        <p:spPr>
          <a:xfrm>
            <a:off x="685800" y="1901952"/>
            <a:ext cx="2578608" cy="2240280"/>
          </a:xfrm>
          <a:prstGeom prst="roundRect">
            <a:avLst/>
          </a:prstGeom>
          <a:solidFill>
            <a:srgbClr val="FAFAFC"/>
          </a:solidFill>
          <a:ln>
            <a:solidFill>
              <a:srgbClr val="DBDFE6"/>
            </a:solid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endParaRPr/>
          </a:p>
        </p:txBody>
      </p:sp>
      <p:sp>
        <p:nvSpPr>
          <p:cNvPr id="7" name="Rounded Rectangle 6"/>
          <p:cNvSpPr/>
          <p:nvPr/>
        </p:nvSpPr>
        <p:spPr>
          <a:xfrm>
            <a:off x="685800" y="1901952"/>
            <a:ext cx="2578608" cy="438912"/>
          </a:xfrm>
          <a:prstGeom prst="roundRect">
            <a:avLst/>
          </a:prstGeom>
          <a:solidFill>
            <a:srgbClr val="2E56B8"/>
          </a:solidFill>
          <a:ln>
            <a:no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r>
              <a:rPr sz="1300" b="1">
                <a:solidFill>
                  <a:srgbClr val="FFFFFF"/>
                </a:solidFill>
                <a:latin typeface="Malgun Gothic"/>
              </a:rPr>
              <a:t>01  RESOLVE</a:t>
            </a:r>
          </a:p>
        </p:txBody>
      </p:sp>
      <p:sp>
        <p:nvSpPr>
          <p:cNvPr id="8" name="TextBox 7"/>
          <p:cNvSpPr txBox="1"/>
          <p:nvPr/>
        </p:nvSpPr>
        <p:spPr>
          <a:xfrm>
            <a:off x="832104" y="2505456"/>
            <a:ext cx="2304288" cy="1554480"/>
          </a:xfrm>
          <a:prstGeom prst="rect">
            <a:avLst/>
          </a:prstGeom>
          <a:noFill/>
        </p:spPr>
        <p:txBody>
          <a:bodyPr wrap="square">
            <a:spAutoFit/>
          </a:bodyPr>
          <a:lstStyle/>
          <a:p>
            <a:pPr>
              <a:spcAft>
                <a:spcPts val="1000"/>
              </a:spcAft>
            </a:pPr>
            <a:r>
              <a:rPr sz="1400">
                <a:solidFill>
                  <a:srgbClr val="1D3759"/>
                </a:solidFill>
                <a:latin typeface="Malgun Gothic"/>
              </a:rPr>
              <a:t>nn.Sequential</a:t>
            </a:r>
          </a:p>
          <a:p>
            <a:pPr>
              <a:spcAft>
                <a:spcPts val="1000"/>
              </a:spcAft>
            </a:pPr>
            <a:r>
              <a:rPr sz="1400">
                <a:solidFill>
                  <a:srgbClr val="1D3759"/>
                </a:solidFill>
                <a:latin typeface="Malgun Gothic"/>
              </a:rPr>
              <a:t>↓</a:t>
            </a:r>
          </a:p>
          <a:p>
            <a:pPr>
              <a:spcAft>
                <a:spcPts val="1000"/>
              </a:spcAft>
            </a:pPr>
            <a:r>
              <a:rPr sz="1400">
                <a:solidFill>
                  <a:srgbClr val="1D3759"/>
                </a:solidFill>
                <a:latin typeface="Malgun Gothic"/>
              </a:rPr>
              <a:t>SequentialLayerResolver</a:t>
            </a:r>
          </a:p>
          <a:p>
            <a:pPr>
              <a:spcAft>
                <a:spcPts val="1000"/>
              </a:spcAft>
            </a:pPr>
            <a:r>
              <a:rPr sz="1400">
                <a:solidFill>
                  <a:srgbClr val="1D3759"/>
                </a:solidFill>
                <a:latin typeface="Malgun Gothic"/>
              </a:rPr>
              <a:t>↓</a:t>
            </a:r>
          </a:p>
          <a:p>
            <a:pPr>
              <a:spcAft>
                <a:spcPts val="1000"/>
              </a:spcAft>
            </a:pPr>
            <a:r>
              <a:rPr sz="1400">
                <a:solidFill>
                  <a:srgbClr val="1D3759"/>
                </a:solidFill>
                <a:latin typeface="Malgun Gothic"/>
              </a:rPr>
              <a:t>LayerDefinition</a:t>
            </a:r>
          </a:p>
        </p:txBody>
      </p:sp>
      <p:sp>
        <p:nvSpPr>
          <p:cNvPr id="9" name="Rounded Rectangle 8"/>
          <p:cNvSpPr/>
          <p:nvPr/>
        </p:nvSpPr>
        <p:spPr>
          <a:xfrm>
            <a:off x="3429000" y="1901952"/>
            <a:ext cx="2578608" cy="2240280"/>
          </a:xfrm>
          <a:prstGeom prst="roundRect">
            <a:avLst/>
          </a:prstGeom>
          <a:solidFill>
            <a:srgbClr val="FAFAFC"/>
          </a:solidFill>
          <a:ln>
            <a:solidFill>
              <a:srgbClr val="DBDFE6"/>
            </a:solid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endParaRPr/>
          </a:p>
        </p:txBody>
      </p:sp>
      <p:sp>
        <p:nvSpPr>
          <p:cNvPr id="10" name="Rounded Rectangle 9"/>
          <p:cNvSpPr/>
          <p:nvPr/>
        </p:nvSpPr>
        <p:spPr>
          <a:xfrm>
            <a:off x="3429000" y="1901952"/>
            <a:ext cx="2578608" cy="438912"/>
          </a:xfrm>
          <a:prstGeom prst="roundRect">
            <a:avLst/>
          </a:prstGeom>
          <a:solidFill>
            <a:srgbClr val="317E52"/>
          </a:solidFill>
          <a:ln>
            <a:no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r>
              <a:rPr sz="1300" b="1">
                <a:solidFill>
                  <a:srgbClr val="FFFFFF"/>
                </a:solidFill>
                <a:latin typeface="Malgun Gothic"/>
              </a:rPr>
              <a:t>02  REGISTER</a:t>
            </a:r>
          </a:p>
        </p:txBody>
      </p:sp>
      <p:sp>
        <p:nvSpPr>
          <p:cNvPr id="11" name="TextBox 10"/>
          <p:cNvSpPr txBox="1"/>
          <p:nvPr/>
        </p:nvSpPr>
        <p:spPr>
          <a:xfrm>
            <a:off x="3575304" y="2505456"/>
            <a:ext cx="2304288" cy="1554480"/>
          </a:xfrm>
          <a:prstGeom prst="rect">
            <a:avLst/>
          </a:prstGeom>
          <a:noFill/>
        </p:spPr>
        <p:txBody>
          <a:bodyPr wrap="square">
            <a:spAutoFit/>
          </a:bodyPr>
          <a:lstStyle/>
          <a:p>
            <a:pPr>
              <a:spcAft>
                <a:spcPts val="1000"/>
              </a:spcAft>
            </a:pPr>
            <a:r>
              <a:rPr sz="1400">
                <a:solidFill>
                  <a:srgbClr val="1D3759"/>
                </a:solidFill>
                <a:latin typeface="Malgun Gothic"/>
              </a:rPr>
              <a:t>LayerInspectorFactory</a:t>
            </a:r>
          </a:p>
          <a:p>
            <a:pPr>
              <a:spcAft>
                <a:spcPts val="1000"/>
              </a:spcAft>
            </a:pPr>
            <a:r>
              <a:rPr sz="1400">
                <a:solidFill>
                  <a:srgbClr val="1D3759"/>
                </a:solidFill>
                <a:latin typeface="Malgun Gothic"/>
              </a:rPr>
              <a:t>↓</a:t>
            </a:r>
          </a:p>
          <a:p>
            <a:pPr>
              <a:spcAft>
                <a:spcPts val="1000"/>
              </a:spcAft>
            </a:pPr>
            <a:r>
              <a:rPr sz="1400">
                <a:solidFill>
                  <a:srgbClr val="1D3759"/>
                </a:solidFill>
                <a:latin typeface="Malgun Gothic"/>
              </a:rPr>
              <a:t>LayerInspectorRegistry</a:t>
            </a:r>
          </a:p>
          <a:p>
            <a:pPr>
              <a:spcAft>
                <a:spcPts val="1000"/>
              </a:spcAft>
            </a:pPr>
            <a:r>
              <a:rPr sz="1400">
                <a:solidFill>
                  <a:srgbClr val="1D3759"/>
                </a:solidFill>
                <a:latin typeface="Malgun Gothic"/>
              </a:rPr>
              <a:t>↓</a:t>
            </a:r>
          </a:p>
          <a:p>
            <a:pPr>
              <a:spcAft>
                <a:spcPts val="1000"/>
              </a:spcAft>
            </a:pPr>
            <a:r>
              <a:rPr sz="1400">
                <a:solidFill>
                  <a:srgbClr val="1D3759"/>
                </a:solidFill>
                <a:latin typeface="Malgun Gothic"/>
              </a:rPr>
              <a:t>Supported Inspectors</a:t>
            </a:r>
          </a:p>
        </p:txBody>
      </p:sp>
      <p:sp>
        <p:nvSpPr>
          <p:cNvPr id="12" name="Rounded Rectangle 11"/>
          <p:cNvSpPr/>
          <p:nvPr/>
        </p:nvSpPr>
        <p:spPr>
          <a:xfrm>
            <a:off x="6172200" y="1901952"/>
            <a:ext cx="2578608" cy="2240280"/>
          </a:xfrm>
          <a:prstGeom prst="roundRect">
            <a:avLst/>
          </a:prstGeom>
          <a:solidFill>
            <a:srgbClr val="FAFAFC"/>
          </a:solidFill>
          <a:ln>
            <a:solidFill>
              <a:srgbClr val="DBDFE6"/>
            </a:solid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endParaRPr/>
          </a:p>
        </p:txBody>
      </p:sp>
      <p:sp>
        <p:nvSpPr>
          <p:cNvPr id="13" name="Rounded Rectangle 12"/>
          <p:cNvSpPr/>
          <p:nvPr/>
        </p:nvSpPr>
        <p:spPr>
          <a:xfrm>
            <a:off x="6172200" y="1901952"/>
            <a:ext cx="2578608" cy="438912"/>
          </a:xfrm>
          <a:prstGeom prst="roundRect">
            <a:avLst/>
          </a:prstGeom>
          <a:solidFill>
            <a:srgbClr val="6F4B9F"/>
          </a:solidFill>
          <a:ln>
            <a:no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r>
              <a:rPr sz="1300" b="1">
                <a:solidFill>
                  <a:srgbClr val="FFFFFF"/>
                </a:solidFill>
                <a:latin typeface="Malgun Gothic"/>
              </a:rPr>
              <a:t>03  INSPECT</a:t>
            </a:r>
          </a:p>
        </p:txBody>
      </p:sp>
      <p:sp>
        <p:nvSpPr>
          <p:cNvPr id="14" name="TextBox 13"/>
          <p:cNvSpPr txBox="1"/>
          <p:nvPr/>
        </p:nvSpPr>
        <p:spPr>
          <a:xfrm>
            <a:off x="6318504" y="2505456"/>
            <a:ext cx="2304288" cy="1554480"/>
          </a:xfrm>
          <a:prstGeom prst="rect">
            <a:avLst/>
          </a:prstGeom>
          <a:noFill/>
        </p:spPr>
        <p:txBody>
          <a:bodyPr wrap="square">
            <a:spAutoFit/>
          </a:bodyPr>
          <a:lstStyle/>
          <a:p>
            <a:pPr>
              <a:spcAft>
                <a:spcPts val="1000"/>
              </a:spcAft>
            </a:pPr>
            <a:r>
              <a:rPr sz="1400">
                <a:solidFill>
                  <a:srgbClr val="1D3759"/>
                </a:solidFill>
                <a:latin typeface="Malgun Gothic"/>
              </a:rPr>
              <a:t>SequentialLayerInspector</a:t>
            </a:r>
          </a:p>
          <a:p>
            <a:pPr>
              <a:spcAft>
                <a:spcPts val="1000"/>
              </a:spcAft>
            </a:pPr>
            <a:r>
              <a:rPr sz="1400">
                <a:solidFill>
                  <a:srgbClr val="1D3759"/>
                </a:solidFill>
                <a:latin typeface="Malgun Gothic"/>
              </a:rPr>
              <a:t>↓</a:t>
            </a:r>
          </a:p>
          <a:p>
            <a:pPr>
              <a:spcAft>
                <a:spcPts val="1000"/>
              </a:spcAft>
            </a:pPr>
            <a:r>
              <a:rPr sz="1400">
                <a:solidFill>
                  <a:srgbClr val="1D3759"/>
                </a:solidFill>
                <a:latin typeface="Malgun Gothic"/>
              </a:rPr>
              <a:t>OutputWeightInspector</a:t>
            </a:r>
          </a:p>
          <a:p>
            <a:pPr>
              <a:spcAft>
                <a:spcPts val="1000"/>
              </a:spcAft>
            </a:pPr>
            <a:r>
              <a:rPr sz="1400">
                <a:solidFill>
                  <a:srgbClr val="1D3759"/>
                </a:solidFill>
                <a:latin typeface="Malgun Gothic"/>
              </a:rPr>
              <a:t>↓</a:t>
            </a:r>
          </a:p>
          <a:p>
            <a:pPr>
              <a:spcAft>
                <a:spcPts val="1000"/>
              </a:spcAft>
            </a:pPr>
            <a:r>
              <a:rPr sz="1400">
                <a:solidFill>
                  <a:srgbClr val="1D3759"/>
                </a:solidFill>
                <a:latin typeface="Malgun Gothic"/>
              </a:rPr>
              <a:t>Neuron Selection</a:t>
            </a:r>
          </a:p>
        </p:txBody>
      </p:sp>
      <p:sp>
        <p:nvSpPr>
          <p:cNvPr id="15" name="Rounded Rectangle 14"/>
          <p:cNvSpPr/>
          <p:nvPr/>
        </p:nvSpPr>
        <p:spPr>
          <a:xfrm>
            <a:off x="8915400" y="1901952"/>
            <a:ext cx="2578608" cy="2240280"/>
          </a:xfrm>
          <a:prstGeom prst="roundRect">
            <a:avLst/>
          </a:prstGeom>
          <a:solidFill>
            <a:srgbClr val="FAFAFC"/>
          </a:solidFill>
          <a:ln>
            <a:solidFill>
              <a:srgbClr val="DBDFE6"/>
            </a:solid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endParaRPr/>
          </a:p>
        </p:txBody>
      </p:sp>
      <p:sp>
        <p:nvSpPr>
          <p:cNvPr id="16" name="Rounded Rectangle 15"/>
          <p:cNvSpPr/>
          <p:nvPr/>
        </p:nvSpPr>
        <p:spPr>
          <a:xfrm>
            <a:off x="8915400" y="1901952"/>
            <a:ext cx="2578608" cy="438912"/>
          </a:xfrm>
          <a:prstGeom prst="roundRect">
            <a:avLst/>
          </a:prstGeom>
          <a:solidFill>
            <a:srgbClr val="C36C2A"/>
          </a:solidFill>
          <a:ln>
            <a:no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r>
              <a:rPr sz="1300" b="1">
                <a:solidFill>
                  <a:srgbClr val="FFFFFF"/>
                </a:solidFill>
                <a:latin typeface="Malgun Gothic"/>
              </a:rPr>
              <a:t>04  DIAGNOSE</a:t>
            </a:r>
          </a:p>
        </p:txBody>
      </p:sp>
      <p:sp>
        <p:nvSpPr>
          <p:cNvPr id="17" name="TextBox 16"/>
          <p:cNvSpPr txBox="1"/>
          <p:nvPr/>
        </p:nvSpPr>
        <p:spPr>
          <a:xfrm>
            <a:off x="9061704" y="2505456"/>
            <a:ext cx="2304288" cy="1554480"/>
          </a:xfrm>
          <a:prstGeom prst="rect">
            <a:avLst/>
          </a:prstGeom>
          <a:noFill/>
        </p:spPr>
        <p:txBody>
          <a:bodyPr wrap="square">
            <a:spAutoFit/>
          </a:bodyPr>
          <a:lstStyle/>
          <a:p>
            <a:pPr>
              <a:spcAft>
                <a:spcPts val="1000"/>
              </a:spcAft>
            </a:pPr>
            <a:r>
              <a:rPr sz="1400">
                <a:solidFill>
                  <a:srgbClr val="1D3759"/>
                </a:solidFill>
                <a:latin typeface="Malgun Gothic"/>
              </a:rPr>
              <a:t>TensorStatistics</a:t>
            </a:r>
          </a:p>
          <a:p>
            <a:pPr>
              <a:spcAft>
                <a:spcPts val="1000"/>
              </a:spcAft>
            </a:pPr>
            <a:r>
              <a:rPr sz="1400">
                <a:solidFill>
                  <a:srgbClr val="1D3759"/>
                </a:solidFill>
                <a:latin typeface="Malgun Gothic"/>
              </a:rPr>
              <a:t>+ WeightDiagnostic</a:t>
            </a:r>
          </a:p>
          <a:p>
            <a:pPr>
              <a:spcAft>
                <a:spcPts val="1000"/>
              </a:spcAft>
            </a:pPr>
            <a:r>
              <a:rPr sz="1400">
                <a:solidFill>
                  <a:srgbClr val="1D3759"/>
                </a:solidFill>
                <a:latin typeface="Malgun Gothic"/>
              </a:rPr>
              <a:t>↓</a:t>
            </a:r>
          </a:p>
          <a:p>
            <a:pPr>
              <a:spcAft>
                <a:spcPts val="1000"/>
              </a:spcAft>
            </a:pPr>
            <a:r>
              <a:rPr sz="1400">
                <a:solidFill>
                  <a:srgbClr val="1D3759"/>
                </a:solidFill>
                <a:latin typeface="Malgun Gothic"/>
              </a:rPr>
              <a:t>get_problem_neurons()</a:t>
            </a:r>
          </a:p>
        </p:txBody>
      </p:sp>
      <p:sp>
        <p:nvSpPr>
          <p:cNvPr id="18" name="Rounded Rectangle 17"/>
          <p:cNvSpPr/>
          <p:nvPr/>
        </p:nvSpPr>
        <p:spPr>
          <a:xfrm>
            <a:off x="822960" y="4727448"/>
            <a:ext cx="10515600" cy="777240"/>
          </a:xfrm>
          <a:prstGeom prst="round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r>
              <a:rPr sz="1800" b="1">
                <a:solidFill>
                  <a:srgbClr val="1D3759"/>
                </a:solidFill>
                <a:latin typeface="Malgun Gothic"/>
              </a:rPr>
              <a:t>Recursive Layer Resolution  →  Automatic Registration  →  Neuron-Level Diagnostics</a:t>
            </a:r>
          </a:p>
        </p:txBody>
      </p:sp>
      <p:sp>
        <p:nvSpPr>
          <p:cNvPr id="19" name="TextBox 18"/>
          <p:cNvSpPr txBox="1"/>
          <p:nvPr/>
        </p:nvSpPr>
        <p:spPr>
          <a:xfrm>
            <a:off x="11201400" y="6446520"/>
            <a:ext cx="457200" cy="182880"/>
          </a:xfrm>
          <a:prstGeom prst="rect">
            <a:avLst/>
          </a:prstGeom>
          <a:noFill/>
        </p:spPr>
        <p:txBody>
          <a:bodyPr wrap="none">
            <a:spAutoFit/>
          </a:bodyPr>
          <a:lstStyle/>
          <a:p>
            <a:pPr>
              <a:spcAft>
                <a:spcPts val="400"/>
              </a:spcAft>
            </a:pPr>
            <a:r>
              <a:rPr sz="1000">
                <a:solidFill>
                  <a:srgbClr val="5A626E"/>
                </a:solidFill>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01168"/>
            <a:ext cx="9144000" cy="228600"/>
          </a:xfrm>
          <a:prstGeom prst="rect">
            <a:avLst/>
          </a:prstGeom>
          <a:noFill/>
        </p:spPr>
        <p:txBody>
          <a:bodyPr wrap="none">
            <a:spAutoFit/>
          </a:bodyPr>
          <a:lstStyle/>
          <a:p>
            <a:pPr>
              <a:spcAft>
                <a:spcPts val="400"/>
              </a:spcAft>
            </a:pPr>
            <a:r>
              <a:rPr sz="1000">
                <a:solidFill>
                  <a:srgbClr val="317E52"/>
                </a:solidFill>
              </a:rPr>
              <a:t>AI SOFTWARE ENGINEERING</a:t>
            </a:r>
          </a:p>
        </p:txBody>
      </p:sp>
      <p:sp>
        <p:nvSpPr>
          <p:cNvPr id="3" name="Rectangle 2"/>
          <p:cNvSpPr/>
          <p:nvPr/>
        </p:nvSpPr>
        <p:spPr>
          <a:xfrm>
            <a:off x="640080" y="521207"/>
            <a:ext cx="10972800" cy="16459"/>
          </a:xfrm>
          <a:prstGeom prst="rect">
            <a:avLst/>
          </a:prstGeom>
          <a:solidFill>
            <a:srgbClr val="317E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713232"/>
            <a:ext cx="10972800" cy="502920"/>
          </a:xfrm>
          <a:prstGeom prst="rect">
            <a:avLst/>
          </a:prstGeom>
          <a:noFill/>
        </p:spPr>
        <p:txBody>
          <a:bodyPr wrap="none">
            <a:spAutoFit/>
          </a:bodyPr>
          <a:lstStyle/>
          <a:p>
            <a:pPr>
              <a:spcAft>
                <a:spcPts val="400"/>
              </a:spcAft>
            </a:pPr>
            <a:r>
              <a:rPr sz="2500" b="1">
                <a:solidFill>
                  <a:srgbClr val="1D3759"/>
                </a:solidFill>
              </a:rPr>
              <a:t>01. deep-learning-core | Transformer Model Analysis</a:t>
            </a:r>
          </a:p>
        </p:txBody>
      </p:sp>
      <p:sp>
        <p:nvSpPr>
          <p:cNvPr id="5" name="TextBox 4"/>
          <p:cNvSpPr txBox="1"/>
          <p:nvPr/>
        </p:nvSpPr>
        <p:spPr>
          <a:xfrm>
            <a:off x="640080" y="1353312"/>
            <a:ext cx="10972800" cy="320040"/>
          </a:xfrm>
          <a:prstGeom prst="rect">
            <a:avLst/>
          </a:prstGeom>
          <a:noFill/>
        </p:spPr>
        <p:txBody>
          <a:bodyPr wrap="none">
            <a:spAutoFit/>
          </a:bodyPr>
          <a:lstStyle/>
          <a:p>
            <a:pPr>
              <a:spcAft>
                <a:spcPts val="400"/>
              </a:spcAft>
            </a:pPr>
            <a:r>
              <a:rPr sz="1200">
                <a:solidFill>
                  <a:srgbClr val="5A626E"/>
                </a:solidFill>
              </a:rPr>
              <a:t>실측 프로파일링과 구분되는 정적 추정: 메모리 · 연산량 · 대역폭</a:t>
            </a:r>
          </a:p>
        </p:txBody>
      </p:sp>
      <p:sp>
        <p:nvSpPr>
          <p:cNvPr id="6" name="Rounded Rectangle 5"/>
          <p:cNvSpPr/>
          <p:nvPr/>
        </p:nvSpPr>
        <p:spPr>
          <a:xfrm>
            <a:off x="685800" y="1901952"/>
            <a:ext cx="3401568" cy="2240280"/>
          </a:xfrm>
          <a:prstGeom prst="roundRect">
            <a:avLst/>
          </a:prstGeom>
          <a:solidFill>
            <a:srgbClr val="FAFAFC"/>
          </a:solidFill>
          <a:ln>
            <a:solidFill>
              <a:srgbClr val="DBDFE6"/>
            </a:solid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endParaRPr/>
          </a:p>
        </p:txBody>
      </p:sp>
      <p:sp>
        <p:nvSpPr>
          <p:cNvPr id="7" name="Rounded Rectangle 6"/>
          <p:cNvSpPr/>
          <p:nvPr/>
        </p:nvSpPr>
        <p:spPr>
          <a:xfrm>
            <a:off x="685800" y="1901952"/>
            <a:ext cx="3401568" cy="438912"/>
          </a:xfrm>
          <a:prstGeom prst="roundRect">
            <a:avLst/>
          </a:prstGeom>
          <a:solidFill>
            <a:srgbClr val="2E56B8"/>
          </a:solidFill>
          <a:ln>
            <a:no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r>
              <a:rPr sz="1300" b="1">
                <a:solidFill>
                  <a:srgbClr val="FFFFFF"/>
                </a:solidFill>
                <a:latin typeface="Malgun Gothic"/>
              </a:rPr>
              <a:t>MODEL STRUCTURE</a:t>
            </a:r>
          </a:p>
        </p:txBody>
      </p:sp>
      <p:sp>
        <p:nvSpPr>
          <p:cNvPr id="8" name="TextBox 7"/>
          <p:cNvSpPr txBox="1"/>
          <p:nvPr/>
        </p:nvSpPr>
        <p:spPr>
          <a:xfrm>
            <a:off x="832104" y="2505456"/>
            <a:ext cx="3127248" cy="1554480"/>
          </a:xfrm>
          <a:prstGeom prst="rect">
            <a:avLst/>
          </a:prstGeom>
          <a:noFill/>
        </p:spPr>
        <p:txBody>
          <a:bodyPr wrap="square">
            <a:spAutoFit/>
          </a:bodyPr>
          <a:lstStyle/>
          <a:p>
            <a:pPr>
              <a:spcAft>
                <a:spcPts val="1000"/>
              </a:spcAft>
            </a:pPr>
            <a:r>
              <a:rPr sz="1400">
                <a:solidFill>
                  <a:srgbClr val="1D3759"/>
                </a:solidFill>
                <a:latin typeface="Malgun Gothic"/>
              </a:rPr>
              <a:t>Vocabulary / Embedding</a:t>
            </a:r>
          </a:p>
          <a:p>
            <a:pPr>
              <a:spcAft>
                <a:spcPts val="1000"/>
              </a:spcAft>
            </a:pPr>
            <a:r>
              <a:rPr sz="1400">
                <a:solidFill>
                  <a:srgbClr val="1D3759"/>
                </a:solidFill>
                <a:latin typeface="Malgun Gothic"/>
              </a:rPr>
              <a:t>Attention Heads / Head Dim</a:t>
            </a:r>
          </a:p>
          <a:p>
            <a:pPr>
              <a:spcAft>
                <a:spcPts val="1000"/>
              </a:spcAft>
            </a:pPr>
            <a:r>
              <a:rPr sz="1400">
                <a:solidFill>
                  <a:srgbClr val="1D3759"/>
                </a:solidFill>
                <a:latin typeface="Malgun Gothic"/>
              </a:rPr>
              <a:t>Transformer Layers</a:t>
            </a:r>
          </a:p>
        </p:txBody>
      </p:sp>
      <p:sp>
        <p:nvSpPr>
          <p:cNvPr id="9" name="Rounded Rectangle 8"/>
          <p:cNvSpPr/>
          <p:nvPr/>
        </p:nvSpPr>
        <p:spPr>
          <a:xfrm>
            <a:off x="4389120" y="1901952"/>
            <a:ext cx="3401568" cy="2240280"/>
          </a:xfrm>
          <a:prstGeom prst="roundRect">
            <a:avLst/>
          </a:prstGeom>
          <a:solidFill>
            <a:srgbClr val="FAFAFC"/>
          </a:solidFill>
          <a:ln>
            <a:solidFill>
              <a:srgbClr val="DBDFE6"/>
            </a:solid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endParaRPr/>
          </a:p>
        </p:txBody>
      </p:sp>
      <p:sp>
        <p:nvSpPr>
          <p:cNvPr id="10" name="Rounded Rectangle 9"/>
          <p:cNvSpPr/>
          <p:nvPr/>
        </p:nvSpPr>
        <p:spPr>
          <a:xfrm>
            <a:off x="4389120" y="1901952"/>
            <a:ext cx="3401568" cy="438912"/>
          </a:xfrm>
          <a:prstGeom prst="roundRect">
            <a:avLst/>
          </a:prstGeom>
          <a:solidFill>
            <a:srgbClr val="317E52"/>
          </a:solidFill>
          <a:ln>
            <a:no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r>
              <a:rPr sz="1300" b="1">
                <a:solidFill>
                  <a:srgbClr val="FFFFFF"/>
                </a:solidFill>
                <a:latin typeface="Malgun Gothic"/>
              </a:rPr>
              <a:t>MEMORY &amp; COMPUTE</a:t>
            </a:r>
          </a:p>
        </p:txBody>
      </p:sp>
      <p:sp>
        <p:nvSpPr>
          <p:cNvPr id="11" name="TextBox 10"/>
          <p:cNvSpPr txBox="1"/>
          <p:nvPr/>
        </p:nvSpPr>
        <p:spPr>
          <a:xfrm>
            <a:off x="4535424" y="2505456"/>
            <a:ext cx="3127248" cy="1554480"/>
          </a:xfrm>
          <a:prstGeom prst="rect">
            <a:avLst/>
          </a:prstGeom>
          <a:noFill/>
        </p:spPr>
        <p:txBody>
          <a:bodyPr wrap="square">
            <a:spAutoFit/>
          </a:bodyPr>
          <a:lstStyle/>
          <a:p>
            <a:pPr>
              <a:spcAft>
                <a:spcPts val="1000"/>
              </a:spcAft>
            </a:pPr>
            <a:r>
              <a:rPr sz="1400">
                <a:solidFill>
                  <a:srgbClr val="1D3759"/>
                </a:solidFill>
                <a:latin typeface="Malgun Gothic"/>
              </a:rPr>
              <a:t>Attention Score Memory</a:t>
            </a:r>
          </a:p>
          <a:p>
            <a:pPr>
              <a:spcAft>
                <a:spcPts val="1000"/>
              </a:spcAft>
            </a:pPr>
            <a:r>
              <a:rPr sz="1400">
                <a:solidFill>
                  <a:srgbClr val="1D3759"/>
                </a:solidFill>
                <a:latin typeface="Malgun Gothic"/>
              </a:rPr>
              <a:t>Embedding / Logits Memory</a:t>
            </a:r>
          </a:p>
          <a:p>
            <a:pPr>
              <a:spcAft>
                <a:spcPts val="1000"/>
              </a:spcAft>
            </a:pPr>
            <a:r>
              <a:rPr sz="1400">
                <a:solidFill>
                  <a:srgbClr val="1D3759"/>
                </a:solidFill>
                <a:latin typeface="Malgun Gothic"/>
              </a:rPr>
              <a:t>Estimated FLOPs</a:t>
            </a:r>
          </a:p>
        </p:txBody>
      </p:sp>
      <p:sp>
        <p:nvSpPr>
          <p:cNvPr id="12" name="Rounded Rectangle 11"/>
          <p:cNvSpPr/>
          <p:nvPr/>
        </p:nvSpPr>
        <p:spPr>
          <a:xfrm>
            <a:off x="8092440" y="1901952"/>
            <a:ext cx="3401568" cy="2240280"/>
          </a:xfrm>
          <a:prstGeom prst="roundRect">
            <a:avLst/>
          </a:prstGeom>
          <a:solidFill>
            <a:srgbClr val="FAFAFC"/>
          </a:solidFill>
          <a:ln>
            <a:solidFill>
              <a:srgbClr val="DBDFE6"/>
            </a:solid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endParaRPr/>
          </a:p>
        </p:txBody>
      </p:sp>
      <p:sp>
        <p:nvSpPr>
          <p:cNvPr id="13" name="Rounded Rectangle 12"/>
          <p:cNvSpPr/>
          <p:nvPr/>
        </p:nvSpPr>
        <p:spPr>
          <a:xfrm>
            <a:off x="8092440" y="1901952"/>
            <a:ext cx="3401568" cy="438912"/>
          </a:xfrm>
          <a:prstGeom prst="roundRect">
            <a:avLst/>
          </a:prstGeom>
          <a:solidFill>
            <a:srgbClr val="6F4B9F"/>
          </a:solidFill>
          <a:ln>
            <a:no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r>
              <a:rPr sz="1300" b="1">
                <a:solidFill>
                  <a:srgbClr val="FFFFFF"/>
                </a:solidFill>
                <a:latin typeface="Malgun Gothic"/>
              </a:rPr>
              <a:t>EFFICIENCY ESTIMATE</a:t>
            </a:r>
          </a:p>
        </p:txBody>
      </p:sp>
      <p:sp>
        <p:nvSpPr>
          <p:cNvPr id="14" name="TextBox 13"/>
          <p:cNvSpPr txBox="1"/>
          <p:nvPr/>
        </p:nvSpPr>
        <p:spPr>
          <a:xfrm>
            <a:off x="8238744" y="2505456"/>
            <a:ext cx="3127248" cy="1554480"/>
          </a:xfrm>
          <a:prstGeom prst="rect">
            <a:avLst/>
          </a:prstGeom>
          <a:noFill/>
        </p:spPr>
        <p:txBody>
          <a:bodyPr wrap="square">
            <a:spAutoFit/>
          </a:bodyPr>
          <a:lstStyle/>
          <a:p>
            <a:pPr>
              <a:spcAft>
                <a:spcPts val="1000"/>
              </a:spcAft>
            </a:pPr>
            <a:r>
              <a:rPr sz="1400">
                <a:solidFill>
                  <a:srgbClr val="1D3759"/>
                </a:solidFill>
                <a:latin typeface="Malgun Gothic"/>
              </a:rPr>
              <a:t>Estimated Memory Traffic</a:t>
            </a:r>
          </a:p>
          <a:p>
            <a:pPr>
              <a:spcAft>
                <a:spcPts val="1000"/>
              </a:spcAft>
            </a:pPr>
            <a:r>
              <a:rPr sz="1400">
                <a:solidFill>
                  <a:srgbClr val="1D3759"/>
                </a:solidFill>
                <a:latin typeface="Malgun Gothic"/>
              </a:rPr>
              <a:t>Arithmetic Intensity</a:t>
            </a:r>
          </a:p>
          <a:p>
            <a:pPr>
              <a:spcAft>
                <a:spcPts val="1000"/>
              </a:spcAft>
            </a:pPr>
            <a:r>
              <a:rPr sz="1400">
                <a:solidFill>
                  <a:srgbClr val="1D3759"/>
                </a:solidFill>
                <a:latin typeface="Malgun Gothic"/>
              </a:rPr>
              <a:t>Bandwidth Utilization</a:t>
            </a:r>
          </a:p>
        </p:txBody>
      </p:sp>
      <p:sp>
        <p:nvSpPr>
          <p:cNvPr id="15" name="Rounded Rectangle 14"/>
          <p:cNvSpPr/>
          <p:nvPr/>
        </p:nvSpPr>
        <p:spPr>
          <a:xfrm>
            <a:off x="868680" y="4709160"/>
            <a:ext cx="10378440" cy="941832"/>
          </a:xfrm>
          <a:prstGeom prst="roundRect">
            <a:avLst/>
          </a:prstGeom>
          <a:solidFill>
            <a:srgbClr val="F6F8FB"/>
          </a:solidFill>
          <a:ln>
            <a:noFill/>
          </a:ln>
        </p:spPr>
        <p:style>
          <a:lnRef idx="1">
            <a:schemeClr val="accent1"/>
          </a:lnRef>
          <a:fillRef idx="3">
            <a:schemeClr val="accent1"/>
          </a:fillRef>
          <a:effectRef idx="2">
            <a:schemeClr val="accent1"/>
          </a:effectRef>
          <a:fontRef idx="minor">
            <a:schemeClr val="lt1"/>
          </a:fontRef>
        </p:style>
        <p:txBody>
          <a:bodyPr wrap="square" lIns="155448" tIns="91440" rIns="109728" rtlCol="0" anchor="ctr"/>
          <a:lstStyle/>
          <a:p>
            <a:pPr>
              <a:spcAft>
                <a:spcPts val="600"/>
              </a:spcAft>
            </a:pPr>
            <a:r>
              <a:rPr sz="1700" b="1">
                <a:solidFill>
                  <a:srgbClr val="1D3759"/>
                </a:solidFill>
                <a:latin typeface="Malgun Gothic"/>
              </a:rPr>
              <a:t>Attention memory ∝ Batch × Heads × Sequence² × Bytes/element</a:t>
            </a:r>
          </a:p>
          <a:p>
            <a:pPr>
              <a:spcAft>
                <a:spcPts val="600"/>
              </a:spcAft>
            </a:pPr>
            <a:r>
              <a:rPr sz="1700" b="1">
                <a:solidFill>
                  <a:srgbClr val="1D3759"/>
                </a:solidFill>
                <a:latin typeface="Malgun Gothic"/>
              </a:rPr>
              <a:t>추정값(Estimated)이며 실제 장치의 성능 측정 결과와 구분</a:t>
            </a:r>
          </a:p>
        </p:txBody>
      </p:sp>
      <p:sp>
        <p:nvSpPr>
          <p:cNvPr id="16" name="TextBox 15"/>
          <p:cNvSpPr txBox="1"/>
          <p:nvPr/>
        </p:nvSpPr>
        <p:spPr>
          <a:xfrm>
            <a:off x="11201400" y="6446520"/>
            <a:ext cx="457200" cy="182880"/>
          </a:xfrm>
          <a:prstGeom prst="rect">
            <a:avLst/>
          </a:prstGeom>
          <a:noFill/>
        </p:spPr>
        <p:txBody>
          <a:bodyPr wrap="none">
            <a:spAutoFit/>
          </a:bodyPr>
          <a:lstStyle/>
          <a:p>
            <a:pPr>
              <a:spcAft>
                <a:spcPts val="400"/>
              </a:spcAft>
            </a:pPr>
            <a:r>
              <a:rPr sz="1000">
                <a:solidFill>
                  <a:srgbClr val="5A626E"/>
                </a:solidFill>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437043"/>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rPr dirty="0"/>
              <a:t>01. </a:t>
            </a:r>
            <a:r>
              <a:rPr lang="en-US" altLang="ko-KR" dirty="0"/>
              <a:t>deep-learning-core | </a:t>
            </a:r>
            <a:r>
              <a:rPr dirty="0"/>
              <a:t>검증 </a:t>
            </a:r>
            <a:r>
              <a:rPr dirty="0" err="1"/>
              <a:t>결과와</a:t>
            </a:r>
            <a:r>
              <a:rPr dirty="0"/>
              <a:t> </a:t>
            </a:r>
            <a:r>
              <a:rPr dirty="0" err="1"/>
              <a:t>현재</a:t>
            </a:r>
            <a:r>
              <a:rPr dirty="0"/>
              <a:t> </a:t>
            </a:r>
            <a:r>
              <a:rPr dirty="0" err="1"/>
              <a:t>범위</a:t>
            </a:r>
            <a:endParaRPr dirty="0"/>
          </a:p>
        </p:txBody>
      </p:sp>
      <p:sp>
        <p:nvSpPr>
          <p:cNvPr id="5" name="TextBox 4"/>
          <p:cNvSpPr txBox="1"/>
          <p:nvPr/>
        </p:nvSpPr>
        <p:spPr>
          <a:xfrm>
            <a:off x="630936" y="1353312"/>
            <a:ext cx="10972800" cy="252377"/>
          </a:xfrm>
          <a:prstGeom prst="rect">
            <a:avLst/>
          </a:prstGeom>
          <a:noFill/>
        </p:spPr>
        <p:txBody>
          <a:bodyPr wrap="square" lIns="64008" tIns="0" rIns="45720" bIns="0">
            <a:normAutofit lnSpcReduction="10000"/>
          </a:bodyPr>
          <a:lstStyle/>
          <a:p>
            <a:pPr>
              <a:spcAft>
                <a:spcPts val="400"/>
              </a:spcAft>
            </a:pPr>
            <a:r>
              <a:rPr sz="1300"/>
              <a:t>pytest 단위 테스트 검증 결과 | Python 3.10.12 | 실행 시간 11.27초</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10</a:t>
            </a:r>
          </a:p>
        </p:txBody>
      </p:sp>
      <p:sp>
        <p:nvSpPr>
          <p:cNvPr id="7" name="Rounded Rectangle 6"/>
          <p:cNvSpPr/>
          <p:nvPr/>
        </p:nvSpPr>
        <p:spPr>
          <a:xfrm>
            <a:off x="804672" y="1847088"/>
            <a:ext cx="5212080" cy="2240280"/>
          </a:xfrm>
          <a:prstGeom prst="roundRect">
            <a:avLst/>
          </a:prstGeom>
          <a:solidFill>
            <a:srgbClr val="ECF7EF"/>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07008" y="2103120"/>
            <a:ext cx="4480560" cy="1005840"/>
          </a:xfrm>
          <a:prstGeom prst="rect">
            <a:avLst/>
          </a:prstGeom>
          <a:noFill/>
        </p:spPr>
        <p:txBody>
          <a:bodyPr wrap="square" lIns="64008" tIns="36576" rIns="45720">
            <a:normAutofit/>
          </a:bodyPr>
          <a:lstStyle/>
          <a:p>
            <a:pPr>
              <a:spcAft>
                <a:spcPts val="400"/>
              </a:spcAft>
            </a:pPr>
            <a:r>
              <a:rPr sz="6400" b="1">
                <a:solidFill>
                  <a:srgbClr val="317E52"/>
                </a:solidFill>
              </a:rPr>
              <a:t>240</a:t>
            </a:r>
          </a:p>
        </p:txBody>
      </p:sp>
      <p:sp>
        <p:nvSpPr>
          <p:cNvPr id="9" name="TextBox 8"/>
          <p:cNvSpPr txBox="1"/>
          <p:nvPr/>
        </p:nvSpPr>
        <p:spPr>
          <a:xfrm>
            <a:off x="1097280" y="3310128"/>
            <a:ext cx="4617720" cy="457200"/>
          </a:xfrm>
          <a:prstGeom prst="rect">
            <a:avLst/>
          </a:prstGeom>
          <a:noFill/>
        </p:spPr>
        <p:txBody>
          <a:bodyPr wrap="square" lIns="64008" tIns="36576" rIns="45720">
            <a:normAutofit/>
          </a:bodyPr>
          <a:lstStyle/>
          <a:p>
            <a:pPr>
              <a:spcAft>
                <a:spcPts val="400"/>
              </a:spcAft>
            </a:pPr>
            <a:r>
              <a:rPr sz="1900" b="1">
                <a:solidFill>
                  <a:srgbClr val="1D3759"/>
                </a:solidFill>
              </a:rPr>
              <a:t>Unit Tests Passed  /  0 Failed</a:t>
            </a:r>
          </a:p>
        </p:txBody>
      </p:sp>
      <p:sp>
        <p:nvSpPr>
          <p:cNvPr id="10" name="Rounded Rectangle 9"/>
          <p:cNvSpPr/>
          <p:nvPr/>
        </p:nvSpPr>
        <p:spPr>
          <a:xfrm>
            <a:off x="6199632" y="1847088"/>
            <a:ext cx="5010912" cy="224028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199632" y="1847088"/>
            <a:ext cx="5010912"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0" y="1897380"/>
            <a:ext cx="4791456"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VERIFIED</a:t>
            </a:r>
          </a:p>
        </p:txBody>
      </p:sp>
      <p:sp>
        <p:nvSpPr>
          <p:cNvPr id="13" name="TextBox 12"/>
          <p:cNvSpPr txBox="1"/>
          <p:nvPr/>
        </p:nvSpPr>
        <p:spPr>
          <a:xfrm>
            <a:off x="6345936" y="2414016"/>
            <a:ext cx="4718304" cy="1618488"/>
          </a:xfrm>
          <a:prstGeom prst="rect">
            <a:avLst/>
          </a:prstGeom>
          <a:noFill/>
        </p:spPr>
        <p:txBody>
          <a:bodyPr wrap="square" lIns="64008" tIns="36576" rIns="45720">
            <a:normAutofit/>
          </a:bodyPr>
          <a:lstStyle/>
          <a:p>
            <a:pPr>
              <a:spcAft>
                <a:spcPts val="400"/>
              </a:spcAft>
            </a:pPr>
            <a:r>
              <a:rPr sz="1500"/>
              <a:t>Model / Transformer Analyzer</a:t>
            </a:r>
          </a:p>
          <a:p>
            <a:pPr>
              <a:spcAft>
                <a:spcPts val="400"/>
              </a:spcAft>
            </a:pPr>
            <a:r>
              <a:rPr sz="1500"/>
              <a:t>Layer Resolver / Inspector Factory</a:t>
            </a:r>
          </a:p>
          <a:p>
            <a:pPr>
              <a:spcAft>
                <a:spcPts val="400"/>
              </a:spcAft>
            </a:pPr>
            <a:r>
              <a:rPr sz="1500"/>
              <a:t>Weight &amp; Neuron Inspection</a:t>
            </a:r>
          </a:p>
          <a:p>
            <a:pPr>
              <a:spcAft>
                <a:spcPts val="400"/>
              </a:spcAft>
            </a:pPr>
            <a:r>
              <a:rPr sz="1500"/>
              <a:t>Training / Checkpoint / Profiling</a:t>
            </a:r>
          </a:p>
        </p:txBody>
      </p:sp>
      <p:sp>
        <p:nvSpPr>
          <p:cNvPr id="14" name="Rounded Rectangle 13"/>
          <p:cNvSpPr/>
          <p:nvPr/>
        </p:nvSpPr>
        <p:spPr>
          <a:xfrm>
            <a:off x="822960" y="4434840"/>
            <a:ext cx="10469880" cy="1051560"/>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69848" y="4736592"/>
            <a:ext cx="9966960" cy="521207"/>
          </a:xfrm>
          <a:prstGeom prst="rect">
            <a:avLst/>
          </a:prstGeom>
          <a:noFill/>
        </p:spPr>
        <p:txBody>
          <a:bodyPr wrap="square" lIns="64008" tIns="36576" rIns="45720">
            <a:normAutofit/>
          </a:bodyPr>
          <a:lstStyle/>
          <a:p>
            <a:pPr>
              <a:spcAft>
                <a:spcPts val="400"/>
              </a:spcAft>
            </a:pPr>
            <a:r>
              <a:rPr sz="1700" b="1">
                <a:solidFill>
                  <a:srgbClr val="1D3759"/>
                </a:solidFill>
              </a:rPr>
              <a:t>240 passed in 11.27s  |  단위 테스트 검증 결과 (2026.10.28 제공 로그)</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621792"/>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rPr dirty="0"/>
              <a:t>02. Decoder-only Transformer SLM</a:t>
            </a: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700"/>
              </a:spcAft>
              <a:defRPr sz="1100" b="0">
                <a:solidFill>
                  <a:srgbClr val="5F6A78"/>
                </a:solidFill>
                <a:latin typeface="Malgun Gothic"/>
              </a:defRPr>
            </a:pPr>
            <a:r>
              <a:t>2026.06–2026.08  ·  PG  ·  PyTorch / SentencePiece / Intel XPU</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11</a:t>
            </a:r>
          </a:p>
        </p:txBody>
      </p:sp>
      <p:sp>
        <p:nvSpPr>
          <p:cNvPr id="7" name="Rounded Rectangle 6"/>
          <p:cNvSpPr/>
          <p:nvPr/>
        </p:nvSpPr>
        <p:spPr>
          <a:xfrm>
            <a:off x="640080" y="1938528"/>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40080" y="1938528"/>
            <a:ext cx="264033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1988820"/>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DATA</a:t>
            </a:r>
          </a:p>
        </p:txBody>
      </p:sp>
      <p:sp>
        <p:nvSpPr>
          <p:cNvPr id="10" name="TextBox 9"/>
          <p:cNvSpPr txBox="1"/>
          <p:nvPr/>
        </p:nvSpPr>
        <p:spPr>
          <a:xfrm>
            <a:off x="786384" y="2505456"/>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SentencePiece</a:t>
            </a:r>
          </a:p>
          <a:p>
            <a:pPr>
              <a:spcAft>
                <a:spcPts val="700"/>
              </a:spcAft>
              <a:defRPr sz="1200" b="0">
                <a:solidFill>
                  <a:srgbClr val="242D38"/>
                </a:solidFill>
                <a:latin typeface="Malgun Gothic"/>
              </a:defRPr>
            </a:pPr>
            <a:r>
              <a:t>Tokenizer 학습</a:t>
            </a:r>
          </a:p>
          <a:p>
            <a:pPr>
              <a:spcAft>
                <a:spcPts val="700"/>
              </a:spcAft>
              <a:defRPr sz="1200" b="0">
                <a:solidFill>
                  <a:srgbClr val="242D38"/>
                </a:solidFill>
                <a:latin typeface="Malgun Gothic"/>
              </a:defRPr>
            </a:pPr>
            <a:r>
              <a:t>Token ID 변환</a:t>
            </a:r>
          </a:p>
        </p:txBody>
      </p:sp>
      <p:sp>
        <p:nvSpPr>
          <p:cNvPr id="11" name="Rounded Rectangle 10"/>
          <p:cNvSpPr/>
          <p:nvPr/>
        </p:nvSpPr>
        <p:spPr>
          <a:xfrm>
            <a:off x="3417570" y="1938528"/>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417570" y="1938528"/>
            <a:ext cx="264033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27298" y="1988820"/>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MODEL</a:t>
            </a:r>
          </a:p>
        </p:txBody>
      </p:sp>
      <p:sp>
        <p:nvSpPr>
          <p:cNvPr id="14" name="TextBox 13"/>
          <p:cNvSpPr txBox="1"/>
          <p:nvPr/>
        </p:nvSpPr>
        <p:spPr>
          <a:xfrm>
            <a:off x="3563874" y="2505456"/>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Embedding</a:t>
            </a:r>
          </a:p>
          <a:p>
            <a:pPr>
              <a:spcAft>
                <a:spcPts val="700"/>
              </a:spcAft>
              <a:defRPr sz="1200" b="0">
                <a:solidFill>
                  <a:srgbClr val="242D38"/>
                </a:solidFill>
                <a:latin typeface="Malgun Gothic"/>
              </a:defRPr>
            </a:pPr>
            <a:r>
              <a:t>Masked Self-Attention</a:t>
            </a:r>
          </a:p>
          <a:p>
            <a:pPr>
              <a:spcAft>
                <a:spcPts val="700"/>
              </a:spcAft>
              <a:defRPr sz="1200" b="0">
                <a:solidFill>
                  <a:srgbClr val="242D38"/>
                </a:solidFill>
                <a:latin typeface="Malgun Gothic"/>
              </a:defRPr>
            </a:pPr>
            <a:r>
              <a:t>Decoder Blocks</a:t>
            </a:r>
          </a:p>
        </p:txBody>
      </p:sp>
      <p:sp>
        <p:nvSpPr>
          <p:cNvPr id="15" name="Rounded Rectangle 14"/>
          <p:cNvSpPr/>
          <p:nvPr/>
        </p:nvSpPr>
        <p:spPr>
          <a:xfrm>
            <a:off x="6195060" y="1938528"/>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195060" y="1938528"/>
            <a:ext cx="264033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4788" y="1988820"/>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TRAINING</a:t>
            </a:r>
          </a:p>
        </p:txBody>
      </p:sp>
      <p:sp>
        <p:nvSpPr>
          <p:cNvPr id="18" name="TextBox 17"/>
          <p:cNvSpPr txBox="1"/>
          <p:nvPr/>
        </p:nvSpPr>
        <p:spPr>
          <a:xfrm>
            <a:off x="6341364" y="2505456"/>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Logits / Loss</a:t>
            </a:r>
          </a:p>
          <a:p>
            <a:pPr>
              <a:spcAft>
                <a:spcPts val="700"/>
              </a:spcAft>
              <a:defRPr sz="1200" b="0">
                <a:solidFill>
                  <a:srgbClr val="242D38"/>
                </a:solidFill>
                <a:latin typeface="Malgun Gothic"/>
              </a:defRPr>
            </a:pPr>
            <a:r>
              <a:t>Backpropagation</a:t>
            </a:r>
          </a:p>
          <a:p>
            <a:pPr>
              <a:spcAft>
                <a:spcPts val="700"/>
              </a:spcAft>
              <a:defRPr sz="1200" b="0">
                <a:solidFill>
                  <a:srgbClr val="242D38"/>
                </a:solidFill>
                <a:latin typeface="Malgun Gothic"/>
              </a:defRPr>
            </a:pPr>
            <a:r>
              <a:t>Validation</a:t>
            </a:r>
          </a:p>
        </p:txBody>
      </p:sp>
      <p:sp>
        <p:nvSpPr>
          <p:cNvPr id="19" name="Rounded Rectangle 18"/>
          <p:cNvSpPr/>
          <p:nvPr/>
        </p:nvSpPr>
        <p:spPr>
          <a:xfrm>
            <a:off x="8972550" y="1938528"/>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972550" y="1938528"/>
            <a:ext cx="264033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2278" y="1988820"/>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RUNTIME</a:t>
            </a:r>
          </a:p>
        </p:txBody>
      </p:sp>
      <p:sp>
        <p:nvSpPr>
          <p:cNvPr id="22" name="TextBox 21"/>
          <p:cNvSpPr txBox="1"/>
          <p:nvPr/>
        </p:nvSpPr>
        <p:spPr>
          <a:xfrm>
            <a:off x="9118854" y="2505456"/>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CPU ↔ XPU</a:t>
            </a:r>
          </a:p>
          <a:p>
            <a:pPr>
              <a:spcAft>
                <a:spcPts val="700"/>
              </a:spcAft>
              <a:defRPr sz="1200" b="0">
                <a:solidFill>
                  <a:srgbClr val="242D38"/>
                </a:solidFill>
                <a:latin typeface="Malgun Gothic"/>
              </a:defRPr>
            </a:pPr>
            <a:r>
              <a:t>Device Profiling</a:t>
            </a:r>
          </a:p>
          <a:p>
            <a:pPr>
              <a:spcAft>
                <a:spcPts val="700"/>
              </a:spcAft>
              <a:defRPr sz="1200" b="0">
                <a:solidFill>
                  <a:srgbClr val="242D38"/>
                </a:solidFill>
                <a:latin typeface="Malgun Gothic"/>
              </a:defRPr>
            </a:pPr>
            <a:r>
              <a:t>Batch Size 분석</a:t>
            </a:r>
          </a:p>
        </p:txBody>
      </p:sp>
      <p:sp>
        <p:nvSpPr>
          <p:cNvPr id="23" name="Rounded Rectangle 22"/>
          <p:cNvSpPr/>
          <p:nvPr/>
        </p:nvSpPr>
        <p:spPr>
          <a:xfrm>
            <a:off x="822960" y="4178808"/>
            <a:ext cx="10469880" cy="1307592"/>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97280" y="4416552"/>
            <a:ext cx="1828800" cy="347472"/>
          </a:xfrm>
          <a:prstGeom prst="rect">
            <a:avLst/>
          </a:prstGeom>
          <a:noFill/>
        </p:spPr>
        <p:txBody>
          <a:bodyPr wrap="square" lIns="64008" tIns="0" rIns="45720" bIns="0">
            <a:normAutofit/>
          </a:bodyPr>
          <a:lstStyle/>
          <a:p>
            <a:pPr>
              <a:spcAft>
                <a:spcPts val="700"/>
              </a:spcAft>
              <a:defRPr sz="1500" b="1">
                <a:solidFill>
                  <a:srgbClr val="398153"/>
                </a:solidFill>
                <a:latin typeface="Malgun Gothic"/>
              </a:defRPr>
            </a:pPr>
            <a:r>
              <a:t>EVOLUTION</a:t>
            </a:r>
          </a:p>
        </p:txBody>
      </p:sp>
      <p:sp>
        <p:nvSpPr>
          <p:cNvPr id="25" name="TextBox 24"/>
          <p:cNvSpPr txBox="1"/>
          <p:nvPr/>
        </p:nvSpPr>
        <p:spPr>
          <a:xfrm>
            <a:off x="1097280" y="4800600"/>
            <a:ext cx="9875520" cy="484632"/>
          </a:xfrm>
          <a:prstGeom prst="rect">
            <a:avLst/>
          </a:prstGeom>
          <a:noFill/>
        </p:spPr>
        <p:txBody>
          <a:bodyPr wrap="square" lIns="64008" tIns="36576" rIns="45720">
            <a:normAutofit/>
          </a:bodyPr>
          <a:lstStyle/>
          <a:p>
            <a:pPr>
              <a:spcAft>
                <a:spcPts val="700"/>
              </a:spcAft>
              <a:defRPr sz="1800" b="1">
                <a:solidFill>
                  <a:srgbClr val="19365B"/>
                </a:solidFill>
                <a:latin typeface="Malgun Gothic"/>
              </a:defRPr>
            </a:pPr>
            <a:r>
              <a:t>SLM에서 확인한 공통 학습 로직을 독립 라이브러리로 분리</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621792"/>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t>03. Fully Connected DNN 직접 구현</a:t>
            </a: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700"/>
              </a:spcAft>
              <a:defRPr sz="1100" b="0">
                <a:solidFill>
                  <a:srgbClr val="5F6A78"/>
                </a:solidFill>
                <a:latin typeface="Malgun Gothic"/>
              </a:defRPr>
            </a:pPr>
            <a:r>
              <a:t>2024.08–2025.06  ·  PG  ·  Python</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12</a:t>
            </a:r>
          </a:p>
        </p:txBody>
      </p:sp>
      <p:sp>
        <p:nvSpPr>
          <p:cNvPr id="7" name="Rounded Rectangle 6"/>
          <p:cNvSpPr/>
          <p:nvPr/>
        </p:nvSpPr>
        <p:spPr>
          <a:xfrm>
            <a:off x="640080" y="1938528"/>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40080" y="1938528"/>
            <a:ext cx="264033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1988820"/>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STRUCTURE</a:t>
            </a:r>
          </a:p>
        </p:txBody>
      </p:sp>
      <p:sp>
        <p:nvSpPr>
          <p:cNvPr id="10" name="TextBox 9"/>
          <p:cNvSpPr txBox="1"/>
          <p:nvPr/>
        </p:nvSpPr>
        <p:spPr>
          <a:xfrm>
            <a:off x="786384" y="2505456"/>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Neuron / Layer</a:t>
            </a:r>
          </a:p>
          <a:p>
            <a:pPr>
              <a:spcAft>
                <a:spcPts val="700"/>
              </a:spcAft>
              <a:defRPr sz="1200" b="0">
                <a:solidFill>
                  <a:srgbClr val="242D38"/>
                </a:solidFill>
                <a:latin typeface="Malgun Gothic"/>
              </a:defRPr>
            </a:pPr>
            <a:r>
              <a:t>Fully Connected Network</a:t>
            </a:r>
          </a:p>
        </p:txBody>
      </p:sp>
      <p:sp>
        <p:nvSpPr>
          <p:cNvPr id="11" name="Rounded Rectangle 10"/>
          <p:cNvSpPr/>
          <p:nvPr/>
        </p:nvSpPr>
        <p:spPr>
          <a:xfrm>
            <a:off x="3417570" y="1938528"/>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417570" y="1938528"/>
            <a:ext cx="264033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27298" y="1988820"/>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FORWARD</a:t>
            </a:r>
          </a:p>
        </p:txBody>
      </p:sp>
      <p:sp>
        <p:nvSpPr>
          <p:cNvPr id="14" name="TextBox 13"/>
          <p:cNvSpPr txBox="1"/>
          <p:nvPr/>
        </p:nvSpPr>
        <p:spPr>
          <a:xfrm>
            <a:off x="3563874" y="2505456"/>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Activation Function</a:t>
            </a:r>
          </a:p>
          <a:p>
            <a:pPr>
              <a:spcAft>
                <a:spcPts val="700"/>
              </a:spcAft>
              <a:defRPr sz="1200" b="0">
                <a:solidFill>
                  <a:srgbClr val="242D38"/>
                </a:solidFill>
                <a:latin typeface="Malgun Gothic"/>
              </a:defRPr>
            </a:pPr>
            <a:r>
              <a:t>Forward Propagation</a:t>
            </a:r>
          </a:p>
        </p:txBody>
      </p:sp>
      <p:sp>
        <p:nvSpPr>
          <p:cNvPr id="15" name="Rounded Rectangle 14"/>
          <p:cNvSpPr/>
          <p:nvPr/>
        </p:nvSpPr>
        <p:spPr>
          <a:xfrm>
            <a:off x="6195060" y="1938528"/>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195060" y="1938528"/>
            <a:ext cx="264033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4788" y="1988820"/>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BACKWARD</a:t>
            </a:r>
          </a:p>
        </p:txBody>
      </p:sp>
      <p:sp>
        <p:nvSpPr>
          <p:cNvPr id="18" name="TextBox 17"/>
          <p:cNvSpPr txBox="1"/>
          <p:nvPr/>
        </p:nvSpPr>
        <p:spPr>
          <a:xfrm>
            <a:off x="6341364" y="2505456"/>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미분 / Chain Rule</a:t>
            </a:r>
          </a:p>
          <a:p>
            <a:pPr>
              <a:spcAft>
                <a:spcPts val="700"/>
              </a:spcAft>
              <a:defRPr sz="1200" b="0">
                <a:solidFill>
                  <a:srgbClr val="242D38"/>
                </a:solidFill>
                <a:latin typeface="Malgun Gothic"/>
              </a:defRPr>
            </a:pPr>
            <a:r>
              <a:t>Gradient 계산</a:t>
            </a:r>
          </a:p>
        </p:txBody>
      </p:sp>
      <p:sp>
        <p:nvSpPr>
          <p:cNvPr id="19" name="Rounded Rectangle 18"/>
          <p:cNvSpPr/>
          <p:nvPr/>
        </p:nvSpPr>
        <p:spPr>
          <a:xfrm>
            <a:off x="8972550" y="1938528"/>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972550" y="1938528"/>
            <a:ext cx="264033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2278" y="1988820"/>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UPDATE</a:t>
            </a:r>
          </a:p>
        </p:txBody>
      </p:sp>
      <p:sp>
        <p:nvSpPr>
          <p:cNvPr id="22" name="TextBox 21"/>
          <p:cNvSpPr txBox="1"/>
          <p:nvPr/>
        </p:nvSpPr>
        <p:spPr>
          <a:xfrm>
            <a:off x="9118854" y="2505456"/>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Weight / Bias 갱신</a:t>
            </a:r>
          </a:p>
          <a:p>
            <a:pPr>
              <a:spcAft>
                <a:spcPts val="700"/>
              </a:spcAft>
              <a:defRPr sz="1200" b="0">
                <a:solidFill>
                  <a:srgbClr val="242D38"/>
                </a:solidFill>
                <a:latin typeface="Malgun Gothic"/>
              </a:defRPr>
            </a:pPr>
            <a:r>
              <a:t>단위 테스트</a:t>
            </a:r>
          </a:p>
        </p:txBody>
      </p:sp>
      <p:sp>
        <p:nvSpPr>
          <p:cNvPr id="23" name="Rounded Rectangle 22"/>
          <p:cNvSpPr/>
          <p:nvPr/>
        </p:nvSpPr>
        <p:spPr>
          <a:xfrm>
            <a:off x="822960" y="4160520"/>
            <a:ext cx="10515600" cy="1389888"/>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22960" y="4160520"/>
            <a:ext cx="1051560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2688" y="4210812"/>
            <a:ext cx="1029614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VERIFICATION</a:t>
            </a:r>
          </a:p>
        </p:txBody>
      </p:sp>
      <p:sp>
        <p:nvSpPr>
          <p:cNvPr id="26" name="TextBox 25"/>
          <p:cNvSpPr txBox="1"/>
          <p:nvPr/>
        </p:nvSpPr>
        <p:spPr>
          <a:xfrm>
            <a:off x="969264" y="4727448"/>
            <a:ext cx="10222992" cy="768096"/>
          </a:xfrm>
          <a:prstGeom prst="rect">
            <a:avLst/>
          </a:prstGeom>
          <a:noFill/>
        </p:spPr>
        <p:txBody>
          <a:bodyPr wrap="square" lIns="64008" tIns="36576" rIns="45720">
            <a:normAutofit/>
          </a:bodyPr>
          <a:lstStyle/>
          <a:p>
            <a:pPr>
              <a:spcAft>
                <a:spcPts val="700"/>
              </a:spcAft>
              <a:defRPr sz="1600" b="0">
                <a:solidFill>
                  <a:srgbClr val="242D38"/>
                </a:solidFill>
                <a:latin typeface="Malgun Gothic"/>
              </a:defRPr>
            </a:pPr>
            <a:r>
              <a:t>수학적 기댓값과 출력·Gradient를 비교하는 단위 테스트로 구현 정확성 검증</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621792"/>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t>04. Reusable Spring Boot Application Architecture</a:t>
            </a: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700"/>
              </a:spcAft>
              <a:defRPr sz="1100" b="0">
                <a:solidFill>
                  <a:srgbClr val="5F6A78"/>
                </a:solidFill>
                <a:latin typeface="Malgun Gothic"/>
              </a:defRPr>
            </a:pPr>
            <a:r>
              <a:t>2025.07–2025.08  ·  Application Architect  ·  Java 21 / Spring Boot 3.3.1</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13</a:t>
            </a:r>
          </a:p>
        </p:txBody>
      </p:sp>
      <p:sp>
        <p:nvSpPr>
          <p:cNvPr id="7" name="Rounded Rectangle 6"/>
          <p:cNvSpPr/>
          <p:nvPr/>
        </p:nvSpPr>
        <p:spPr>
          <a:xfrm>
            <a:off x="640080" y="196596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40080" y="1965960"/>
            <a:ext cx="264033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01625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SERVICE LAYER</a:t>
            </a:r>
          </a:p>
        </p:txBody>
      </p:sp>
      <p:sp>
        <p:nvSpPr>
          <p:cNvPr id="10" name="TextBox 9"/>
          <p:cNvSpPr txBox="1"/>
          <p:nvPr/>
        </p:nvSpPr>
        <p:spPr>
          <a:xfrm>
            <a:off x="786384" y="253288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Controller / Service</a:t>
            </a:r>
          </a:p>
          <a:p>
            <a:pPr>
              <a:spcAft>
                <a:spcPts val="700"/>
              </a:spcAft>
              <a:defRPr sz="1200" b="0">
                <a:solidFill>
                  <a:srgbClr val="242D38"/>
                </a:solidFill>
                <a:latin typeface="Malgun Gothic"/>
              </a:defRPr>
            </a:pPr>
            <a:r>
              <a:t>Config / AOP</a:t>
            </a:r>
          </a:p>
        </p:txBody>
      </p:sp>
      <p:sp>
        <p:nvSpPr>
          <p:cNvPr id="11" name="Rounded Rectangle 10"/>
          <p:cNvSpPr/>
          <p:nvPr/>
        </p:nvSpPr>
        <p:spPr>
          <a:xfrm>
            <a:off x="3417570" y="196596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417570" y="1965960"/>
            <a:ext cx="264033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27298" y="201625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SECURITY</a:t>
            </a:r>
          </a:p>
        </p:txBody>
      </p:sp>
      <p:sp>
        <p:nvSpPr>
          <p:cNvPr id="14" name="TextBox 13"/>
          <p:cNvSpPr txBox="1"/>
          <p:nvPr/>
        </p:nvSpPr>
        <p:spPr>
          <a:xfrm>
            <a:off x="3563874" y="253288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SecurityFilterChain</a:t>
            </a:r>
          </a:p>
          <a:p>
            <a:pPr>
              <a:spcAft>
                <a:spcPts val="700"/>
              </a:spcAft>
              <a:defRPr sz="1200" b="0">
                <a:solidFill>
                  <a:srgbClr val="242D38"/>
                </a:solidFill>
                <a:latin typeface="Malgun Gothic"/>
              </a:defRPr>
            </a:pPr>
            <a:r>
              <a:t>Stateless / BCrypt</a:t>
            </a:r>
          </a:p>
        </p:txBody>
      </p:sp>
      <p:sp>
        <p:nvSpPr>
          <p:cNvPr id="15" name="Rounded Rectangle 14"/>
          <p:cNvSpPr/>
          <p:nvPr/>
        </p:nvSpPr>
        <p:spPr>
          <a:xfrm>
            <a:off x="6195060" y="196596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195060" y="1965960"/>
            <a:ext cx="264033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4788" y="201625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INTEGRATION</a:t>
            </a:r>
          </a:p>
        </p:txBody>
      </p:sp>
      <p:sp>
        <p:nvSpPr>
          <p:cNvPr id="18" name="TextBox 17"/>
          <p:cNvSpPr txBox="1"/>
          <p:nvPr/>
        </p:nvSpPr>
        <p:spPr>
          <a:xfrm>
            <a:off x="6341364" y="253288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RestTemplate / WebClient</a:t>
            </a:r>
          </a:p>
          <a:p>
            <a:pPr>
              <a:spcAft>
                <a:spcPts val="700"/>
              </a:spcAft>
              <a:defRPr sz="1200" b="0">
                <a:solidFill>
                  <a:srgbClr val="242D38"/>
                </a:solidFill>
                <a:latin typeface="Malgun Gothic"/>
              </a:defRPr>
            </a:pPr>
            <a:r>
              <a:t>Connection Pool / Timeout</a:t>
            </a:r>
          </a:p>
        </p:txBody>
      </p:sp>
      <p:sp>
        <p:nvSpPr>
          <p:cNvPr id="19" name="Rounded Rectangle 18"/>
          <p:cNvSpPr/>
          <p:nvPr/>
        </p:nvSpPr>
        <p:spPr>
          <a:xfrm>
            <a:off x="8972550" y="196596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972550" y="1965960"/>
            <a:ext cx="264033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2278" y="2016252"/>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COMMON CONCERNS</a:t>
            </a:r>
          </a:p>
        </p:txBody>
      </p:sp>
      <p:sp>
        <p:nvSpPr>
          <p:cNvPr id="22" name="TextBox 21"/>
          <p:cNvSpPr txBox="1"/>
          <p:nvPr/>
        </p:nvSpPr>
        <p:spPr>
          <a:xfrm>
            <a:off x="9118854" y="253288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Validation / Exception</a:t>
            </a:r>
          </a:p>
          <a:p>
            <a:pPr>
              <a:spcAft>
                <a:spcPts val="700"/>
              </a:spcAft>
              <a:defRPr sz="1200" b="0">
                <a:solidFill>
                  <a:srgbClr val="242D38"/>
                </a:solidFill>
                <a:latin typeface="Malgun Gothic"/>
              </a:defRPr>
            </a:pPr>
            <a:r>
              <a:t>Logging / API Test</a:t>
            </a:r>
          </a:p>
        </p:txBody>
      </p:sp>
      <p:sp>
        <p:nvSpPr>
          <p:cNvPr id="23" name="Rounded Rectangle 22"/>
          <p:cNvSpPr/>
          <p:nvPr/>
        </p:nvSpPr>
        <p:spPr>
          <a:xfrm>
            <a:off x="822960" y="4206240"/>
            <a:ext cx="10497312" cy="1234440"/>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0704" y="4434840"/>
            <a:ext cx="2286000" cy="411480"/>
          </a:xfrm>
          <a:prstGeom prst="rect">
            <a:avLst/>
          </a:prstGeom>
          <a:noFill/>
        </p:spPr>
        <p:txBody>
          <a:bodyPr wrap="square" lIns="64008" tIns="36576" rIns="45720">
            <a:normAutofit/>
          </a:bodyPr>
          <a:lstStyle/>
          <a:p>
            <a:pPr>
              <a:spcAft>
                <a:spcPts val="700"/>
              </a:spcAft>
              <a:defRPr sz="1700" b="1">
                <a:solidFill>
                  <a:srgbClr val="398153"/>
                </a:solidFill>
                <a:latin typeface="Malgun Gothic"/>
              </a:defRPr>
            </a:pPr>
            <a:r>
              <a:t>AI 연동과의 관계</a:t>
            </a:r>
          </a:p>
        </p:txBody>
      </p:sp>
      <p:sp>
        <p:nvSpPr>
          <p:cNvPr id="25" name="TextBox 24"/>
          <p:cNvSpPr txBox="1"/>
          <p:nvPr/>
        </p:nvSpPr>
        <p:spPr>
          <a:xfrm>
            <a:off x="3246120" y="4407408"/>
            <a:ext cx="7680960" cy="329321"/>
          </a:xfrm>
          <a:prstGeom prst="rect">
            <a:avLst/>
          </a:prstGeom>
          <a:noFill/>
        </p:spPr>
        <p:txBody>
          <a:bodyPr wrap="square" lIns="64008" tIns="0" rIns="45720" bIns="0">
            <a:normAutofit fontScale="77500" lnSpcReduction="20000"/>
          </a:bodyPr>
          <a:lstStyle/>
          <a:p>
            <a:r>
              <a:t>AI 추론 API 연계에 필요한 서비스·보안·통신·예외 처리 기반 설계 (추론 서비스 구현 실적과 구분)</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437043"/>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rPr lang="en-US" dirty="0"/>
              <a:t>05. </a:t>
            </a:r>
            <a:r>
              <a:rPr dirty="0"/>
              <a:t>Software Engineering Foundation</a:t>
            </a: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700"/>
              </a:spcAft>
              <a:defRPr sz="1100" b="0">
                <a:solidFill>
                  <a:srgbClr val="5F6A78"/>
                </a:solidFill>
                <a:latin typeface="Malgun Gothic"/>
              </a:defRPr>
            </a:pPr>
            <a:r>
              <a:t>AI 모델을 실제 시스템과 연결하는 기반 역량</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14</a:t>
            </a:r>
          </a:p>
        </p:txBody>
      </p:sp>
      <p:sp>
        <p:nvSpPr>
          <p:cNvPr id="7" name="Rounded Rectangle 6"/>
          <p:cNvSpPr/>
          <p:nvPr/>
        </p:nvSpPr>
        <p:spPr>
          <a:xfrm>
            <a:off x="685800" y="1828800"/>
            <a:ext cx="3520440" cy="288036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85800" y="1828800"/>
            <a:ext cx="352044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5528" y="1879092"/>
            <a:ext cx="330098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PERFORMANCE</a:t>
            </a:r>
          </a:p>
        </p:txBody>
      </p:sp>
      <p:sp>
        <p:nvSpPr>
          <p:cNvPr id="10" name="TextBox 9"/>
          <p:cNvSpPr txBox="1"/>
          <p:nvPr/>
        </p:nvSpPr>
        <p:spPr>
          <a:xfrm>
            <a:off x="832104" y="2395728"/>
            <a:ext cx="3227832" cy="2258568"/>
          </a:xfrm>
          <a:prstGeom prst="rect">
            <a:avLst/>
          </a:prstGeom>
          <a:noFill/>
        </p:spPr>
        <p:txBody>
          <a:bodyPr wrap="square" lIns="64008" tIns="36576" rIns="45720">
            <a:normAutofit/>
          </a:bodyPr>
          <a:lstStyle/>
          <a:p>
            <a:pPr>
              <a:spcAft>
                <a:spcPts val="700"/>
              </a:spcAft>
              <a:defRPr sz="1600" b="0">
                <a:solidFill>
                  <a:srgbClr val="242D38"/>
                </a:solidFill>
                <a:latin typeface="Malgun Gothic"/>
              </a:defRPr>
            </a:pPr>
            <a:r>
              <a:rPr dirty="0"/>
              <a:t>Samsung SDS</a:t>
            </a:r>
            <a:endParaRPr lang="en-US" dirty="0"/>
          </a:p>
          <a:p>
            <a:pPr>
              <a:spcAft>
                <a:spcPts val="700"/>
              </a:spcAft>
              <a:defRPr sz="1600" b="0">
                <a:solidFill>
                  <a:srgbClr val="242D38"/>
                </a:solidFill>
                <a:latin typeface="Malgun Gothic"/>
              </a:defRPr>
            </a:pPr>
            <a:r>
              <a:rPr lang="en-US" dirty="0"/>
              <a:t>RCP </a:t>
            </a:r>
            <a:r>
              <a:rPr lang="en-US" dirty="0" err="1"/>
              <a:t>PlugIn</a:t>
            </a:r>
            <a:r>
              <a:rPr lang="en-US" dirty="0"/>
              <a:t> </a:t>
            </a:r>
            <a:r>
              <a:rPr lang="ko-KR" altLang="en-US" dirty="0"/>
              <a:t>개발</a:t>
            </a:r>
            <a:endParaRPr dirty="0"/>
          </a:p>
          <a:p>
            <a:pPr>
              <a:spcAft>
                <a:spcPts val="700"/>
              </a:spcAft>
              <a:defRPr sz="1600" b="0">
                <a:solidFill>
                  <a:srgbClr val="242D38"/>
                </a:solidFill>
                <a:latin typeface="Malgun Gothic"/>
              </a:defRPr>
            </a:pPr>
            <a:r>
              <a:rPr dirty="0" err="1"/>
              <a:t>기업</a:t>
            </a:r>
            <a:r>
              <a:rPr dirty="0"/>
              <a:t> </a:t>
            </a:r>
            <a:r>
              <a:rPr dirty="0" err="1"/>
              <a:t>시스템</a:t>
            </a:r>
            <a:r>
              <a:rPr dirty="0"/>
              <a:t> </a:t>
            </a:r>
            <a:r>
              <a:rPr dirty="0" err="1"/>
              <a:t>개발</a:t>
            </a:r>
            <a:r>
              <a:rPr dirty="0"/>
              <a:t> 및 Batch Procedure </a:t>
            </a:r>
            <a:r>
              <a:rPr dirty="0" err="1"/>
              <a:t>개선</a:t>
            </a:r>
            <a:endParaRPr dirty="0"/>
          </a:p>
          <a:p>
            <a:pPr>
              <a:spcAft>
                <a:spcPts val="700"/>
              </a:spcAft>
              <a:defRPr sz="1600" b="0">
                <a:solidFill>
                  <a:srgbClr val="242D38"/>
                </a:solidFill>
                <a:latin typeface="Malgun Gothic"/>
              </a:defRPr>
            </a:pPr>
            <a:r>
              <a:rPr dirty="0" err="1"/>
              <a:t>배치</a:t>
            </a:r>
            <a:r>
              <a:rPr dirty="0"/>
              <a:t> </a:t>
            </a:r>
            <a:r>
              <a:rPr dirty="0" err="1"/>
              <a:t>처리시간</a:t>
            </a:r>
            <a:r>
              <a:rPr dirty="0"/>
              <a:t> 약 24h → 2h</a:t>
            </a:r>
          </a:p>
        </p:txBody>
      </p:sp>
      <p:sp>
        <p:nvSpPr>
          <p:cNvPr id="11" name="Rounded Rectangle 10"/>
          <p:cNvSpPr/>
          <p:nvPr/>
        </p:nvSpPr>
        <p:spPr>
          <a:xfrm>
            <a:off x="4343400" y="1828800"/>
            <a:ext cx="3520440" cy="288036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343400" y="1828800"/>
            <a:ext cx="352044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53128" y="1879092"/>
            <a:ext cx="330098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PLATFORM</a:t>
            </a:r>
          </a:p>
        </p:txBody>
      </p:sp>
      <p:sp>
        <p:nvSpPr>
          <p:cNvPr id="14" name="TextBox 13"/>
          <p:cNvSpPr txBox="1"/>
          <p:nvPr/>
        </p:nvSpPr>
        <p:spPr>
          <a:xfrm>
            <a:off x="4489704" y="2395728"/>
            <a:ext cx="3227832" cy="2258568"/>
          </a:xfrm>
          <a:prstGeom prst="rect">
            <a:avLst/>
          </a:prstGeom>
          <a:noFill/>
        </p:spPr>
        <p:txBody>
          <a:bodyPr wrap="square" lIns="64008" tIns="36576" rIns="45720">
            <a:normAutofit/>
          </a:bodyPr>
          <a:lstStyle/>
          <a:p>
            <a:pPr>
              <a:spcAft>
                <a:spcPts val="700"/>
              </a:spcAft>
              <a:defRPr sz="1600" b="0">
                <a:solidFill>
                  <a:srgbClr val="242D38"/>
                </a:solidFill>
                <a:latin typeface="Malgun Gothic"/>
              </a:defRPr>
            </a:pPr>
            <a:r>
              <a:rPr dirty="0" err="1"/>
              <a:t>CubicWave</a:t>
            </a:r>
            <a:endParaRPr dirty="0"/>
          </a:p>
          <a:p>
            <a:pPr>
              <a:spcAft>
                <a:spcPts val="700"/>
              </a:spcAft>
              <a:defRPr sz="1600" b="0">
                <a:solidFill>
                  <a:srgbClr val="242D38"/>
                </a:solidFill>
                <a:latin typeface="Malgun Gothic"/>
              </a:defRPr>
            </a:pPr>
            <a:r>
              <a:rPr dirty="0" err="1"/>
              <a:t>모바일</a:t>
            </a:r>
            <a:r>
              <a:rPr dirty="0"/>
              <a:t> </a:t>
            </a:r>
            <a:r>
              <a:rPr dirty="0" err="1"/>
              <a:t>플랫폼·하드웨어</a:t>
            </a:r>
            <a:r>
              <a:rPr dirty="0"/>
              <a:t> </a:t>
            </a:r>
            <a:r>
              <a:rPr dirty="0" err="1"/>
              <a:t>연동</a:t>
            </a:r>
            <a:endParaRPr dirty="0"/>
          </a:p>
          <a:p>
            <a:pPr>
              <a:spcAft>
                <a:spcPts val="700"/>
              </a:spcAft>
              <a:defRPr sz="1600" b="0">
                <a:solidFill>
                  <a:srgbClr val="242D38"/>
                </a:solidFill>
                <a:latin typeface="Malgun Gothic"/>
              </a:defRPr>
            </a:pPr>
            <a:r>
              <a:rPr dirty="0"/>
              <a:t>Bluetooth / </a:t>
            </a:r>
            <a:r>
              <a:rPr dirty="0" err="1"/>
              <a:t>멀티미디어</a:t>
            </a:r>
            <a:r>
              <a:rPr dirty="0"/>
              <a:t> / </a:t>
            </a:r>
            <a:r>
              <a:rPr dirty="0" err="1"/>
              <a:t>인증</a:t>
            </a:r>
            <a:endParaRPr dirty="0"/>
          </a:p>
        </p:txBody>
      </p:sp>
      <p:sp>
        <p:nvSpPr>
          <p:cNvPr id="15" name="Rounded Rectangle 14"/>
          <p:cNvSpPr/>
          <p:nvPr/>
        </p:nvSpPr>
        <p:spPr>
          <a:xfrm>
            <a:off x="8001000" y="1828800"/>
            <a:ext cx="3520440" cy="288036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01000" y="1828800"/>
            <a:ext cx="352044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10727" y="1879092"/>
            <a:ext cx="330098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QUALITY</a:t>
            </a:r>
          </a:p>
        </p:txBody>
      </p:sp>
      <p:sp>
        <p:nvSpPr>
          <p:cNvPr id="18" name="TextBox 17"/>
          <p:cNvSpPr txBox="1"/>
          <p:nvPr/>
        </p:nvSpPr>
        <p:spPr>
          <a:xfrm>
            <a:off x="8147304" y="2395728"/>
            <a:ext cx="3227832" cy="2258568"/>
          </a:xfrm>
          <a:prstGeom prst="rect">
            <a:avLst/>
          </a:prstGeom>
          <a:noFill/>
        </p:spPr>
        <p:txBody>
          <a:bodyPr wrap="square" lIns="64008" tIns="36576" rIns="45720">
            <a:normAutofit/>
          </a:bodyPr>
          <a:lstStyle/>
          <a:p>
            <a:pPr>
              <a:spcAft>
                <a:spcPts val="700"/>
              </a:spcAft>
              <a:defRPr sz="1600" b="0">
                <a:solidFill>
                  <a:srgbClr val="242D38"/>
                </a:solidFill>
                <a:latin typeface="Malgun Gothic"/>
              </a:defRPr>
            </a:pPr>
            <a:r>
              <a:t>TrueMobile</a:t>
            </a:r>
          </a:p>
          <a:p>
            <a:pPr>
              <a:spcAft>
                <a:spcPts val="700"/>
              </a:spcAft>
              <a:defRPr sz="1600" b="0">
                <a:solidFill>
                  <a:srgbClr val="242D38"/>
                </a:solidFill>
                <a:latin typeface="Malgun Gothic"/>
              </a:defRPr>
            </a:pPr>
            <a:r>
              <a:t>중국·홍콩·대만 Localization</a:t>
            </a:r>
          </a:p>
          <a:p>
            <a:pPr>
              <a:spcAft>
                <a:spcPts val="700"/>
              </a:spcAft>
              <a:defRPr sz="1600" b="0">
                <a:solidFill>
                  <a:srgbClr val="242D38"/>
                </a:solidFill>
                <a:latin typeface="Malgun Gothic"/>
              </a:defRPr>
            </a:pPr>
            <a:r>
              <a:t>결함 수정·해외 QA 협업</a:t>
            </a:r>
          </a:p>
        </p:txBody>
      </p:sp>
      <p:sp>
        <p:nvSpPr>
          <p:cNvPr id="19" name="Rounded Rectangle 18"/>
          <p:cNvSpPr/>
          <p:nvPr/>
        </p:nvSpPr>
        <p:spPr>
          <a:xfrm>
            <a:off x="822960" y="5010912"/>
            <a:ext cx="10515600" cy="777240"/>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24128" y="5212080"/>
            <a:ext cx="10058400" cy="438912"/>
          </a:xfrm>
          <a:prstGeom prst="rect">
            <a:avLst/>
          </a:prstGeom>
          <a:noFill/>
        </p:spPr>
        <p:txBody>
          <a:bodyPr wrap="square" lIns="64008" tIns="36576" rIns="45720">
            <a:normAutofit/>
          </a:bodyPr>
          <a:lstStyle/>
          <a:p>
            <a:pPr algn="ctr">
              <a:spcAft>
                <a:spcPts val="700"/>
              </a:spcAft>
              <a:defRPr sz="1800" b="1">
                <a:solidFill>
                  <a:srgbClr val="19365B"/>
                </a:solidFill>
                <a:latin typeface="Malgun Gothic"/>
              </a:defRPr>
            </a:pPr>
            <a:r>
              <a:t>Performance Optimization  ·  Platform Integration  ·  Verification &amp; Collaboration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01168"/>
            <a:ext cx="8229600" cy="274320"/>
          </a:xfrm>
          <a:prstGeom prst="rect">
            <a:avLst/>
          </a:prstGeom>
          <a:noFill/>
        </p:spPr>
        <p:txBody>
          <a:bodyPr wrap="square" lIns="64008" tIns="0" rIns="45720" bIns="0">
            <a:normAutofit/>
          </a:bodyPr>
          <a:lstStyle/>
          <a:p>
            <a:pPr>
              <a:spcAft>
                <a:spcPts val="700"/>
              </a:spcAft>
              <a:defRPr sz="900" b="0">
                <a:solidFill>
                  <a:srgbClr val="398153"/>
                </a:solidFill>
                <a:latin typeface="Malgun Gothic"/>
              </a:defRPr>
            </a:pPr>
            <a:r>
              <a:t>AI SOFTWARE ENGINEERING</a:t>
            </a:r>
          </a:p>
        </p:txBody>
      </p:sp>
      <p:sp>
        <p:nvSpPr>
          <p:cNvPr id="3" name="Rectangle 2"/>
          <p:cNvSpPr/>
          <p:nvPr/>
        </p:nvSpPr>
        <p:spPr>
          <a:xfrm>
            <a:off x="594360" y="530352"/>
            <a:ext cx="10972800" cy="16459"/>
          </a:xfrm>
          <a:prstGeom prst="rect">
            <a:avLst/>
          </a:prstGeom>
          <a:solidFill>
            <a:srgbClr val="3981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713232"/>
            <a:ext cx="11064240" cy="437043"/>
          </a:xfrm>
          <a:prstGeom prst="rect">
            <a:avLst/>
          </a:prstGeom>
          <a:noFill/>
        </p:spPr>
        <p:txBody>
          <a:bodyPr wrap="square" lIns="64008" tIns="36576" rIns="45720">
            <a:normAutofit/>
          </a:bodyPr>
          <a:lstStyle/>
          <a:p>
            <a:pPr>
              <a:spcAft>
                <a:spcPts val="700"/>
              </a:spcAft>
              <a:defRPr sz="2300" b="1">
                <a:solidFill>
                  <a:srgbClr val="19365B"/>
                </a:solidFill>
                <a:latin typeface="Malgun Gothic"/>
              </a:defRPr>
            </a:pPr>
            <a:r>
              <a:rPr lang="en-US" dirty="0"/>
              <a:t>06. </a:t>
            </a:r>
            <a:r>
              <a:rPr dirty="0"/>
              <a:t>Technical Positioning</a:t>
            </a:r>
          </a:p>
        </p:txBody>
      </p:sp>
      <p:sp>
        <p:nvSpPr>
          <p:cNvPr id="5" name="TextBox 4"/>
          <p:cNvSpPr txBox="1"/>
          <p:nvPr/>
        </p:nvSpPr>
        <p:spPr>
          <a:xfrm>
            <a:off x="630936" y="1353312"/>
            <a:ext cx="10972800" cy="365760"/>
          </a:xfrm>
          <a:prstGeom prst="rect">
            <a:avLst/>
          </a:prstGeom>
          <a:noFill/>
        </p:spPr>
        <p:txBody>
          <a:bodyPr wrap="square" lIns="64008" tIns="0" rIns="45720" bIns="0">
            <a:normAutofit/>
          </a:bodyPr>
          <a:lstStyle/>
          <a:p>
            <a:pPr>
              <a:spcAft>
                <a:spcPts val="700"/>
              </a:spcAft>
              <a:defRPr sz="1100" b="0">
                <a:solidFill>
                  <a:srgbClr val="5F6A78"/>
                </a:solidFill>
                <a:latin typeface="Malgun Gothic"/>
              </a:defRPr>
            </a:pPr>
            <a:r>
              <a:t>AI Software Engineer</a:t>
            </a:r>
          </a:p>
        </p:txBody>
      </p:sp>
      <p:sp>
        <p:nvSpPr>
          <p:cNvPr id="6" name="TextBox 5"/>
          <p:cNvSpPr txBox="1"/>
          <p:nvPr/>
        </p:nvSpPr>
        <p:spPr>
          <a:xfrm>
            <a:off x="11201400" y="6446520"/>
            <a:ext cx="457200" cy="182880"/>
          </a:xfrm>
          <a:prstGeom prst="rect">
            <a:avLst/>
          </a:prstGeom>
          <a:noFill/>
        </p:spPr>
        <p:txBody>
          <a:bodyPr wrap="square" lIns="64008" tIns="0" rIns="45720" bIns="0">
            <a:normAutofit fontScale="77500" lnSpcReduction="20000"/>
          </a:bodyPr>
          <a:lstStyle/>
          <a:p>
            <a:pPr>
              <a:spcAft>
                <a:spcPts val="400"/>
              </a:spcAft>
            </a:pPr>
            <a:r>
              <a:rPr sz="1000">
                <a:solidFill>
                  <a:srgbClr val="5A626E"/>
                </a:solidFill>
              </a:rPr>
              <a:t>15</a:t>
            </a:r>
          </a:p>
        </p:txBody>
      </p:sp>
      <p:sp>
        <p:nvSpPr>
          <p:cNvPr id="7" name="Rounded Rectangle 6"/>
          <p:cNvSpPr/>
          <p:nvPr/>
        </p:nvSpPr>
        <p:spPr>
          <a:xfrm>
            <a:off x="777240" y="1810512"/>
            <a:ext cx="10698480" cy="1325880"/>
          </a:xfrm>
          <a:prstGeom prst="roundRect">
            <a:avLst/>
          </a:prstGeom>
          <a:solidFill>
            <a:srgbClr val="F6F8FC"/>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2176272"/>
            <a:ext cx="10241280" cy="594360"/>
          </a:xfrm>
          <a:prstGeom prst="rect">
            <a:avLst/>
          </a:prstGeom>
          <a:noFill/>
        </p:spPr>
        <p:txBody>
          <a:bodyPr wrap="square" lIns="64008" tIns="36576" rIns="45720">
            <a:normAutofit/>
          </a:bodyPr>
          <a:lstStyle/>
          <a:p>
            <a:pPr algn="ctr">
              <a:spcAft>
                <a:spcPts val="700"/>
              </a:spcAft>
              <a:defRPr sz="1900" b="1">
                <a:solidFill>
                  <a:srgbClr val="19365B"/>
                </a:solidFill>
                <a:latin typeface="Malgun Gothic"/>
              </a:defRPr>
            </a:pPr>
            <a:r>
              <a:t>모델 구현 · 학습 공통화 · 진단 설계 · 실행환경 분석 · 서비스 아키텍처</a:t>
            </a:r>
          </a:p>
        </p:txBody>
      </p:sp>
      <p:sp>
        <p:nvSpPr>
          <p:cNvPr id="9" name="Rounded Rectangle 8"/>
          <p:cNvSpPr/>
          <p:nvPr/>
        </p:nvSpPr>
        <p:spPr>
          <a:xfrm>
            <a:off x="640080" y="37033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40080" y="3703320"/>
            <a:ext cx="2640330" cy="420624"/>
          </a:xfrm>
          <a:prstGeom prst="roundRect">
            <a:avLst/>
          </a:prstGeom>
          <a:solidFill>
            <a:srgbClr val="2B56C0"/>
          </a:solidFill>
          <a:ln>
            <a:solidFill>
              <a:srgbClr val="2B56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3753611"/>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MODEL</a:t>
            </a:r>
          </a:p>
        </p:txBody>
      </p:sp>
      <p:sp>
        <p:nvSpPr>
          <p:cNvPr id="12" name="TextBox 11"/>
          <p:cNvSpPr txBox="1"/>
          <p:nvPr/>
        </p:nvSpPr>
        <p:spPr>
          <a:xfrm>
            <a:off x="786384" y="42702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Transformer / DNN</a:t>
            </a:r>
          </a:p>
          <a:p>
            <a:pPr>
              <a:spcAft>
                <a:spcPts val="700"/>
              </a:spcAft>
              <a:defRPr sz="1200" b="0">
                <a:solidFill>
                  <a:srgbClr val="242D38"/>
                </a:solidFill>
                <a:latin typeface="Malgun Gothic"/>
              </a:defRPr>
            </a:pPr>
            <a:r>
              <a:t>Forward / Backward</a:t>
            </a:r>
          </a:p>
        </p:txBody>
      </p:sp>
      <p:sp>
        <p:nvSpPr>
          <p:cNvPr id="13" name="Rounded Rectangle 12"/>
          <p:cNvSpPr/>
          <p:nvPr/>
        </p:nvSpPr>
        <p:spPr>
          <a:xfrm>
            <a:off x="3417570" y="37033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17570" y="3703320"/>
            <a:ext cx="2640330" cy="420624"/>
          </a:xfrm>
          <a:prstGeom prst="roundRect">
            <a:avLst/>
          </a:prstGeom>
          <a:solidFill>
            <a:srgbClr val="398153"/>
          </a:solidFill>
          <a:ln>
            <a:solidFill>
              <a:srgbClr val="3981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27298" y="3753611"/>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TRAINING</a:t>
            </a:r>
          </a:p>
        </p:txBody>
      </p:sp>
      <p:sp>
        <p:nvSpPr>
          <p:cNvPr id="16" name="TextBox 15"/>
          <p:cNvSpPr txBox="1"/>
          <p:nvPr/>
        </p:nvSpPr>
        <p:spPr>
          <a:xfrm>
            <a:off x="3563874" y="42702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Model-independent Core</a:t>
            </a:r>
          </a:p>
          <a:p>
            <a:pPr>
              <a:spcAft>
                <a:spcPts val="700"/>
              </a:spcAft>
              <a:defRPr sz="1200" b="0">
                <a:solidFill>
                  <a:srgbClr val="242D38"/>
                </a:solidFill>
                <a:latin typeface="Malgun Gothic"/>
              </a:defRPr>
            </a:pPr>
            <a:r>
              <a:t>Checkpoint / Metrics</a:t>
            </a:r>
          </a:p>
        </p:txBody>
      </p:sp>
      <p:sp>
        <p:nvSpPr>
          <p:cNvPr id="17" name="Rounded Rectangle 16"/>
          <p:cNvSpPr/>
          <p:nvPr/>
        </p:nvSpPr>
        <p:spPr>
          <a:xfrm>
            <a:off x="6195060" y="37033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195060" y="3703320"/>
            <a:ext cx="2640330" cy="420624"/>
          </a:xfrm>
          <a:prstGeom prst="roundRect">
            <a:avLst/>
          </a:prstGeom>
          <a:solidFill>
            <a:srgbClr val="704CA6"/>
          </a:solidFill>
          <a:ln>
            <a:solidFill>
              <a:srgbClr val="704C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04788" y="3753611"/>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RUNTIME</a:t>
            </a:r>
          </a:p>
        </p:txBody>
      </p:sp>
      <p:sp>
        <p:nvSpPr>
          <p:cNvPr id="20" name="TextBox 19"/>
          <p:cNvSpPr txBox="1"/>
          <p:nvPr/>
        </p:nvSpPr>
        <p:spPr>
          <a:xfrm>
            <a:off x="6341364" y="42702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t>CPU / CUDA / XPU</a:t>
            </a:r>
          </a:p>
          <a:p>
            <a:pPr>
              <a:spcAft>
                <a:spcPts val="700"/>
              </a:spcAft>
              <a:defRPr sz="1200" b="0">
                <a:solidFill>
                  <a:srgbClr val="242D38"/>
                </a:solidFill>
                <a:latin typeface="Malgun Gothic"/>
              </a:defRPr>
            </a:pPr>
            <a:r>
              <a:t>Device Profiling</a:t>
            </a:r>
          </a:p>
        </p:txBody>
      </p:sp>
      <p:sp>
        <p:nvSpPr>
          <p:cNvPr id="21" name="Rounded Rectangle 20"/>
          <p:cNvSpPr/>
          <p:nvPr/>
        </p:nvSpPr>
        <p:spPr>
          <a:xfrm>
            <a:off x="8972550" y="3703320"/>
            <a:ext cx="2640330" cy="1600200"/>
          </a:xfrm>
          <a:prstGeom prst="roundRect">
            <a:avLst/>
          </a:prstGeom>
          <a:solidFill>
            <a:srgbClr val="FFFFFF"/>
          </a:solidFill>
          <a:ln>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8972550" y="3703320"/>
            <a:ext cx="2640330" cy="420624"/>
          </a:xfrm>
          <a:prstGeom prst="roundRect">
            <a:avLst/>
          </a:prstGeom>
          <a:solidFill>
            <a:srgbClr val="C56E2E"/>
          </a:solidFill>
          <a:ln>
            <a:solidFill>
              <a:srgbClr val="C56E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082278" y="3753611"/>
            <a:ext cx="2420874" cy="320040"/>
          </a:xfrm>
          <a:prstGeom prst="rect">
            <a:avLst/>
          </a:prstGeom>
          <a:noFill/>
        </p:spPr>
        <p:txBody>
          <a:bodyPr wrap="square" lIns="64008" tIns="0" rIns="45720" bIns="0">
            <a:normAutofit/>
          </a:bodyPr>
          <a:lstStyle/>
          <a:p>
            <a:pPr>
              <a:spcAft>
                <a:spcPts val="700"/>
              </a:spcAft>
              <a:defRPr sz="1300" b="1">
                <a:solidFill>
                  <a:srgbClr val="FFFFFF"/>
                </a:solidFill>
                <a:latin typeface="Malgun Gothic"/>
              </a:defRPr>
            </a:pPr>
            <a:r>
              <a:t>APPLICATION</a:t>
            </a:r>
          </a:p>
        </p:txBody>
      </p:sp>
      <p:sp>
        <p:nvSpPr>
          <p:cNvPr id="24" name="TextBox 23"/>
          <p:cNvSpPr txBox="1"/>
          <p:nvPr/>
        </p:nvSpPr>
        <p:spPr>
          <a:xfrm>
            <a:off x="9118854" y="4270248"/>
            <a:ext cx="2347722" cy="978407"/>
          </a:xfrm>
          <a:prstGeom prst="rect">
            <a:avLst/>
          </a:prstGeom>
          <a:noFill/>
        </p:spPr>
        <p:txBody>
          <a:bodyPr wrap="square" lIns="64008" tIns="36576" rIns="45720">
            <a:normAutofit/>
          </a:bodyPr>
          <a:lstStyle/>
          <a:p>
            <a:pPr>
              <a:spcAft>
                <a:spcPts val="700"/>
              </a:spcAft>
              <a:defRPr sz="1200" b="0">
                <a:solidFill>
                  <a:srgbClr val="242D38"/>
                </a:solidFill>
                <a:latin typeface="Malgun Gothic"/>
              </a:defRPr>
            </a:pPr>
            <a:r>
              <a:rPr dirty="0"/>
              <a:t>Java / Spring</a:t>
            </a:r>
          </a:p>
          <a:p>
            <a:pPr>
              <a:spcAft>
                <a:spcPts val="700"/>
              </a:spcAft>
              <a:defRPr sz="1200" b="0">
                <a:solidFill>
                  <a:srgbClr val="242D38"/>
                </a:solidFill>
                <a:latin typeface="Malgun Gothic"/>
              </a:defRPr>
            </a:pPr>
            <a:r>
              <a:rPr dirty="0"/>
              <a:t>Integration Foundation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114</TotalTime>
  <Words>2564</Words>
  <Application>Microsoft Office PowerPoint</Application>
  <PresentationFormat>와이드스크린</PresentationFormat>
  <Paragraphs>312</Paragraphs>
  <Slides>15</Slides>
  <Notes>15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15</vt:i4>
      </vt:variant>
    </vt:vector>
  </HeadingPairs>
  <TitlesOfParts>
    <vt:vector size="19" baseType="lpstr">
      <vt:lpstr>Malgun Gothic</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노미정</cp:lastModifiedBy>
  <cp:revision>55</cp:revision>
  <dcterms:created xsi:type="dcterms:W3CDTF">2013-01-27T09:14:16Z</dcterms:created>
  <dcterms:modified xsi:type="dcterms:W3CDTF">2026-10-28T09:26:54Z</dcterms:modified>
  <cp:category/>
</cp:coreProperties>
</file>
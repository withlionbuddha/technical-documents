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8" r:id="rId3"/>
    <p:sldId id="257" r:id="rId4"/>
    <p:sldId id="258" r:id="rId5"/>
    <p:sldId id="259" r:id="rId6"/>
    <p:sldId id="260" r:id="rId7"/>
    <p:sldId id="267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4143" autoAdjust="0"/>
  </p:normalViewPr>
  <p:slideViewPr>
    <p:cSldViewPr snapToGrid="0" snapToObjects="1">
      <p:cViewPr varScale="1">
        <p:scale>
          <a:sx n="40" d="100"/>
          <a:sy n="40" d="100"/>
        </p:scale>
        <p:origin x="166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108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8448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본 </a:t>
            </a:r>
            <a:r>
              <a:rPr dirty="0" err="1"/>
              <a:t>포트폴리오는</a:t>
            </a:r>
            <a:r>
              <a:rPr dirty="0"/>
              <a:t> </a:t>
            </a:r>
            <a:r>
              <a:rPr dirty="0" err="1"/>
              <a:t>소프트웨어</a:t>
            </a:r>
            <a:r>
              <a:rPr dirty="0"/>
              <a:t> </a:t>
            </a:r>
            <a:r>
              <a:rPr dirty="0" err="1"/>
              <a:t>엔지니어링</a:t>
            </a:r>
            <a:r>
              <a:rPr dirty="0"/>
              <a:t> </a:t>
            </a:r>
            <a:r>
              <a:rPr dirty="0" err="1"/>
              <a:t>경험을</a:t>
            </a:r>
            <a:r>
              <a:rPr dirty="0"/>
              <a:t> </a:t>
            </a:r>
            <a:r>
              <a:rPr dirty="0" err="1"/>
              <a:t>기반으로</a:t>
            </a:r>
            <a:r>
              <a:rPr dirty="0"/>
              <a:t> AI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,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인프라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, </a:t>
            </a:r>
            <a:r>
              <a:rPr dirty="0" err="1"/>
              <a:t>실행환경</a:t>
            </a:r>
            <a:r>
              <a:rPr dirty="0"/>
              <a:t> </a:t>
            </a:r>
            <a:r>
              <a:rPr dirty="0" err="1"/>
              <a:t>분석</a:t>
            </a:r>
            <a:r>
              <a:rPr dirty="0"/>
              <a:t>, </a:t>
            </a:r>
            <a:r>
              <a:rPr dirty="0" err="1"/>
              <a:t>그리고</a:t>
            </a:r>
            <a:r>
              <a:rPr dirty="0"/>
              <a:t> </a:t>
            </a:r>
            <a:r>
              <a:rPr dirty="0" err="1"/>
              <a:t>애플리케이션</a:t>
            </a:r>
            <a:r>
              <a:rPr dirty="0"/>
              <a:t> </a:t>
            </a:r>
            <a:r>
              <a:rPr dirty="0" err="1"/>
              <a:t>아키텍처까지</a:t>
            </a:r>
            <a:r>
              <a:rPr dirty="0"/>
              <a:t> </a:t>
            </a:r>
            <a:r>
              <a:rPr dirty="0" err="1"/>
              <a:t>확장해</a:t>
            </a:r>
            <a:r>
              <a:rPr dirty="0"/>
              <a:t> 온 </a:t>
            </a:r>
            <a:r>
              <a:rPr dirty="0" err="1"/>
              <a:t>기술적</a:t>
            </a:r>
            <a:r>
              <a:rPr dirty="0"/>
              <a:t> </a:t>
            </a:r>
            <a:r>
              <a:rPr dirty="0" err="1"/>
              <a:t>역량을</a:t>
            </a:r>
            <a:r>
              <a:rPr dirty="0"/>
              <a:t> </a:t>
            </a:r>
            <a:r>
              <a:rPr dirty="0" err="1"/>
              <a:t>소개하겠습니다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제 </a:t>
            </a:r>
            <a:r>
              <a:rPr dirty="0" err="1"/>
              <a:t>접근</a:t>
            </a:r>
            <a:r>
              <a:rPr dirty="0"/>
              <a:t> </a:t>
            </a:r>
            <a:r>
              <a:rPr dirty="0" err="1"/>
              <a:t>방식의</a:t>
            </a:r>
            <a:r>
              <a:rPr dirty="0"/>
              <a:t> </a:t>
            </a:r>
            <a:r>
              <a:rPr dirty="0" err="1"/>
              <a:t>특징은</a:t>
            </a:r>
            <a:r>
              <a:rPr dirty="0"/>
              <a:t> </a:t>
            </a:r>
            <a:r>
              <a:rPr dirty="0" err="1"/>
              <a:t>모델을</a:t>
            </a:r>
            <a:r>
              <a:rPr dirty="0"/>
              <a:t> </a:t>
            </a:r>
            <a:r>
              <a:rPr dirty="0" err="1"/>
              <a:t>단순히</a:t>
            </a:r>
            <a:r>
              <a:rPr dirty="0"/>
              <a:t> </a:t>
            </a:r>
            <a:r>
              <a:rPr dirty="0" err="1"/>
              <a:t>호출하거나</a:t>
            </a:r>
            <a:r>
              <a:rPr dirty="0"/>
              <a:t> </a:t>
            </a:r>
            <a:r>
              <a:rPr dirty="0" err="1"/>
              <a:t>학습시키는</a:t>
            </a:r>
            <a:r>
              <a:rPr dirty="0"/>
              <a:t> </a:t>
            </a:r>
            <a:r>
              <a:rPr dirty="0" err="1"/>
              <a:t>수준에</a:t>
            </a:r>
            <a:r>
              <a:rPr dirty="0"/>
              <a:t> </a:t>
            </a:r>
            <a:r>
              <a:rPr dirty="0" err="1"/>
              <a:t>머무르지</a:t>
            </a:r>
            <a:r>
              <a:rPr dirty="0"/>
              <a:t> </a:t>
            </a:r>
            <a:r>
              <a:rPr dirty="0" err="1"/>
              <a:t>않고</a:t>
            </a:r>
            <a:r>
              <a:rPr dirty="0"/>
              <a:t>,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연산을</a:t>
            </a:r>
            <a:r>
              <a:rPr dirty="0"/>
              <a:t> </a:t>
            </a:r>
            <a:r>
              <a:rPr dirty="0" err="1"/>
              <a:t>이해하고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과정을</a:t>
            </a:r>
            <a:r>
              <a:rPr dirty="0"/>
              <a:t> </a:t>
            </a:r>
            <a:r>
              <a:rPr dirty="0" err="1"/>
              <a:t>재사용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소프트웨어</a:t>
            </a:r>
            <a:r>
              <a:rPr dirty="0"/>
              <a:t> </a:t>
            </a:r>
            <a:r>
              <a:rPr dirty="0" err="1"/>
              <a:t>구조로</a:t>
            </a:r>
            <a:r>
              <a:rPr dirty="0"/>
              <a:t> </a:t>
            </a:r>
            <a:r>
              <a:rPr dirty="0" err="1"/>
              <a:t>만드는</a:t>
            </a:r>
            <a:r>
              <a:rPr dirty="0"/>
              <a:t> 데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주요</a:t>
            </a:r>
            <a:r>
              <a:rPr dirty="0"/>
              <a:t> </a:t>
            </a:r>
            <a:r>
              <a:rPr dirty="0" err="1"/>
              <a:t>프로젝트의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범위와</a:t>
            </a:r>
            <a:r>
              <a:rPr dirty="0"/>
              <a:t> 검증 </a:t>
            </a:r>
            <a:r>
              <a:rPr dirty="0" err="1"/>
              <a:t>근거를</a:t>
            </a:r>
            <a:r>
              <a:rPr dirty="0"/>
              <a:t> </a:t>
            </a:r>
            <a:r>
              <a:rPr dirty="0" err="1"/>
              <a:t>아래에</a:t>
            </a:r>
            <a:r>
              <a:rPr dirty="0"/>
              <a:t> </a:t>
            </a:r>
            <a:r>
              <a:rPr dirty="0" err="1"/>
              <a:t>정리했습니다</a:t>
            </a:r>
            <a:r>
              <a:rPr dirty="0"/>
              <a:t>. </a:t>
            </a:r>
            <a:endParaRPr lang="en-US" dirty="0"/>
          </a:p>
          <a:p>
            <a:endParaRPr lang="en-US" dirty="0"/>
          </a:p>
          <a:p>
            <a:r>
              <a:rPr dirty="0" err="1"/>
              <a:t>첫째</a:t>
            </a:r>
            <a:r>
              <a:rPr dirty="0"/>
              <a:t>, PyTorch </a:t>
            </a:r>
            <a:r>
              <a:rPr dirty="0" err="1"/>
              <a:t>기반의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비종속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라이브러리인</a:t>
            </a:r>
            <a:r>
              <a:rPr dirty="0"/>
              <a:t> deep-learning-</a:t>
            </a:r>
            <a:r>
              <a:rPr dirty="0" err="1"/>
              <a:t>core입니다</a:t>
            </a:r>
            <a:r>
              <a:rPr dirty="0"/>
              <a:t>. </a:t>
            </a:r>
            <a:endParaRPr lang="en-US" dirty="0"/>
          </a:p>
          <a:p>
            <a:r>
              <a:rPr dirty="0" err="1"/>
              <a:t>둘째</a:t>
            </a:r>
            <a:r>
              <a:rPr dirty="0"/>
              <a:t>, </a:t>
            </a:r>
            <a:r>
              <a:rPr dirty="0" err="1"/>
              <a:t>토크나이저부터</a:t>
            </a:r>
            <a:r>
              <a:rPr dirty="0"/>
              <a:t> </a:t>
            </a:r>
            <a:r>
              <a:rPr dirty="0" err="1"/>
              <a:t>디코더까지</a:t>
            </a:r>
            <a:r>
              <a:rPr dirty="0"/>
              <a:t> </a:t>
            </a:r>
            <a:r>
              <a:rPr dirty="0" err="1"/>
              <a:t>구현한</a:t>
            </a:r>
            <a:r>
              <a:rPr dirty="0"/>
              <a:t> Decoder-only Transformer </a:t>
            </a:r>
            <a:r>
              <a:rPr dirty="0" err="1"/>
              <a:t>SLM입니다</a:t>
            </a:r>
            <a:r>
              <a:rPr dirty="0"/>
              <a:t>. </a:t>
            </a:r>
            <a:endParaRPr lang="en-US" dirty="0"/>
          </a:p>
          <a:p>
            <a:r>
              <a:rPr dirty="0" err="1"/>
              <a:t>셋째</a:t>
            </a:r>
            <a:r>
              <a:rPr dirty="0"/>
              <a:t>, </a:t>
            </a:r>
            <a:r>
              <a:rPr dirty="0" err="1"/>
              <a:t>미분과</a:t>
            </a:r>
            <a:r>
              <a:rPr dirty="0"/>
              <a:t> </a:t>
            </a:r>
            <a:r>
              <a:rPr dirty="0" err="1"/>
              <a:t>역전파</a:t>
            </a:r>
            <a:r>
              <a:rPr dirty="0"/>
              <a:t> </a:t>
            </a:r>
            <a:r>
              <a:rPr dirty="0" err="1"/>
              <a:t>원리를</a:t>
            </a:r>
            <a:r>
              <a:rPr dirty="0"/>
              <a:t> </a:t>
            </a:r>
            <a:r>
              <a:rPr dirty="0" err="1"/>
              <a:t>검증하기</a:t>
            </a:r>
            <a:r>
              <a:rPr dirty="0"/>
              <a:t> </a:t>
            </a:r>
            <a:r>
              <a:rPr dirty="0" err="1"/>
              <a:t>위해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구현한</a:t>
            </a:r>
            <a:r>
              <a:rPr dirty="0"/>
              <a:t> Fully Connected </a:t>
            </a:r>
            <a:r>
              <a:rPr dirty="0" err="1"/>
              <a:t>DNN입니다</a:t>
            </a:r>
            <a:r>
              <a:rPr dirty="0"/>
              <a:t>. </a:t>
            </a:r>
            <a:endParaRPr lang="en-US" dirty="0"/>
          </a:p>
          <a:p>
            <a:r>
              <a:rPr dirty="0" err="1"/>
              <a:t>넷째</a:t>
            </a:r>
            <a:r>
              <a:rPr dirty="0"/>
              <a:t>, AI </a:t>
            </a:r>
            <a:r>
              <a:rPr dirty="0" err="1"/>
              <a:t>추론</a:t>
            </a:r>
            <a:r>
              <a:rPr dirty="0"/>
              <a:t> </a:t>
            </a:r>
            <a:r>
              <a:rPr dirty="0" err="1"/>
              <a:t>서비스와</a:t>
            </a:r>
            <a:r>
              <a:rPr dirty="0"/>
              <a:t> </a:t>
            </a:r>
            <a:r>
              <a:rPr dirty="0" err="1"/>
              <a:t>연결할</a:t>
            </a:r>
            <a:r>
              <a:rPr dirty="0"/>
              <a:t> 수 </a:t>
            </a:r>
            <a:r>
              <a:rPr dirty="0" err="1"/>
              <a:t>있는</a:t>
            </a:r>
            <a:r>
              <a:rPr dirty="0"/>
              <a:t> Spring Boot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재사용</a:t>
            </a:r>
            <a:r>
              <a:rPr dirty="0"/>
              <a:t> </a:t>
            </a:r>
            <a:r>
              <a:rPr dirty="0" err="1"/>
              <a:t>아키텍처입니다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기술평가</a:t>
            </a:r>
            <a:r>
              <a:rPr dirty="0"/>
              <a:t> </a:t>
            </a:r>
            <a:r>
              <a:rPr dirty="0" err="1"/>
              <a:t>시에는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완료</a:t>
            </a:r>
            <a:r>
              <a:rPr lang="en-US" dirty="0"/>
              <a:t> </a:t>
            </a:r>
            <a:r>
              <a:rPr dirty="0"/>
              <a:t>·</a:t>
            </a:r>
            <a:r>
              <a:rPr lang="en-US" dirty="0"/>
              <a:t> </a:t>
            </a:r>
            <a:r>
              <a:rPr dirty="0" err="1"/>
              <a:t>개발</a:t>
            </a:r>
            <a:r>
              <a:rPr dirty="0"/>
              <a:t> 중</a:t>
            </a:r>
            <a:r>
              <a:rPr lang="en-US" dirty="0"/>
              <a:t> </a:t>
            </a:r>
            <a:r>
              <a:rPr dirty="0"/>
              <a:t>·</a:t>
            </a:r>
            <a:r>
              <a:rPr lang="en-US" dirty="0"/>
              <a:t> </a:t>
            </a:r>
            <a:r>
              <a:rPr dirty="0" err="1"/>
              <a:t>확장</a:t>
            </a:r>
            <a:r>
              <a:rPr dirty="0"/>
              <a:t> </a:t>
            </a:r>
            <a:r>
              <a:rPr dirty="0" err="1"/>
              <a:t>예정</a:t>
            </a:r>
            <a:r>
              <a:rPr dirty="0"/>
              <a:t> </a:t>
            </a:r>
            <a:r>
              <a:rPr dirty="0" err="1"/>
              <a:t>항목을</a:t>
            </a:r>
            <a:r>
              <a:rPr dirty="0"/>
              <a:t> </a:t>
            </a:r>
            <a:r>
              <a:rPr dirty="0" err="1"/>
              <a:t>구분하여</a:t>
            </a:r>
            <a:r>
              <a:rPr dirty="0"/>
              <a:t> </a:t>
            </a:r>
            <a:r>
              <a:rPr dirty="0" err="1"/>
              <a:t>검토할</a:t>
            </a:r>
            <a:r>
              <a:rPr dirty="0"/>
              <a:t> 수 </a:t>
            </a:r>
            <a:r>
              <a:rPr dirty="0" err="1"/>
              <a:t>있습니다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발표는</a:t>
            </a:r>
            <a:r>
              <a:rPr dirty="0"/>
              <a:t> 01번부터 06번까지 </a:t>
            </a:r>
            <a:r>
              <a:rPr dirty="0" err="1"/>
              <a:t>여섯</a:t>
            </a:r>
            <a:r>
              <a:rPr dirty="0"/>
              <a:t> </a:t>
            </a:r>
            <a:r>
              <a:rPr dirty="0" err="1"/>
              <a:t>부분으로</a:t>
            </a:r>
            <a:r>
              <a:rPr dirty="0"/>
              <a:t> </a:t>
            </a:r>
            <a:r>
              <a:rPr dirty="0" err="1"/>
              <a:t>구성했습니다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01번 deep-learning-</a:t>
            </a:r>
            <a:r>
              <a:rPr dirty="0" err="1"/>
              <a:t>core에서는</a:t>
            </a:r>
            <a:r>
              <a:rPr dirty="0"/>
              <a:t> </a:t>
            </a:r>
            <a:r>
              <a:rPr dirty="0" err="1"/>
              <a:t>모델별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코드를</a:t>
            </a:r>
            <a:r>
              <a:rPr dirty="0"/>
              <a:t> </a:t>
            </a:r>
            <a:r>
              <a:rPr dirty="0" err="1"/>
              <a:t>어떻게</a:t>
            </a:r>
            <a:r>
              <a:rPr dirty="0"/>
              <a:t>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인프라로</a:t>
            </a:r>
            <a:r>
              <a:rPr dirty="0"/>
              <a:t> </a:t>
            </a:r>
            <a:r>
              <a:rPr dirty="0" err="1"/>
              <a:t>분리했는지</a:t>
            </a:r>
            <a:r>
              <a:rPr dirty="0"/>
              <a:t>,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구조와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진단</a:t>
            </a:r>
            <a:r>
              <a:rPr dirty="0"/>
              <a:t> </a:t>
            </a:r>
            <a:r>
              <a:rPr dirty="0" err="1"/>
              <a:t>기능을</a:t>
            </a:r>
            <a:r>
              <a:rPr dirty="0"/>
              <a:t> </a:t>
            </a:r>
            <a:r>
              <a:rPr dirty="0" err="1"/>
              <a:t>어떻게</a:t>
            </a:r>
            <a:r>
              <a:rPr dirty="0"/>
              <a:t> </a:t>
            </a:r>
            <a:r>
              <a:rPr dirty="0" err="1"/>
              <a:t>설계했는지</a:t>
            </a:r>
            <a:r>
              <a:rPr dirty="0"/>
              <a:t> </a:t>
            </a:r>
            <a:r>
              <a:rPr dirty="0" err="1"/>
              <a:t>설명합니다</a:t>
            </a:r>
            <a:r>
              <a:rPr dirty="0"/>
              <a:t>. </a:t>
            </a:r>
            <a:r>
              <a:rPr dirty="0" err="1"/>
              <a:t>특히</a:t>
            </a:r>
            <a:r>
              <a:rPr dirty="0"/>
              <a:t> </a:t>
            </a:r>
            <a:r>
              <a:rPr dirty="0" err="1"/>
              <a:t>현재</a:t>
            </a:r>
            <a:r>
              <a:rPr dirty="0"/>
              <a:t> </a:t>
            </a:r>
            <a:r>
              <a:rPr dirty="0" err="1"/>
              <a:t>구현된</a:t>
            </a:r>
            <a:r>
              <a:rPr dirty="0"/>
              <a:t> </a:t>
            </a:r>
            <a:r>
              <a:rPr dirty="0" err="1"/>
              <a:t>TensorStatistics와</a:t>
            </a:r>
            <a:r>
              <a:rPr dirty="0"/>
              <a:t> </a:t>
            </a:r>
            <a:r>
              <a:rPr dirty="0" err="1"/>
              <a:t>WeightDiagnostics</a:t>
            </a:r>
            <a:r>
              <a:rPr dirty="0"/>
              <a:t>, </a:t>
            </a:r>
            <a:r>
              <a:rPr dirty="0" err="1"/>
              <a:t>그리고</a:t>
            </a:r>
            <a:r>
              <a:rPr dirty="0"/>
              <a:t> </a:t>
            </a:r>
            <a:r>
              <a:rPr dirty="0" err="1"/>
              <a:t>개발</a:t>
            </a:r>
            <a:r>
              <a:rPr dirty="0"/>
              <a:t> </a:t>
            </a:r>
            <a:r>
              <a:rPr dirty="0" err="1"/>
              <a:t>중인</a:t>
            </a:r>
            <a:r>
              <a:rPr dirty="0"/>
              <a:t> </a:t>
            </a:r>
            <a:r>
              <a:rPr dirty="0" err="1"/>
              <a:t>NeuronDiagnostic을</a:t>
            </a:r>
            <a:r>
              <a:rPr dirty="0"/>
              <a:t> </a:t>
            </a:r>
            <a:r>
              <a:rPr dirty="0" err="1"/>
              <a:t>구분해</a:t>
            </a:r>
            <a:r>
              <a:rPr dirty="0"/>
              <a:t> </a:t>
            </a:r>
            <a:r>
              <a:rPr dirty="0" err="1"/>
              <a:t>소개하겠습니다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02번 Decoder-only Transformer </a:t>
            </a:r>
            <a:r>
              <a:rPr dirty="0" err="1"/>
              <a:t>SLM에서는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토큰화부터</a:t>
            </a:r>
            <a:r>
              <a:rPr dirty="0"/>
              <a:t> Decoder Block, </a:t>
            </a:r>
            <a:r>
              <a:rPr dirty="0" err="1"/>
              <a:t>학습·검증</a:t>
            </a:r>
            <a:r>
              <a:rPr dirty="0"/>
              <a:t>, </a:t>
            </a:r>
            <a:r>
              <a:rPr dirty="0" err="1"/>
              <a:t>CPU와</a:t>
            </a:r>
            <a:r>
              <a:rPr dirty="0"/>
              <a:t> Intel XPU </a:t>
            </a:r>
            <a:r>
              <a:rPr dirty="0" err="1"/>
              <a:t>실행환경</a:t>
            </a:r>
            <a:r>
              <a:rPr dirty="0"/>
              <a:t> </a:t>
            </a:r>
            <a:r>
              <a:rPr dirty="0" err="1"/>
              <a:t>분석까지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경험을</a:t>
            </a:r>
            <a:r>
              <a:rPr dirty="0"/>
              <a:t> </a:t>
            </a:r>
            <a:r>
              <a:rPr dirty="0" err="1"/>
              <a:t>다룹니다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03번 Fully Connected </a:t>
            </a:r>
            <a:r>
              <a:rPr dirty="0" err="1"/>
              <a:t>DNN에서는</a:t>
            </a:r>
            <a:r>
              <a:rPr dirty="0"/>
              <a:t> </a:t>
            </a:r>
            <a:r>
              <a:rPr dirty="0" err="1"/>
              <a:t>뉴런과</a:t>
            </a:r>
            <a:r>
              <a:rPr dirty="0"/>
              <a:t> </a:t>
            </a:r>
            <a:r>
              <a:rPr dirty="0" err="1"/>
              <a:t>레이어</a:t>
            </a:r>
            <a:r>
              <a:rPr dirty="0"/>
              <a:t>, Forward 및 Backward </a:t>
            </a:r>
            <a:r>
              <a:rPr dirty="0" err="1"/>
              <a:t>Propagation을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구현하고</a:t>
            </a:r>
            <a:r>
              <a:rPr dirty="0"/>
              <a:t> </a:t>
            </a:r>
            <a:r>
              <a:rPr dirty="0" err="1"/>
              <a:t>수학적</a:t>
            </a:r>
            <a:r>
              <a:rPr dirty="0"/>
              <a:t> </a:t>
            </a:r>
            <a:r>
              <a:rPr dirty="0" err="1"/>
              <a:t>기댓값으로</a:t>
            </a:r>
            <a:r>
              <a:rPr dirty="0"/>
              <a:t> </a:t>
            </a:r>
            <a:r>
              <a:rPr dirty="0" err="1"/>
              <a:t>검증한</a:t>
            </a:r>
            <a:r>
              <a:rPr dirty="0"/>
              <a:t> </a:t>
            </a:r>
            <a:r>
              <a:rPr dirty="0" err="1"/>
              <a:t>내용을</a:t>
            </a:r>
            <a:r>
              <a:rPr dirty="0"/>
              <a:t> </a:t>
            </a:r>
            <a:r>
              <a:rPr dirty="0" err="1"/>
              <a:t>설명합니다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04번 Spring Boot </a:t>
            </a:r>
            <a:r>
              <a:rPr dirty="0" err="1"/>
              <a:t>Architecture에서는</a:t>
            </a:r>
            <a:r>
              <a:rPr dirty="0"/>
              <a:t> </a:t>
            </a:r>
            <a:r>
              <a:rPr dirty="0" err="1"/>
              <a:t>보안</a:t>
            </a:r>
            <a:r>
              <a:rPr dirty="0"/>
              <a:t>, API,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연동을</a:t>
            </a:r>
            <a:r>
              <a:rPr dirty="0"/>
              <a:t> </a:t>
            </a:r>
            <a:r>
              <a:rPr dirty="0" err="1"/>
              <a:t>재사용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서비스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요소로</a:t>
            </a:r>
            <a:r>
              <a:rPr dirty="0"/>
              <a:t> </a:t>
            </a:r>
            <a:r>
              <a:rPr dirty="0" err="1"/>
              <a:t>분리한</a:t>
            </a:r>
            <a:r>
              <a:rPr dirty="0"/>
              <a:t> </a:t>
            </a:r>
            <a:r>
              <a:rPr dirty="0" err="1"/>
              <a:t>방식을</a:t>
            </a:r>
            <a:r>
              <a:rPr dirty="0"/>
              <a:t> </a:t>
            </a:r>
            <a:r>
              <a:rPr dirty="0" err="1"/>
              <a:t>살펴봅니다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05번은 </a:t>
            </a:r>
            <a:r>
              <a:rPr dirty="0" err="1"/>
              <a:t>이전</a:t>
            </a:r>
            <a:r>
              <a:rPr dirty="0"/>
              <a:t> </a:t>
            </a:r>
            <a:r>
              <a:rPr dirty="0" err="1"/>
              <a:t>실무에서</a:t>
            </a:r>
            <a:r>
              <a:rPr dirty="0"/>
              <a:t> </a:t>
            </a:r>
            <a:r>
              <a:rPr dirty="0" err="1"/>
              <a:t>수행한</a:t>
            </a:r>
            <a:r>
              <a:rPr dirty="0"/>
              <a:t> </a:t>
            </a:r>
            <a:r>
              <a:rPr dirty="0" err="1"/>
              <a:t>성능</a:t>
            </a:r>
            <a:r>
              <a:rPr dirty="0"/>
              <a:t> </a:t>
            </a:r>
            <a:r>
              <a:rPr dirty="0" err="1"/>
              <a:t>최적화와</a:t>
            </a:r>
            <a:r>
              <a:rPr dirty="0"/>
              <a:t> </a:t>
            </a:r>
            <a:r>
              <a:rPr dirty="0" err="1"/>
              <a:t>플랫폼</a:t>
            </a:r>
            <a:r>
              <a:rPr dirty="0"/>
              <a:t> </a:t>
            </a:r>
            <a:r>
              <a:rPr dirty="0" err="1"/>
              <a:t>통합</a:t>
            </a:r>
            <a:r>
              <a:rPr dirty="0"/>
              <a:t> </a:t>
            </a:r>
            <a:r>
              <a:rPr dirty="0" err="1"/>
              <a:t>경험이며</a:t>
            </a:r>
            <a:r>
              <a:rPr dirty="0"/>
              <a:t>, 06번은 </a:t>
            </a:r>
            <a:r>
              <a:rPr dirty="0" err="1"/>
              <a:t>앞선</a:t>
            </a:r>
            <a:r>
              <a:rPr dirty="0"/>
              <a:t> </a:t>
            </a:r>
            <a:r>
              <a:rPr dirty="0" err="1"/>
              <a:t>내용을</a:t>
            </a:r>
            <a:r>
              <a:rPr dirty="0"/>
              <a:t> AI Software </a:t>
            </a:r>
            <a:r>
              <a:rPr dirty="0" err="1"/>
              <a:t>Engineer의</a:t>
            </a:r>
            <a:r>
              <a:rPr dirty="0"/>
              <a:t> </a:t>
            </a:r>
            <a:r>
              <a:rPr dirty="0" err="1"/>
              <a:t>역량으로</a:t>
            </a:r>
            <a:r>
              <a:rPr dirty="0"/>
              <a:t> </a:t>
            </a:r>
            <a:r>
              <a:rPr dirty="0" err="1"/>
              <a:t>종합하는</a:t>
            </a:r>
            <a:r>
              <a:rPr dirty="0"/>
              <a:t> </a:t>
            </a:r>
            <a:r>
              <a:rPr dirty="0" err="1"/>
              <a:t>결론입니다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평가</a:t>
            </a:r>
            <a:r>
              <a:rPr dirty="0"/>
              <a:t> </a:t>
            </a:r>
            <a:r>
              <a:rPr dirty="0" err="1"/>
              <a:t>관점은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범위</a:t>
            </a:r>
            <a:r>
              <a:rPr dirty="0"/>
              <a:t>, </a:t>
            </a:r>
            <a:r>
              <a:rPr dirty="0" err="1"/>
              <a:t>아키텍처의</a:t>
            </a:r>
            <a:r>
              <a:rPr dirty="0"/>
              <a:t> </a:t>
            </a:r>
            <a:r>
              <a:rPr dirty="0" err="1"/>
              <a:t>책임</a:t>
            </a:r>
            <a:r>
              <a:rPr dirty="0"/>
              <a:t> </a:t>
            </a:r>
            <a:r>
              <a:rPr dirty="0" err="1"/>
              <a:t>분리</a:t>
            </a:r>
            <a:r>
              <a:rPr dirty="0"/>
              <a:t>, 검증 </a:t>
            </a:r>
            <a:r>
              <a:rPr dirty="0" err="1"/>
              <a:t>근거</a:t>
            </a:r>
            <a:r>
              <a:rPr dirty="0"/>
              <a:t>, </a:t>
            </a:r>
            <a:r>
              <a:rPr dirty="0" err="1"/>
              <a:t>그리고</a:t>
            </a:r>
            <a:r>
              <a:rPr dirty="0"/>
              <a:t> </a:t>
            </a:r>
            <a:r>
              <a:rPr dirty="0" err="1"/>
              <a:t>현재</a:t>
            </a:r>
            <a:r>
              <a:rPr dirty="0"/>
              <a:t> </a:t>
            </a:r>
            <a:r>
              <a:rPr dirty="0" err="1"/>
              <a:t>한계를</a:t>
            </a:r>
            <a:r>
              <a:rPr dirty="0"/>
              <a:t> </a:t>
            </a:r>
            <a:r>
              <a:rPr dirty="0" err="1"/>
              <a:t>얼마나</a:t>
            </a:r>
            <a:r>
              <a:rPr dirty="0"/>
              <a:t> </a:t>
            </a:r>
            <a:r>
              <a:rPr dirty="0" err="1"/>
              <a:t>명확히</a:t>
            </a:r>
            <a:r>
              <a:rPr dirty="0"/>
              <a:t> </a:t>
            </a:r>
            <a:r>
              <a:rPr dirty="0" err="1"/>
              <a:t>인식하고</a:t>
            </a:r>
            <a:r>
              <a:rPr dirty="0"/>
              <a:t> </a:t>
            </a:r>
            <a:r>
              <a:rPr dirty="0" err="1"/>
              <a:t>있는지입니다</a:t>
            </a:r>
            <a:r>
              <a:rPr dirty="0"/>
              <a:t>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이 </a:t>
            </a:r>
            <a:r>
              <a:rPr dirty="0" err="1"/>
              <a:t>슬라이드는</a:t>
            </a:r>
            <a:r>
              <a:rPr dirty="0"/>
              <a:t> </a:t>
            </a:r>
            <a:r>
              <a:rPr dirty="0" err="1"/>
              <a:t>개별</a:t>
            </a:r>
            <a:r>
              <a:rPr dirty="0"/>
              <a:t> </a:t>
            </a:r>
            <a:r>
              <a:rPr dirty="0" err="1"/>
              <a:t>프로젝트가</a:t>
            </a:r>
            <a:r>
              <a:rPr dirty="0"/>
              <a:t> </a:t>
            </a:r>
            <a:r>
              <a:rPr dirty="0" err="1"/>
              <a:t>단절된</a:t>
            </a:r>
            <a:r>
              <a:rPr dirty="0"/>
              <a:t> </a:t>
            </a:r>
            <a:r>
              <a:rPr dirty="0" err="1"/>
              <a:t>결과물이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</a:t>
            </a:r>
            <a:r>
              <a:rPr dirty="0" err="1"/>
              <a:t>하나의</a:t>
            </a:r>
            <a:r>
              <a:rPr dirty="0"/>
              <a:t> </a:t>
            </a:r>
            <a:r>
              <a:rPr dirty="0" err="1"/>
              <a:t>엔지니어링</a:t>
            </a:r>
            <a:r>
              <a:rPr dirty="0"/>
              <a:t> </a:t>
            </a:r>
            <a:r>
              <a:rPr dirty="0" err="1"/>
              <a:t>역량으로</a:t>
            </a:r>
            <a:r>
              <a:rPr dirty="0"/>
              <a:t> </a:t>
            </a:r>
            <a:r>
              <a:rPr dirty="0" err="1"/>
              <a:t>연결된다는</a:t>
            </a:r>
            <a:r>
              <a:rPr dirty="0"/>
              <a:t> </a:t>
            </a:r>
            <a:r>
              <a:rPr dirty="0" err="1"/>
              <a:t>점을</a:t>
            </a:r>
            <a:r>
              <a:rPr dirty="0"/>
              <a:t> </a:t>
            </a:r>
            <a:r>
              <a:rPr dirty="0" err="1"/>
              <a:t>보여줍니다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출발점은</a:t>
            </a:r>
            <a:r>
              <a:rPr dirty="0"/>
              <a:t> Fully Connected </a:t>
            </a:r>
            <a:r>
              <a:rPr dirty="0" err="1"/>
              <a:t>DNN입니다</a:t>
            </a:r>
            <a:r>
              <a:rPr dirty="0"/>
              <a:t>. </a:t>
            </a:r>
            <a:r>
              <a:rPr dirty="0" err="1"/>
              <a:t>Neuron과</a:t>
            </a:r>
            <a:r>
              <a:rPr dirty="0"/>
              <a:t> </a:t>
            </a:r>
            <a:r>
              <a:rPr dirty="0" err="1"/>
              <a:t>Layer를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구성하고</a:t>
            </a:r>
            <a:r>
              <a:rPr dirty="0"/>
              <a:t> Forward Propagation, Chain Rule </a:t>
            </a:r>
            <a:r>
              <a:rPr dirty="0" err="1"/>
              <a:t>기반</a:t>
            </a:r>
            <a:r>
              <a:rPr dirty="0"/>
              <a:t> Backward Propagation, Gradient </a:t>
            </a:r>
            <a:r>
              <a:rPr dirty="0" err="1"/>
              <a:t>계산을</a:t>
            </a:r>
            <a:r>
              <a:rPr dirty="0"/>
              <a:t> </a:t>
            </a:r>
            <a:r>
              <a:rPr dirty="0" err="1"/>
              <a:t>구현하면서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알고리즘의</a:t>
            </a:r>
            <a:r>
              <a:rPr dirty="0"/>
              <a:t> </a:t>
            </a:r>
            <a:r>
              <a:rPr dirty="0" err="1"/>
              <a:t>기초를</a:t>
            </a:r>
            <a:r>
              <a:rPr dirty="0"/>
              <a:t> </a:t>
            </a:r>
            <a:r>
              <a:rPr dirty="0" err="1"/>
              <a:t>검증했습니다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그다음</a:t>
            </a:r>
            <a:r>
              <a:rPr dirty="0"/>
              <a:t> Decoder-only Transformer </a:t>
            </a:r>
            <a:r>
              <a:rPr dirty="0" err="1"/>
              <a:t>SLM에서는</a:t>
            </a:r>
            <a:r>
              <a:rPr dirty="0"/>
              <a:t> </a:t>
            </a:r>
            <a:r>
              <a:rPr dirty="0" err="1"/>
              <a:t>이러한</a:t>
            </a:r>
            <a:r>
              <a:rPr dirty="0"/>
              <a:t> </a:t>
            </a:r>
            <a:r>
              <a:rPr dirty="0" err="1"/>
              <a:t>원리를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언어모델</a:t>
            </a:r>
            <a:r>
              <a:rPr dirty="0"/>
              <a:t> </a:t>
            </a:r>
            <a:r>
              <a:rPr dirty="0" err="1"/>
              <a:t>구조로</a:t>
            </a:r>
            <a:r>
              <a:rPr dirty="0"/>
              <a:t> </a:t>
            </a:r>
            <a:r>
              <a:rPr dirty="0" err="1"/>
              <a:t>확장했습니다</a:t>
            </a:r>
            <a:r>
              <a:rPr dirty="0"/>
              <a:t>. </a:t>
            </a:r>
            <a:r>
              <a:rPr dirty="0" err="1"/>
              <a:t>토크나이저와</a:t>
            </a:r>
            <a:r>
              <a:rPr dirty="0"/>
              <a:t> </a:t>
            </a:r>
            <a:r>
              <a:rPr dirty="0" err="1"/>
              <a:t>임베딩</a:t>
            </a:r>
            <a:r>
              <a:rPr dirty="0"/>
              <a:t>, Masked Self-Attention, Decoder </a:t>
            </a:r>
            <a:r>
              <a:rPr dirty="0" err="1"/>
              <a:t>Block을</a:t>
            </a:r>
            <a:r>
              <a:rPr dirty="0"/>
              <a:t> </a:t>
            </a:r>
            <a:r>
              <a:rPr dirty="0" err="1"/>
              <a:t>구성하고</a:t>
            </a:r>
            <a:r>
              <a:rPr dirty="0"/>
              <a:t> </a:t>
            </a:r>
            <a:r>
              <a:rPr dirty="0" err="1"/>
              <a:t>학습·검증·추론</a:t>
            </a:r>
            <a:r>
              <a:rPr dirty="0"/>
              <a:t> </a:t>
            </a:r>
            <a:r>
              <a:rPr dirty="0" err="1"/>
              <a:t>흐름을</a:t>
            </a:r>
            <a:r>
              <a:rPr dirty="0"/>
              <a:t> </a:t>
            </a:r>
            <a:r>
              <a:rPr dirty="0" err="1"/>
              <a:t>구현했습니다</a:t>
            </a:r>
            <a:r>
              <a:rPr dirty="0"/>
              <a:t>. </a:t>
            </a:r>
            <a:r>
              <a:rPr dirty="0" err="1"/>
              <a:t>실행환경</a:t>
            </a:r>
            <a:r>
              <a:rPr dirty="0"/>
              <a:t> </a:t>
            </a:r>
            <a:r>
              <a:rPr dirty="0" err="1"/>
              <a:t>측면에서는</a:t>
            </a:r>
            <a:r>
              <a:rPr dirty="0"/>
              <a:t> Intel XPU </a:t>
            </a:r>
            <a:r>
              <a:rPr dirty="0" err="1"/>
              <a:t>적용</a:t>
            </a:r>
            <a:r>
              <a:rPr dirty="0"/>
              <a:t> </a:t>
            </a:r>
            <a:r>
              <a:rPr dirty="0" err="1"/>
              <a:t>가능성과</a:t>
            </a:r>
            <a:r>
              <a:rPr dirty="0"/>
              <a:t> </a:t>
            </a:r>
            <a:r>
              <a:rPr dirty="0" err="1"/>
              <a:t>장치</a:t>
            </a:r>
            <a:r>
              <a:rPr dirty="0"/>
              <a:t> </a:t>
            </a:r>
            <a:r>
              <a:rPr dirty="0" err="1"/>
              <a:t>특성도</a:t>
            </a:r>
            <a:r>
              <a:rPr dirty="0"/>
              <a:t> </a:t>
            </a:r>
            <a:r>
              <a:rPr dirty="0" err="1"/>
              <a:t>분석했습니다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모델마다</a:t>
            </a:r>
            <a:r>
              <a:rPr dirty="0"/>
              <a:t> </a:t>
            </a:r>
            <a:r>
              <a:rPr dirty="0" err="1"/>
              <a:t>반복되는</a:t>
            </a:r>
            <a:r>
              <a:rPr dirty="0"/>
              <a:t> Training Loop, Device </a:t>
            </a:r>
            <a:r>
              <a:rPr dirty="0" err="1"/>
              <a:t>처리</a:t>
            </a:r>
            <a:r>
              <a:rPr dirty="0"/>
              <a:t>, Checkpoint, Metrics </a:t>
            </a:r>
            <a:r>
              <a:rPr dirty="0" err="1"/>
              <a:t>기능을</a:t>
            </a:r>
            <a:r>
              <a:rPr dirty="0"/>
              <a:t> </a:t>
            </a:r>
            <a:r>
              <a:rPr dirty="0" err="1"/>
              <a:t>식별했습니다</a:t>
            </a:r>
            <a:r>
              <a:rPr dirty="0"/>
              <a:t>. </a:t>
            </a:r>
            <a:r>
              <a:rPr dirty="0" err="1"/>
              <a:t>이를</a:t>
            </a:r>
            <a:r>
              <a:rPr dirty="0"/>
              <a:t> </a:t>
            </a:r>
            <a:r>
              <a:rPr dirty="0" err="1"/>
              <a:t>SLM에</a:t>
            </a:r>
            <a:r>
              <a:rPr dirty="0"/>
              <a:t> </a:t>
            </a:r>
            <a:r>
              <a:rPr dirty="0" err="1"/>
              <a:t>종속되지</a:t>
            </a:r>
            <a:r>
              <a:rPr dirty="0"/>
              <a:t> </a:t>
            </a:r>
            <a:r>
              <a:rPr dirty="0" err="1"/>
              <a:t>않는</a:t>
            </a:r>
            <a:r>
              <a:rPr dirty="0"/>
              <a:t> </a:t>
            </a:r>
            <a:r>
              <a:rPr dirty="0" err="1"/>
              <a:t>형태로</a:t>
            </a:r>
            <a:r>
              <a:rPr dirty="0"/>
              <a:t> </a:t>
            </a:r>
            <a:r>
              <a:rPr dirty="0" err="1"/>
              <a:t>재구성한</a:t>
            </a:r>
            <a:r>
              <a:rPr dirty="0"/>
              <a:t> </a:t>
            </a:r>
            <a:r>
              <a:rPr dirty="0" err="1"/>
              <a:t>결과가</a:t>
            </a:r>
            <a:r>
              <a:rPr dirty="0"/>
              <a:t> deep-learning-</a:t>
            </a:r>
            <a:r>
              <a:rPr dirty="0" err="1"/>
              <a:t>core입니다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마지막으로</a:t>
            </a:r>
            <a:r>
              <a:rPr dirty="0"/>
              <a:t> Spring Boot </a:t>
            </a:r>
            <a:r>
              <a:rPr dirty="0" err="1"/>
              <a:t>프로젝트는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서비스에서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보안</a:t>
            </a:r>
            <a:r>
              <a:rPr dirty="0"/>
              <a:t>, API, </a:t>
            </a:r>
            <a:r>
              <a:rPr dirty="0" err="1"/>
              <a:t>로깅</a:t>
            </a:r>
            <a:r>
              <a:rPr dirty="0"/>
              <a:t>,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연동을</a:t>
            </a:r>
            <a:r>
              <a:rPr dirty="0"/>
              <a:t> </a:t>
            </a:r>
            <a:r>
              <a:rPr dirty="0" err="1"/>
              <a:t>다룹니다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결국</a:t>
            </a:r>
            <a:r>
              <a:rPr dirty="0"/>
              <a:t>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역량은</a:t>
            </a:r>
            <a:r>
              <a:rPr dirty="0"/>
              <a:t> Model Engineering, Training Engineering, Runtime Analysis, Software </a:t>
            </a:r>
            <a:r>
              <a:rPr dirty="0" err="1"/>
              <a:t>Architecture를</a:t>
            </a:r>
            <a:r>
              <a:rPr dirty="0"/>
              <a:t> </a:t>
            </a:r>
            <a:r>
              <a:rPr dirty="0" err="1"/>
              <a:t>분리해</a:t>
            </a:r>
            <a:r>
              <a:rPr dirty="0"/>
              <a:t> </a:t>
            </a:r>
            <a:r>
              <a:rPr dirty="0" err="1"/>
              <a:t>이해하면서도</a:t>
            </a:r>
            <a:r>
              <a:rPr dirty="0"/>
              <a:t>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관점에서</a:t>
            </a:r>
            <a:r>
              <a:rPr dirty="0"/>
              <a:t> </a:t>
            </a:r>
            <a:r>
              <a:rPr dirty="0" err="1"/>
              <a:t>연결하는</a:t>
            </a:r>
            <a:r>
              <a:rPr dirty="0"/>
              <a:t> </a:t>
            </a:r>
            <a:r>
              <a:rPr dirty="0" err="1"/>
              <a:t>것입니다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deep-learning-</a:t>
            </a:r>
            <a:r>
              <a:rPr dirty="0" err="1"/>
              <a:t>core는</a:t>
            </a:r>
            <a:r>
              <a:rPr dirty="0"/>
              <a:t> 2026년 9월부터 </a:t>
            </a:r>
            <a:r>
              <a:rPr dirty="0" err="1"/>
              <a:t>진행한</a:t>
            </a:r>
            <a:r>
              <a:rPr dirty="0"/>
              <a:t> </a:t>
            </a:r>
            <a:r>
              <a:rPr dirty="0" err="1"/>
              <a:t>Python·PyTorch</a:t>
            </a:r>
            <a:r>
              <a:rPr dirty="0"/>
              <a:t> </a:t>
            </a:r>
            <a:r>
              <a:rPr dirty="0" err="1"/>
              <a:t>기반의</a:t>
            </a:r>
            <a:r>
              <a:rPr dirty="0"/>
              <a:t>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인프라</a:t>
            </a:r>
            <a:r>
              <a:rPr dirty="0"/>
              <a:t> </a:t>
            </a:r>
            <a:r>
              <a:rPr dirty="0" err="1"/>
              <a:t>프로젝트입니다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프로젝트의</a:t>
            </a:r>
            <a:r>
              <a:rPr dirty="0"/>
              <a:t> </a:t>
            </a:r>
            <a:r>
              <a:rPr dirty="0" err="1"/>
              <a:t>출발점은</a:t>
            </a:r>
            <a:r>
              <a:rPr dirty="0"/>
              <a:t> </a:t>
            </a:r>
            <a:r>
              <a:rPr dirty="0" err="1"/>
              <a:t>기존</a:t>
            </a:r>
            <a:r>
              <a:rPr dirty="0"/>
              <a:t> SLM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코드가</a:t>
            </a:r>
            <a:r>
              <a:rPr dirty="0"/>
              <a:t> </a:t>
            </a:r>
            <a:r>
              <a:rPr dirty="0" err="1"/>
              <a:t>전혀</a:t>
            </a:r>
            <a:r>
              <a:rPr dirty="0"/>
              <a:t> </a:t>
            </a:r>
            <a:r>
              <a:rPr dirty="0" err="1"/>
              <a:t>모듈화되지</a:t>
            </a:r>
            <a:r>
              <a:rPr dirty="0"/>
              <a:t> </a:t>
            </a:r>
            <a:r>
              <a:rPr dirty="0" err="1"/>
              <a:t>않았다는</a:t>
            </a:r>
            <a:r>
              <a:rPr dirty="0"/>
              <a:t> </a:t>
            </a:r>
            <a:r>
              <a:rPr dirty="0" err="1"/>
              <a:t>문제가</a:t>
            </a:r>
            <a:r>
              <a:rPr dirty="0"/>
              <a:t> </a:t>
            </a:r>
            <a:r>
              <a:rPr dirty="0" err="1"/>
              <a:t>아닙니다</a:t>
            </a:r>
            <a:r>
              <a:rPr dirty="0"/>
              <a:t>. </a:t>
            </a:r>
            <a:endParaRPr lang="en-US" dirty="0"/>
          </a:p>
          <a:p>
            <a:endParaRPr lang="en-US" dirty="0"/>
          </a:p>
          <a:p>
            <a:r>
              <a:rPr dirty="0" err="1"/>
              <a:t>기존</a:t>
            </a:r>
            <a:r>
              <a:rPr dirty="0"/>
              <a:t> Training </a:t>
            </a:r>
            <a:r>
              <a:rPr dirty="0" err="1"/>
              <a:t>Loop도</a:t>
            </a:r>
            <a:r>
              <a:rPr dirty="0"/>
              <a:t> </a:t>
            </a:r>
            <a:r>
              <a:rPr dirty="0" err="1"/>
              <a:t>일정</a:t>
            </a:r>
            <a:r>
              <a:rPr dirty="0"/>
              <a:t> </a:t>
            </a:r>
            <a:r>
              <a:rPr dirty="0" err="1"/>
              <a:t>수준으로</a:t>
            </a:r>
            <a:r>
              <a:rPr dirty="0"/>
              <a:t> </a:t>
            </a:r>
            <a:r>
              <a:rPr dirty="0" err="1"/>
              <a:t>분리되어</a:t>
            </a:r>
            <a:r>
              <a:rPr dirty="0"/>
              <a:t> </a:t>
            </a:r>
            <a:r>
              <a:rPr dirty="0" err="1"/>
              <a:t>있었지만</a:t>
            </a:r>
            <a:r>
              <a:rPr dirty="0"/>
              <a:t>, </a:t>
            </a:r>
            <a:r>
              <a:rPr dirty="0" err="1"/>
              <a:t>토크나이저</a:t>
            </a:r>
            <a:r>
              <a:rPr dirty="0"/>
              <a:t>, </a:t>
            </a:r>
            <a:r>
              <a:rPr dirty="0" err="1"/>
              <a:t>어휘</a:t>
            </a:r>
            <a:r>
              <a:rPr dirty="0"/>
              <a:t> </a:t>
            </a:r>
            <a:r>
              <a:rPr dirty="0" err="1"/>
              <a:t>사전</a:t>
            </a:r>
            <a:r>
              <a:rPr dirty="0"/>
              <a:t>, </a:t>
            </a:r>
            <a:r>
              <a:rPr dirty="0" err="1"/>
              <a:t>마스킹처럼</a:t>
            </a:r>
            <a:r>
              <a:rPr dirty="0"/>
              <a:t> </a:t>
            </a:r>
            <a:r>
              <a:rPr dirty="0" err="1"/>
              <a:t>특정</a:t>
            </a:r>
            <a:r>
              <a:rPr dirty="0"/>
              <a:t> </a:t>
            </a:r>
            <a:r>
              <a:rPr dirty="0" err="1"/>
              <a:t>언어모델에만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기능과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기능</a:t>
            </a:r>
            <a:r>
              <a:rPr dirty="0"/>
              <a:t> </a:t>
            </a:r>
            <a:r>
              <a:rPr dirty="0" err="1"/>
              <a:t>사이에</a:t>
            </a:r>
            <a:r>
              <a:rPr dirty="0"/>
              <a:t> </a:t>
            </a:r>
            <a:r>
              <a:rPr dirty="0" err="1"/>
              <a:t>의존성이</a:t>
            </a:r>
            <a:r>
              <a:rPr dirty="0"/>
              <a:t> </a:t>
            </a:r>
            <a:r>
              <a:rPr dirty="0" err="1"/>
              <a:t>남아</a:t>
            </a:r>
            <a:r>
              <a:rPr dirty="0"/>
              <a:t> </a:t>
            </a:r>
            <a:r>
              <a:rPr dirty="0" err="1"/>
              <a:t>있었습니다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상태에서는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모델을</a:t>
            </a:r>
            <a:r>
              <a:rPr dirty="0"/>
              <a:t> </a:t>
            </a:r>
            <a:r>
              <a:rPr dirty="0" err="1"/>
              <a:t>학습시키려</a:t>
            </a:r>
            <a:r>
              <a:rPr dirty="0"/>
              <a:t> 할 때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코드를</a:t>
            </a:r>
            <a:r>
              <a:rPr dirty="0"/>
              <a:t> </a:t>
            </a:r>
            <a:r>
              <a:rPr dirty="0" err="1"/>
              <a:t>재사용하더라도</a:t>
            </a:r>
            <a:r>
              <a:rPr dirty="0"/>
              <a:t> </a:t>
            </a:r>
            <a:r>
              <a:rPr dirty="0" err="1"/>
              <a:t>SLM의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구조와</a:t>
            </a:r>
            <a:r>
              <a:rPr dirty="0"/>
              <a:t> </a:t>
            </a:r>
            <a:r>
              <a:rPr dirty="0" err="1"/>
              <a:t>처리</a:t>
            </a:r>
            <a:r>
              <a:rPr dirty="0"/>
              <a:t> </a:t>
            </a:r>
            <a:r>
              <a:rPr dirty="0" err="1"/>
              <a:t>규칙을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이해하거나</a:t>
            </a:r>
            <a:r>
              <a:rPr dirty="0"/>
              <a:t> </a:t>
            </a:r>
            <a:r>
              <a:rPr dirty="0" err="1"/>
              <a:t>수정해야</a:t>
            </a:r>
            <a:r>
              <a:rPr dirty="0"/>
              <a:t> </a:t>
            </a:r>
            <a:r>
              <a:rPr dirty="0" err="1"/>
              <a:t>합니다</a:t>
            </a:r>
            <a:r>
              <a:rPr dirty="0"/>
              <a:t>. </a:t>
            </a:r>
            <a:endParaRPr lang="en-US" dirty="0"/>
          </a:p>
          <a:p>
            <a:endParaRPr lang="en-US" dirty="0"/>
          </a:p>
          <a:p>
            <a:r>
              <a:rPr dirty="0" err="1"/>
              <a:t>따라서</a:t>
            </a:r>
            <a:r>
              <a:rPr dirty="0"/>
              <a:t> </a:t>
            </a:r>
            <a:r>
              <a:rPr dirty="0" err="1"/>
              <a:t>개선</a:t>
            </a:r>
            <a:r>
              <a:rPr dirty="0"/>
              <a:t> </a:t>
            </a:r>
            <a:r>
              <a:rPr dirty="0" err="1"/>
              <a:t>목표를</a:t>
            </a:r>
            <a:r>
              <a:rPr dirty="0"/>
              <a:t> </a:t>
            </a:r>
            <a:r>
              <a:rPr dirty="0" err="1"/>
              <a:t>단순한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분리가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'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고유</a:t>
            </a:r>
            <a:r>
              <a:rPr dirty="0"/>
              <a:t> </a:t>
            </a:r>
            <a:r>
              <a:rPr dirty="0" err="1"/>
              <a:t>로직과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로직</a:t>
            </a:r>
            <a:r>
              <a:rPr dirty="0"/>
              <a:t> </a:t>
            </a:r>
            <a:r>
              <a:rPr dirty="0" err="1"/>
              <a:t>사이의</a:t>
            </a:r>
            <a:r>
              <a:rPr dirty="0"/>
              <a:t> </a:t>
            </a:r>
            <a:r>
              <a:rPr dirty="0" err="1"/>
              <a:t>의존성</a:t>
            </a:r>
            <a:r>
              <a:rPr dirty="0"/>
              <a:t> </a:t>
            </a:r>
            <a:r>
              <a:rPr dirty="0" err="1"/>
              <a:t>제거'로</a:t>
            </a:r>
            <a:r>
              <a:rPr dirty="0"/>
              <a:t> </a:t>
            </a:r>
            <a:r>
              <a:rPr dirty="0" err="1"/>
              <a:t>설정했습니다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설계</a:t>
            </a:r>
            <a:r>
              <a:rPr dirty="0"/>
              <a:t> </a:t>
            </a:r>
            <a:r>
              <a:rPr dirty="0" err="1"/>
              <a:t>경계는</a:t>
            </a:r>
            <a:r>
              <a:rPr dirty="0"/>
              <a:t> </a:t>
            </a:r>
            <a:r>
              <a:rPr dirty="0" err="1"/>
              <a:t>PyTorch의</a:t>
            </a:r>
            <a:r>
              <a:rPr dirty="0"/>
              <a:t> </a:t>
            </a:r>
            <a:r>
              <a:rPr dirty="0" err="1"/>
              <a:t>torch.nn.Module입니다</a:t>
            </a:r>
            <a:r>
              <a:rPr dirty="0"/>
              <a:t>. </a:t>
            </a:r>
            <a:endParaRPr lang="en-US" dirty="0"/>
          </a:p>
          <a:p>
            <a:endParaRPr lang="en-US" dirty="0"/>
          </a:p>
          <a:p>
            <a:r>
              <a:rPr dirty="0" err="1"/>
              <a:t>모델의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표현</a:t>
            </a:r>
            <a:r>
              <a:rPr dirty="0"/>
              <a:t>, </a:t>
            </a:r>
            <a:r>
              <a:rPr dirty="0" err="1"/>
              <a:t>토큰화</a:t>
            </a:r>
            <a:r>
              <a:rPr dirty="0"/>
              <a:t>,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, </a:t>
            </a:r>
            <a:r>
              <a:rPr dirty="0" err="1"/>
              <a:t>추론</a:t>
            </a:r>
            <a:r>
              <a:rPr dirty="0"/>
              <a:t> </a:t>
            </a:r>
            <a:r>
              <a:rPr dirty="0" err="1"/>
              <a:t>방식은</a:t>
            </a:r>
            <a:r>
              <a:rPr dirty="0"/>
              <a:t> 각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프로젝트가</a:t>
            </a:r>
            <a:r>
              <a:rPr dirty="0"/>
              <a:t> </a:t>
            </a:r>
            <a:r>
              <a:rPr dirty="0" err="1"/>
              <a:t>책임집니다</a:t>
            </a:r>
            <a:r>
              <a:rPr dirty="0"/>
              <a:t>. </a:t>
            </a:r>
            <a:endParaRPr lang="en-US" dirty="0"/>
          </a:p>
          <a:p>
            <a:endParaRPr lang="en-US" dirty="0"/>
          </a:p>
          <a:p>
            <a:r>
              <a:rPr dirty="0" err="1"/>
              <a:t>반면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및 </a:t>
            </a:r>
            <a:r>
              <a:rPr dirty="0" err="1"/>
              <a:t>평가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, Device </a:t>
            </a:r>
            <a:r>
              <a:rPr dirty="0" err="1"/>
              <a:t>이동</a:t>
            </a:r>
            <a:r>
              <a:rPr dirty="0"/>
              <a:t>, Checkpoint, Metrics, Diagnostics </a:t>
            </a:r>
            <a:r>
              <a:rPr dirty="0" err="1"/>
              <a:t>등은</a:t>
            </a:r>
            <a:r>
              <a:rPr dirty="0"/>
              <a:t>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라이브러리에서</a:t>
            </a:r>
            <a:r>
              <a:rPr dirty="0"/>
              <a:t> </a:t>
            </a:r>
            <a:r>
              <a:rPr dirty="0" err="1"/>
              <a:t>관리하도록</a:t>
            </a:r>
            <a:r>
              <a:rPr dirty="0"/>
              <a:t> </a:t>
            </a:r>
            <a:r>
              <a:rPr dirty="0" err="1"/>
              <a:t>구성했습니다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설계는</a:t>
            </a:r>
            <a:r>
              <a:rPr dirty="0"/>
              <a:t> </a:t>
            </a:r>
            <a:r>
              <a:rPr dirty="0" err="1"/>
              <a:t>특정</a:t>
            </a:r>
            <a:r>
              <a:rPr dirty="0"/>
              <a:t> </a:t>
            </a:r>
            <a:r>
              <a:rPr dirty="0" err="1"/>
              <a:t>모델의</a:t>
            </a:r>
            <a:r>
              <a:rPr dirty="0"/>
              <a:t> </a:t>
            </a:r>
            <a:r>
              <a:rPr dirty="0" err="1"/>
              <a:t>기능을</a:t>
            </a:r>
            <a:r>
              <a:rPr dirty="0"/>
              <a:t> </a:t>
            </a:r>
            <a:r>
              <a:rPr dirty="0" err="1"/>
              <a:t>라이브러리에</a:t>
            </a:r>
            <a:r>
              <a:rPr dirty="0"/>
              <a:t> </a:t>
            </a:r>
            <a:r>
              <a:rPr dirty="0" err="1"/>
              <a:t>계속</a:t>
            </a:r>
            <a:r>
              <a:rPr dirty="0"/>
              <a:t> </a:t>
            </a:r>
            <a:r>
              <a:rPr dirty="0" err="1"/>
              <a:t>추가하는</a:t>
            </a:r>
            <a:r>
              <a:rPr dirty="0"/>
              <a:t> </a:t>
            </a:r>
            <a:r>
              <a:rPr dirty="0" err="1"/>
              <a:t>방식보다</a:t>
            </a:r>
            <a:r>
              <a:rPr dirty="0"/>
              <a:t> </a:t>
            </a:r>
            <a:r>
              <a:rPr dirty="0" err="1"/>
              <a:t>변경의</a:t>
            </a:r>
            <a:r>
              <a:rPr dirty="0"/>
              <a:t> </a:t>
            </a:r>
            <a:r>
              <a:rPr dirty="0" err="1"/>
              <a:t>영향</a:t>
            </a:r>
            <a:r>
              <a:rPr dirty="0"/>
              <a:t> </a:t>
            </a:r>
            <a:r>
              <a:rPr dirty="0" err="1"/>
              <a:t>범위를</a:t>
            </a:r>
            <a:r>
              <a:rPr dirty="0"/>
              <a:t> </a:t>
            </a:r>
            <a:r>
              <a:rPr dirty="0" err="1"/>
              <a:t>줄이고</a:t>
            </a:r>
            <a:r>
              <a:rPr dirty="0"/>
              <a:t>,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코드를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프로젝트에</a:t>
            </a:r>
            <a:r>
              <a:rPr dirty="0"/>
              <a:t> </a:t>
            </a:r>
            <a:r>
              <a:rPr dirty="0" err="1"/>
              <a:t>적용하기</a:t>
            </a:r>
            <a:r>
              <a:rPr dirty="0"/>
              <a:t> </a:t>
            </a:r>
            <a:r>
              <a:rPr dirty="0" err="1"/>
              <a:t>쉽게</a:t>
            </a:r>
            <a:r>
              <a:rPr dirty="0"/>
              <a:t> </a:t>
            </a:r>
            <a:r>
              <a:rPr dirty="0" err="1"/>
              <a:t>만듭니다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아키텍처는</a:t>
            </a:r>
            <a:r>
              <a:rPr dirty="0"/>
              <a:t> </a:t>
            </a:r>
            <a:r>
              <a:rPr dirty="0" err="1"/>
              <a:t>크게</a:t>
            </a:r>
            <a:r>
              <a:rPr dirty="0"/>
              <a:t> Model Project, Model Boundary, Training Core, Control &amp; </a:t>
            </a:r>
            <a:r>
              <a:rPr dirty="0" err="1"/>
              <a:t>Runtime의</a:t>
            </a:r>
            <a:r>
              <a:rPr dirty="0"/>
              <a:t> 네 </a:t>
            </a:r>
            <a:r>
              <a:rPr dirty="0" err="1"/>
              <a:t>영역으로</a:t>
            </a:r>
            <a:r>
              <a:rPr dirty="0"/>
              <a:t> </a:t>
            </a:r>
            <a:r>
              <a:rPr dirty="0" err="1"/>
              <a:t>설명할</a:t>
            </a:r>
            <a:r>
              <a:rPr dirty="0"/>
              <a:t> 수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첫 </a:t>
            </a:r>
            <a:r>
              <a:rPr dirty="0" err="1"/>
              <a:t>번째</a:t>
            </a:r>
            <a:r>
              <a:rPr dirty="0"/>
              <a:t> Model </a:t>
            </a:r>
            <a:r>
              <a:rPr dirty="0" err="1"/>
              <a:t>Project는</a:t>
            </a:r>
            <a:r>
              <a:rPr dirty="0"/>
              <a:t> Tokenizer, Vocabulary, Masking, Inference 등 </a:t>
            </a:r>
            <a:r>
              <a:rPr dirty="0" err="1"/>
              <a:t>문제</a:t>
            </a:r>
            <a:r>
              <a:rPr dirty="0"/>
              <a:t> </a:t>
            </a:r>
            <a:r>
              <a:rPr dirty="0" err="1"/>
              <a:t>영역과</a:t>
            </a:r>
            <a:r>
              <a:rPr dirty="0"/>
              <a:t> </a:t>
            </a:r>
            <a:r>
              <a:rPr dirty="0" err="1"/>
              <a:t>모델에</a:t>
            </a:r>
            <a:r>
              <a:rPr dirty="0"/>
              <a:t> </a:t>
            </a:r>
            <a:r>
              <a:rPr dirty="0" err="1"/>
              <a:t>고유한</a:t>
            </a:r>
            <a:r>
              <a:rPr dirty="0"/>
              <a:t> </a:t>
            </a:r>
            <a:r>
              <a:rPr dirty="0" err="1"/>
              <a:t>기능을</a:t>
            </a:r>
            <a:r>
              <a:rPr dirty="0"/>
              <a:t> </a:t>
            </a:r>
            <a:r>
              <a:rPr dirty="0" err="1"/>
              <a:t>담당합니다</a:t>
            </a:r>
            <a:r>
              <a:rPr dirty="0"/>
              <a:t>. </a:t>
            </a:r>
            <a:endParaRPr lang="en-US" dirty="0"/>
          </a:p>
          <a:p>
            <a:r>
              <a:rPr dirty="0" err="1"/>
              <a:t>예를</a:t>
            </a:r>
            <a:r>
              <a:rPr dirty="0"/>
              <a:t> </a:t>
            </a:r>
            <a:r>
              <a:rPr dirty="0" err="1"/>
              <a:t>들어</a:t>
            </a:r>
            <a:r>
              <a:rPr dirty="0"/>
              <a:t> Decoder-only </a:t>
            </a:r>
            <a:r>
              <a:rPr dirty="0" err="1"/>
              <a:t>SLM의</a:t>
            </a:r>
            <a:r>
              <a:rPr dirty="0"/>
              <a:t> </a:t>
            </a:r>
            <a:r>
              <a:rPr dirty="0" err="1"/>
              <a:t>토큰</a:t>
            </a:r>
            <a:r>
              <a:rPr dirty="0"/>
              <a:t> ID </a:t>
            </a:r>
            <a:r>
              <a:rPr dirty="0" err="1"/>
              <a:t>생성과</a:t>
            </a:r>
            <a:r>
              <a:rPr dirty="0"/>
              <a:t> Causal Mask </a:t>
            </a:r>
            <a:r>
              <a:rPr dirty="0" err="1"/>
              <a:t>구성은</a:t>
            </a:r>
            <a:r>
              <a:rPr dirty="0"/>
              <a:t> 이 </a:t>
            </a:r>
            <a:r>
              <a:rPr dirty="0" err="1"/>
              <a:t>영역의</a:t>
            </a:r>
            <a:r>
              <a:rPr dirty="0"/>
              <a:t> </a:t>
            </a:r>
            <a:r>
              <a:rPr dirty="0" err="1"/>
              <a:t>책임입니다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두 </a:t>
            </a:r>
            <a:r>
              <a:rPr dirty="0" err="1"/>
              <a:t>번째</a:t>
            </a:r>
            <a:r>
              <a:rPr dirty="0"/>
              <a:t> Model </a:t>
            </a:r>
            <a:r>
              <a:rPr dirty="0" err="1"/>
              <a:t>Boundary는</a:t>
            </a:r>
            <a:r>
              <a:rPr dirty="0"/>
              <a:t> </a:t>
            </a:r>
            <a:r>
              <a:rPr dirty="0" err="1"/>
              <a:t>torch.nn.Module을</a:t>
            </a:r>
            <a:r>
              <a:rPr dirty="0"/>
              <a:t> </a:t>
            </a:r>
            <a:r>
              <a:rPr dirty="0" err="1"/>
              <a:t>중심으로</a:t>
            </a:r>
            <a:r>
              <a:rPr dirty="0"/>
              <a:t>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인프라가</a:t>
            </a:r>
            <a:r>
              <a:rPr dirty="0"/>
              <a:t> </a:t>
            </a:r>
            <a:r>
              <a:rPr dirty="0" err="1"/>
              <a:t>모델을</a:t>
            </a:r>
            <a:r>
              <a:rPr dirty="0"/>
              <a:t> </a:t>
            </a:r>
            <a:r>
              <a:rPr dirty="0" err="1"/>
              <a:t>다루는</a:t>
            </a:r>
            <a:r>
              <a:rPr dirty="0"/>
              <a:t> </a:t>
            </a:r>
            <a:r>
              <a:rPr dirty="0" err="1"/>
              <a:t>접점입니다</a:t>
            </a:r>
            <a:r>
              <a:rPr dirty="0"/>
              <a:t>. </a:t>
            </a:r>
            <a:endParaRPr lang="en-US" dirty="0"/>
          </a:p>
          <a:p>
            <a:r>
              <a:rPr dirty="0" err="1"/>
              <a:t>ModelBuilder와</a:t>
            </a:r>
            <a:r>
              <a:rPr dirty="0"/>
              <a:t> </a:t>
            </a:r>
            <a:r>
              <a:rPr dirty="0" err="1"/>
              <a:t>SequentialModel</a:t>
            </a:r>
            <a:r>
              <a:rPr dirty="0"/>
              <a:t>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요소는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생성</a:t>
            </a:r>
            <a:r>
              <a:rPr dirty="0"/>
              <a:t> 및 </a:t>
            </a:r>
            <a:r>
              <a:rPr dirty="0" err="1"/>
              <a:t>구성의</a:t>
            </a:r>
            <a:r>
              <a:rPr dirty="0"/>
              <a:t> </a:t>
            </a:r>
            <a:r>
              <a:rPr dirty="0" err="1"/>
              <a:t>역할을</a:t>
            </a:r>
            <a:r>
              <a:rPr dirty="0"/>
              <a:t> </a:t>
            </a:r>
            <a:r>
              <a:rPr dirty="0" err="1"/>
              <a:t>담당합니다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세 </a:t>
            </a:r>
            <a:r>
              <a:rPr dirty="0" err="1"/>
              <a:t>번째</a:t>
            </a:r>
            <a:r>
              <a:rPr dirty="0"/>
              <a:t> Training </a:t>
            </a:r>
            <a:r>
              <a:rPr dirty="0" err="1"/>
              <a:t>Core는</a:t>
            </a:r>
            <a:r>
              <a:rPr dirty="0"/>
              <a:t> </a:t>
            </a:r>
            <a:r>
              <a:rPr dirty="0" err="1"/>
              <a:t>Batch와</a:t>
            </a:r>
            <a:r>
              <a:rPr dirty="0"/>
              <a:t> Epoch </a:t>
            </a:r>
            <a:r>
              <a:rPr dirty="0" err="1"/>
              <a:t>단위의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, Trainer, Loss, </a:t>
            </a:r>
            <a:r>
              <a:rPr dirty="0" err="1"/>
              <a:t>Metrics를</a:t>
            </a:r>
            <a:r>
              <a:rPr dirty="0"/>
              <a:t> </a:t>
            </a:r>
            <a:r>
              <a:rPr dirty="0" err="1"/>
              <a:t>담당합니다</a:t>
            </a:r>
            <a:r>
              <a:rPr dirty="0"/>
              <a:t>. 이 </a:t>
            </a:r>
            <a:r>
              <a:rPr dirty="0" err="1"/>
              <a:t>영역은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내부가</a:t>
            </a:r>
            <a:r>
              <a:rPr dirty="0"/>
              <a:t> </a:t>
            </a:r>
            <a:r>
              <a:rPr dirty="0" err="1"/>
              <a:t>Transformer인지</a:t>
            </a:r>
            <a:r>
              <a:rPr dirty="0"/>
              <a:t> Fully Connected </a:t>
            </a:r>
            <a:r>
              <a:rPr dirty="0" err="1"/>
              <a:t>Network인지보다</a:t>
            </a:r>
            <a:r>
              <a:rPr dirty="0"/>
              <a:t>, </a:t>
            </a:r>
            <a:r>
              <a:rPr dirty="0" err="1"/>
              <a:t>주어진</a:t>
            </a:r>
            <a:r>
              <a:rPr dirty="0"/>
              <a:t> </a:t>
            </a:r>
            <a:r>
              <a:rPr dirty="0" err="1"/>
              <a:t>모델에</a:t>
            </a:r>
            <a:r>
              <a:rPr dirty="0"/>
              <a:t> </a:t>
            </a:r>
            <a:r>
              <a:rPr dirty="0" err="1"/>
              <a:t>대해</a:t>
            </a:r>
            <a:r>
              <a:rPr dirty="0"/>
              <a:t> </a:t>
            </a:r>
            <a:r>
              <a:rPr dirty="0" err="1"/>
              <a:t>Forward와</a:t>
            </a:r>
            <a:r>
              <a:rPr dirty="0"/>
              <a:t> </a:t>
            </a:r>
            <a:r>
              <a:rPr dirty="0" err="1"/>
              <a:t>Backward를</a:t>
            </a:r>
            <a:r>
              <a:rPr dirty="0"/>
              <a:t> </a:t>
            </a:r>
            <a:r>
              <a:rPr dirty="0" err="1"/>
              <a:t>일관된</a:t>
            </a:r>
            <a:r>
              <a:rPr dirty="0"/>
              <a:t> </a:t>
            </a:r>
            <a:r>
              <a:rPr dirty="0" err="1"/>
              <a:t>절차로</a:t>
            </a:r>
            <a:r>
              <a:rPr dirty="0"/>
              <a:t> </a:t>
            </a:r>
            <a:r>
              <a:rPr dirty="0" err="1"/>
              <a:t>실행하는</a:t>
            </a:r>
            <a:r>
              <a:rPr dirty="0"/>
              <a:t> 데 </a:t>
            </a:r>
            <a:r>
              <a:rPr dirty="0" err="1"/>
              <a:t>집중합니다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네 </a:t>
            </a:r>
            <a:r>
              <a:rPr dirty="0" err="1"/>
              <a:t>번째</a:t>
            </a:r>
            <a:r>
              <a:rPr dirty="0"/>
              <a:t> Control &amp; </a:t>
            </a:r>
            <a:r>
              <a:rPr dirty="0" err="1"/>
              <a:t>Runtime은</a:t>
            </a:r>
            <a:r>
              <a:rPr dirty="0"/>
              <a:t> Checkpoint, </a:t>
            </a:r>
            <a:r>
              <a:rPr dirty="0" err="1"/>
              <a:t>EarlyStopping</a:t>
            </a:r>
            <a:r>
              <a:rPr dirty="0"/>
              <a:t>, Device </a:t>
            </a:r>
            <a:r>
              <a:rPr dirty="0" err="1"/>
              <a:t>처리</a:t>
            </a:r>
            <a:r>
              <a:rPr dirty="0"/>
              <a:t>, Diagnostics, </a:t>
            </a:r>
            <a:r>
              <a:rPr dirty="0" err="1"/>
              <a:t>Profiling을</a:t>
            </a:r>
            <a:r>
              <a:rPr dirty="0"/>
              <a:t> </a:t>
            </a:r>
            <a:r>
              <a:rPr dirty="0" err="1"/>
              <a:t>담당합니다</a:t>
            </a:r>
            <a:r>
              <a:rPr dirty="0"/>
              <a:t>. </a:t>
            </a:r>
            <a:endParaRPr lang="en-US" dirty="0"/>
          </a:p>
          <a:p>
            <a:r>
              <a:rPr dirty="0" err="1"/>
              <a:t>학습의</a:t>
            </a:r>
            <a:r>
              <a:rPr dirty="0"/>
              <a:t> </a:t>
            </a:r>
            <a:r>
              <a:rPr dirty="0" err="1"/>
              <a:t>지속과</a:t>
            </a:r>
            <a:r>
              <a:rPr dirty="0"/>
              <a:t> </a:t>
            </a:r>
            <a:r>
              <a:rPr dirty="0" err="1"/>
              <a:t>중단</a:t>
            </a:r>
            <a:r>
              <a:rPr dirty="0"/>
              <a:t>, </a:t>
            </a:r>
            <a:r>
              <a:rPr dirty="0" err="1"/>
              <a:t>상태</a:t>
            </a:r>
            <a:r>
              <a:rPr dirty="0"/>
              <a:t> </a:t>
            </a:r>
            <a:r>
              <a:rPr dirty="0" err="1"/>
              <a:t>저장과</a:t>
            </a:r>
            <a:r>
              <a:rPr dirty="0"/>
              <a:t> </a:t>
            </a:r>
            <a:r>
              <a:rPr dirty="0" err="1"/>
              <a:t>복원</a:t>
            </a:r>
            <a:r>
              <a:rPr dirty="0"/>
              <a:t>, </a:t>
            </a:r>
            <a:r>
              <a:rPr dirty="0" err="1"/>
              <a:t>실행환경</a:t>
            </a:r>
            <a:r>
              <a:rPr dirty="0"/>
              <a:t> 및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상태</a:t>
            </a:r>
            <a:r>
              <a:rPr dirty="0"/>
              <a:t> </a:t>
            </a:r>
            <a:r>
              <a:rPr dirty="0" err="1"/>
              <a:t>분석처럼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연산을</a:t>
            </a:r>
            <a:r>
              <a:rPr dirty="0"/>
              <a:t> </a:t>
            </a:r>
            <a:r>
              <a:rPr dirty="0" err="1"/>
              <a:t>둘러싼</a:t>
            </a:r>
            <a:r>
              <a:rPr dirty="0"/>
              <a:t> </a:t>
            </a:r>
            <a:r>
              <a:rPr dirty="0" err="1"/>
              <a:t>운영</a:t>
            </a:r>
            <a:r>
              <a:rPr dirty="0"/>
              <a:t> </a:t>
            </a:r>
            <a:r>
              <a:rPr dirty="0" err="1"/>
              <a:t>기능을</a:t>
            </a:r>
            <a:r>
              <a:rPr dirty="0"/>
              <a:t> </a:t>
            </a:r>
            <a:r>
              <a:rPr dirty="0" err="1"/>
              <a:t>분리한</a:t>
            </a:r>
            <a:r>
              <a:rPr dirty="0"/>
              <a:t> </a:t>
            </a:r>
            <a:r>
              <a:rPr dirty="0" err="1"/>
              <a:t>것입니다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구조의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</a:t>
            </a:r>
            <a:r>
              <a:rPr dirty="0" err="1"/>
              <a:t>원칙은</a:t>
            </a:r>
            <a:r>
              <a:rPr dirty="0"/>
              <a:t> '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고유</a:t>
            </a:r>
            <a:r>
              <a:rPr dirty="0"/>
              <a:t> </a:t>
            </a:r>
            <a:r>
              <a:rPr dirty="0" err="1"/>
              <a:t>기능을</a:t>
            </a:r>
            <a:r>
              <a:rPr dirty="0"/>
              <a:t>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라이브러리에</a:t>
            </a:r>
            <a:r>
              <a:rPr dirty="0"/>
              <a:t> </a:t>
            </a:r>
            <a:r>
              <a:rPr dirty="0" err="1"/>
              <a:t>내장하지</a:t>
            </a:r>
            <a:r>
              <a:rPr dirty="0"/>
              <a:t> </a:t>
            </a:r>
            <a:r>
              <a:rPr dirty="0" err="1"/>
              <a:t>않는다'는</a:t>
            </a:r>
            <a:r>
              <a:rPr dirty="0"/>
              <a:t> </a:t>
            </a:r>
            <a:r>
              <a:rPr dirty="0" err="1"/>
              <a:t>점입니다</a:t>
            </a:r>
            <a:r>
              <a:rPr dirty="0"/>
              <a:t>. </a:t>
            </a:r>
            <a:endParaRPr lang="en-US" dirty="0"/>
          </a:p>
          <a:p>
            <a:r>
              <a:rPr dirty="0" err="1"/>
              <a:t>결과적으로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개발과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인프라</a:t>
            </a:r>
            <a:r>
              <a:rPr dirty="0"/>
              <a:t> </a:t>
            </a:r>
            <a:r>
              <a:rPr dirty="0" err="1"/>
              <a:t>개발의</a:t>
            </a:r>
            <a:r>
              <a:rPr dirty="0"/>
              <a:t> </a:t>
            </a:r>
            <a:r>
              <a:rPr dirty="0" err="1"/>
              <a:t>변경</a:t>
            </a:r>
            <a:r>
              <a:rPr dirty="0"/>
              <a:t> </a:t>
            </a:r>
            <a:r>
              <a:rPr dirty="0" err="1"/>
              <a:t>이유를</a:t>
            </a:r>
            <a:r>
              <a:rPr dirty="0"/>
              <a:t> </a:t>
            </a:r>
            <a:r>
              <a:rPr dirty="0" err="1"/>
              <a:t>구분할</a:t>
            </a:r>
            <a:r>
              <a:rPr dirty="0"/>
              <a:t> 수 </a:t>
            </a:r>
            <a:r>
              <a:rPr dirty="0" err="1"/>
              <a:t>있습니다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이 </a:t>
            </a:r>
            <a:r>
              <a:rPr dirty="0" err="1"/>
              <a:t>슬라이드는</a:t>
            </a:r>
            <a:r>
              <a:rPr dirty="0"/>
              <a:t> </a:t>
            </a:r>
            <a:r>
              <a:rPr dirty="0" err="1"/>
              <a:t>BatchRunner를</a:t>
            </a:r>
            <a:r>
              <a:rPr dirty="0"/>
              <a:t> </a:t>
            </a:r>
            <a:r>
              <a:rPr dirty="0" err="1"/>
              <a:t>중심으로</a:t>
            </a:r>
            <a:r>
              <a:rPr dirty="0"/>
              <a:t> 한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흐름입니다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입력과</a:t>
            </a:r>
            <a:r>
              <a:rPr dirty="0"/>
              <a:t> </a:t>
            </a:r>
            <a:r>
              <a:rPr dirty="0" err="1"/>
              <a:t>정답</a:t>
            </a:r>
            <a:r>
              <a:rPr dirty="0"/>
              <a:t> </a:t>
            </a:r>
            <a:r>
              <a:rPr dirty="0" err="1"/>
              <a:t>데이터를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Device로</a:t>
            </a:r>
            <a:r>
              <a:rPr dirty="0"/>
              <a:t> </a:t>
            </a:r>
            <a:r>
              <a:rPr dirty="0" err="1"/>
              <a:t>이동합니다</a:t>
            </a:r>
            <a:r>
              <a:rPr dirty="0"/>
              <a:t>. </a:t>
            </a:r>
            <a:r>
              <a:rPr dirty="0" err="1"/>
              <a:t>단일</a:t>
            </a:r>
            <a:r>
              <a:rPr dirty="0"/>
              <a:t> </a:t>
            </a:r>
            <a:r>
              <a:rPr dirty="0" err="1"/>
              <a:t>Tensor뿐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</a:t>
            </a:r>
            <a:r>
              <a:rPr dirty="0" err="1"/>
              <a:t>dict</a:t>
            </a:r>
            <a:r>
              <a:rPr dirty="0"/>
              <a:t>, tuple, </a:t>
            </a:r>
            <a:r>
              <a:rPr dirty="0" err="1"/>
              <a:t>list처럼</a:t>
            </a:r>
            <a:r>
              <a:rPr dirty="0"/>
              <a:t> </a:t>
            </a:r>
            <a:r>
              <a:rPr dirty="0" err="1"/>
              <a:t>중첩된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구조도</a:t>
            </a:r>
            <a:r>
              <a:rPr dirty="0"/>
              <a:t> </a:t>
            </a:r>
            <a:r>
              <a:rPr dirty="0" err="1"/>
              <a:t>처리하도록</a:t>
            </a:r>
            <a:r>
              <a:rPr dirty="0"/>
              <a:t> </a:t>
            </a:r>
            <a:r>
              <a:rPr dirty="0" err="1"/>
              <a:t>설계한</a:t>
            </a:r>
            <a:r>
              <a:rPr dirty="0"/>
              <a:t> </a:t>
            </a:r>
            <a:r>
              <a:rPr dirty="0" err="1"/>
              <a:t>점이</a:t>
            </a:r>
            <a:r>
              <a:rPr dirty="0"/>
              <a:t> </a:t>
            </a:r>
            <a:r>
              <a:rPr dirty="0" err="1"/>
              <a:t>특징입니다</a:t>
            </a:r>
            <a:r>
              <a:rPr dirty="0"/>
              <a:t>. </a:t>
            </a:r>
            <a:endParaRPr lang="en-US" dirty="0"/>
          </a:p>
          <a:p>
            <a:r>
              <a:rPr dirty="0" err="1"/>
              <a:t>이는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형식이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모델에서도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코드를</a:t>
            </a:r>
            <a:r>
              <a:rPr dirty="0"/>
              <a:t> </a:t>
            </a:r>
            <a:r>
              <a:rPr dirty="0" err="1"/>
              <a:t>재사용하기</a:t>
            </a:r>
            <a:r>
              <a:rPr dirty="0"/>
              <a:t> </a:t>
            </a:r>
            <a:r>
              <a:rPr dirty="0" err="1"/>
              <a:t>위한</a:t>
            </a:r>
            <a:r>
              <a:rPr dirty="0"/>
              <a:t> </a:t>
            </a:r>
            <a:r>
              <a:rPr dirty="0" err="1"/>
              <a:t>선택입니다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단계에서는</a:t>
            </a:r>
            <a:r>
              <a:rPr dirty="0"/>
              <a:t> </a:t>
            </a:r>
            <a:r>
              <a:rPr dirty="0" err="1"/>
              <a:t>optimizer.zero_grad</a:t>
            </a:r>
            <a:r>
              <a:rPr dirty="0"/>
              <a:t>()로 </a:t>
            </a:r>
            <a:r>
              <a:rPr dirty="0" err="1"/>
              <a:t>이전</a:t>
            </a:r>
            <a:r>
              <a:rPr dirty="0"/>
              <a:t> </a:t>
            </a:r>
            <a:r>
              <a:rPr dirty="0" err="1"/>
              <a:t>Gradient를</a:t>
            </a:r>
            <a:r>
              <a:rPr dirty="0"/>
              <a:t> </a:t>
            </a:r>
            <a:r>
              <a:rPr dirty="0" err="1"/>
              <a:t>정리한</a:t>
            </a:r>
            <a:r>
              <a:rPr dirty="0"/>
              <a:t> 뒤 Forward </a:t>
            </a:r>
            <a:r>
              <a:rPr dirty="0" err="1"/>
              <a:t>연산과</a:t>
            </a:r>
            <a:r>
              <a:rPr dirty="0"/>
              <a:t> Loss </a:t>
            </a:r>
            <a:r>
              <a:rPr dirty="0" err="1"/>
              <a:t>계산을</a:t>
            </a:r>
            <a:r>
              <a:rPr dirty="0"/>
              <a:t> </a:t>
            </a:r>
            <a:r>
              <a:rPr dirty="0" err="1"/>
              <a:t>수행합니다</a:t>
            </a:r>
            <a:r>
              <a:rPr dirty="0"/>
              <a:t>. </a:t>
            </a:r>
            <a:endParaRPr lang="en-US" dirty="0"/>
          </a:p>
          <a:p>
            <a:endParaRPr lang="en-US" dirty="0"/>
          </a:p>
          <a:p>
            <a:r>
              <a:rPr dirty="0" err="1"/>
              <a:t>이후</a:t>
            </a:r>
            <a:r>
              <a:rPr dirty="0"/>
              <a:t> </a:t>
            </a:r>
            <a:r>
              <a:rPr dirty="0" err="1"/>
              <a:t>loss.backward</a:t>
            </a:r>
            <a:r>
              <a:rPr dirty="0"/>
              <a:t>()로 </a:t>
            </a:r>
            <a:r>
              <a:rPr dirty="0" err="1"/>
              <a:t>Gradient를</a:t>
            </a:r>
            <a:r>
              <a:rPr dirty="0"/>
              <a:t> </a:t>
            </a:r>
            <a:r>
              <a:rPr dirty="0" err="1"/>
              <a:t>계산하고</a:t>
            </a:r>
            <a:r>
              <a:rPr dirty="0"/>
              <a:t> </a:t>
            </a:r>
            <a:r>
              <a:rPr dirty="0" err="1"/>
              <a:t>optimizer.step</a:t>
            </a:r>
            <a:r>
              <a:rPr dirty="0"/>
              <a:t>()</a:t>
            </a:r>
            <a:r>
              <a:rPr dirty="0" err="1"/>
              <a:t>으로</a:t>
            </a:r>
            <a:r>
              <a:rPr dirty="0"/>
              <a:t> </a:t>
            </a:r>
            <a:r>
              <a:rPr dirty="0" err="1"/>
              <a:t>파라미터를</a:t>
            </a:r>
            <a:r>
              <a:rPr dirty="0"/>
              <a:t> </a:t>
            </a:r>
            <a:r>
              <a:rPr dirty="0" err="1"/>
              <a:t>갱신합니다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Accuracy </a:t>
            </a:r>
            <a:r>
              <a:rPr dirty="0" err="1"/>
              <a:t>등의</a:t>
            </a:r>
            <a:r>
              <a:rPr dirty="0"/>
              <a:t> </a:t>
            </a:r>
            <a:r>
              <a:rPr dirty="0" err="1"/>
              <a:t>지표는</a:t>
            </a:r>
            <a:r>
              <a:rPr dirty="0"/>
              <a:t> </a:t>
            </a:r>
            <a:r>
              <a:rPr dirty="0" err="1"/>
              <a:t>학습과</a:t>
            </a:r>
            <a:r>
              <a:rPr dirty="0"/>
              <a:t> </a:t>
            </a:r>
            <a:r>
              <a:rPr dirty="0" err="1"/>
              <a:t>검증의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맥락에</a:t>
            </a:r>
            <a:r>
              <a:rPr dirty="0"/>
              <a:t> </a:t>
            </a:r>
            <a:r>
              <a:rPr dirty="0" err="1"/>
              <a:t>맞게</a:t>
            </a:r>
            <a:r>
              <a:rPr dirty="0"/>
              <a:t> </a:t>
            </a:r>
            <a:r>
              <a:rPr dirty="0" err="1"/>
              <a:t>계산합니다</a:t>
            </a:r>
            <a:r>
              <a:rPr dirty="0"/>
              <a:t>. 검증 </a:t>
            </a:r>
            <a:r>
              <a:rPr dirty="0" err="1"/>
              <a:t>단계는</a:t>
            </a:r>
            <a:r>
              <a:rPr dirty="0"/>
              <a:t> </a:t>
            </a:r>
            <a:r>
              <a:rPr dirty="0" err="1"/>
              <a:t>파라미터를</a:t>
            </a:r>
            <a:r>
              <a:rPr dirty="0"/>
              <a:t> </a:t>
            </a:r>
            <a:r>
              <a:rPr dirty="0" err="1"/>
              <a:t>업데이트하지</a:t>
            </a:r>
            <a:r>
              <a:rPr dirty="0"/>
              <a:t> </a:t>
            </a:r>
            <a:r>
              <a:rPr dirty="0" err="1"/>
              <a:t>않도록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단계와</a:t>
            </a:r>
            <a:r>
              <a:rPr dirty="0"/>
              <a:t> </a:t>
            </a:r>
            <a:r>
              <a:rPr dirty="0" err="1"/>
              <a:t>구분해야</a:t>
            </a:r>
            <a:r>
              <a:rPr dirty="0"/>
              <a:t> </a:t>
            </a:r>
            <a:r>
              <a:rPr dirty="0" err="1"/>
              <a:t>하며</a:t>
            </a:r>
            <a:r>
              <a:rPr dirty="0"/>
              <a:t>, PAD </a:t>
            </a:r>
            <a:r>
              <a:rPr dirty="0" err="1"/>
              <a:t>토큰을</a:t>
            </a:r>
            <a:r>
              <a:rPr dirty="0"/>
              <a:t> </a:t>
            </a:r>
            <a:r>
              <a:rPr dirty="0" err="1"/>
              <a:t>제외하는</a:t>
            </a:r>
            <a:r>
              <a:rPr dirty="0"/>
              <a:t> </a:t>
            </a:r>
            <a:r>
              <a:rPr dirty="0" err="1"/>
              <a:t>손실</a:t>
            </a:r>
            <a:r>
              <a:rPr dirty="0"/>
              <a:t> 및 </a:t>
            </a:r>
            <a:r>
              <a:rPr dirty="0" err="1"/>
              <a:t>정확도</a:t>
            </a:r>
            <a:r>
              <a:rPr dirty="0"/>
              <a:t> </a:t>
            </a:r>
            <a:r>
              <a:rPr dirty="0" err="1"/>
              <a:t>계산처럼</a:t>
            </a:r>
            <a:r>
              <a:rPr dirty="0"/>
              <a:t> </a:t>
            </a:r>
            <a:r>
              <a:rPr dirty="0" err="1"/>
              <a:t>작업별</a:t>
            </a:r>
            <a:r>
              <a:rPr dirty="0"/>
              <a:t> </a:t>
            </a:r>
            <a:r>
              <a:rPr dirty="0" err="1"/>
              <a:t>평가</a:t>
            </a:r>
            <a:r>
              <a:rPr dirty="0"/>
              <a:t> </a:t>
            </a:r>
            <a:r>
              <a:rPr dirty="0" err="1"/>
              <a:t>규칙도</a:t>
            </a:r>
            <a:r>
              <a:rPr dirty="0"/>
              <a:t> </a:t>
            </a:r>
            <a:r>
              <a:rPr dirty="0" err="1"/>
              <a:t>반영할</a:t>
            </a:r>
            <a:r>
              <a:rPr dirty="0"/>
              <a:t> 수 </a:t>
            </a:r>
            <a:r>
              <a:rPr dirty="0" err="1"/>
              <a:t>있도록</a:t>
            </a:r>
            <a:r>
              <a:rPr dirty="0"/>
              <a:t> </a:t>
            </a:r>
            <a:r>
              <a:rPr dirty="0" err="1"/>
              <a:t>구성했습니다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제어</a:t>
            </a:r>
            <a:r>
              <a:rPr dirty="0"/>
              <a:t> </a:t>
            </a:r>
            <a:r>
              <a:rPr dirty="0" err="1"/>
              <a:t>측면에서는</a:t>
            </a:r>
            <a:r>
              <a:rPr dirty="0"/>
              <a:t> </a:t>
            </a:r>
            <a:r>
              <a:rPr dirty="0" err="1"/>
              <a:t>최적</a:t>
            </a:r>
            <a:r>
              <a:rPr dirty="0"/>
              <a:t> </a:t>
            </a:r>
            <a:r>
              <a:rPr dirty="0" err="1"/>
              <a:t>모델의</a:t>
            </a:r>
            <a:r>
              <a:rPr dirty="0"/>
              <a:t> Checkpoint </a:t>
            </a:r>
            <a:r>
              <a:rPr dirty="0" err="1"/>
              <a:t>저장·복원과</a:t>
            </a:r>
            <a:r>
              <a:rPr dirty="0"/>
              <a:t> </a:t>
            </a:r>
            <a:r>
              <a:rPr dirty="0" err="1"/>
              <a:t>EarlyStopping을</a:t>
            </a:r>
            <a:r>
              <a:rPr dirty="0"/>
              <a:t> </a:t>
            </a:r>
            <a:r>
              <a:rPr dirty="0" err="1"/>
              <a:t>제공하고</a:t>
            </a:r>
            <a:r>
              <a:rPr dirty="0"/>
              <a:t>,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분석</a:t>
            </a:r>
            <a:r>
              <a:rPr dirty="0"/>
              <a:t> 및 </a:t>
            </a:r>
            <a:r>
              <a:rPr dirty="0" err="1"/>
              <a:t>장치</a:t>
            </a:r>
            <a:r>
              <a:rPr dirty="0"/>
              <a:t> </a:t>
            </a:r>
            <a:r>
              <a:rPr dirty="0" err="1"/>
              <a:t>프로파일링</a:t>
            </a:r>
            <a:r>
              <a:rPr dirty="0"/>
              <a:t> </a:t>
            </a:r>
            <a:r>
              <a:rPr dirty="0" err="1"/>
              <a:t>기능을</a:t>
            </a:r>
            <a:r>
              <a:rPr dirty="0"/>
              <a:t> </a:t>
            </a:r>
            <a:r>
              <a:rPr dirty="0" err="1"/>
              <a:t>별도</a:t>
            </a:r>
            <a:r>
              <a:rPr dirty="0"/>
              <a:t> </a:t>
            </a:r>
            <a:r>
              <a:rPr dirty="0" err="1"/>
              <a:t>관심사로</a:t>
            </a:r>
            <a:r>
              <a:rPr dirty="0"/>
              <a:t> </a:t>
            </a:r>
            <a:r>
              <a:rPr dirty="0" err="1"/>
              <a:t>분리했습니다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여기서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dirty="0" err="1"/>
              <a:t>것은</a:t>
            </a:r>
            <a:r>
              <a:rPr dirty="0"/>
              <a:t> </a:t>
            </a:r>
            <a:r>
              <a:rPr dirty="0" err="1"/>
              <a:t>단순히</a:t>
            </a:r>
            <a:r>
              <a:rPr dirty="0"/>
              <a:t> </a:t>
            </a:r>
            <a:r>
              <a:rPr dirty="0" err="1"/>
              <a:t>PyTorch의</a:t>
            </a:r>
            <a:r>
              <a:rPr dirty="0"/>
              <a:t> </a:t>
            </a:r>
            <a:r>
              <a:rPr dirty="0" err="1"/>
              <a:t>표준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순서를</a:t>
            </a:r>
            <a:r>
              <a:rPr dirty="0"/>
              <a:t> </a:t>
            </a:r>
            <a:r>
              <a:rPr dirty="0" err="1"/>
              <a:t>구현했다는</a:t>
            </a:r>
            <a:r>
              <a:rPr dirty="0"/>
              <a:t> </a:t>
            </a:r>
            <a:r>
              <a:rPr dirty="0" err="1"/>
              <a:t>점이</a:t>
            </a:r>
            <a:r>
              <a:rPr dirty="0"/>
              <a:t> </a:t>
            </a:r>
            <a:r>
              <a:rPr dirty="0" err="1"/>
              <a:t>아닙니다</a:t>
            </a:r>
            <a:r>
              <a:rPr dirty="0"/>
              <a:t>. </a:t>
            </a:r>
            <a:endParaRPr lang="en-US" dirty="0"/>
          </a:p>
          <a:p>
            <a:endParaRPr lang="en-US" dirty="0"/>
          </a:p>
          <a:p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, </a:t>
            </a:r>
            <a:r>
              <a:rPr dirty="0" err="1"/>
              <a:t>학습·검증</a:t>
            </a:r>
            <a:r>
              <a:rPr dirty="0"/>
              <a:t> </a:t>
            </a:r>
            <a:r>
              <a:rPr dirty="0" err="1"/>
              <a:t>구분</a:t>
            </a:r>
            <a:r>
              <a:rPr dirty="0"/>
              <a:t>, </a:t>
            </a:r>
            <a:r>
              <a:rPr dirty="0" err="1"/>
              <a:t>상태</a:t>
            </a:r>
            <a:r>
              <a:rPr dirty="0"/>
              <a:t> </a:t>
            </a:r>
            <a:r>
              <a:rPr dirty="0" err="1"/>
              <a:t>저장</a:t>
            </a:r>
            <a:r>
              <a:rPr dirty="0"/>
              <a:t>, </a:t>
            </a:r>
            <a:r>
              <a:rPr dirty="0" err="1"/>
              <a:t>지표</a:t>
            </a:r>
            <a:r>
              <a:rPr dirty="0"/>
              <a:t> </a:t>
            </a:r>
            <a:r>
              <a:rPr dirty="0" err="1"/>
              <a:t>계산을</a:t>
            </a:r>
            <a:r>
              <a:rPr dirty="0"/>
              <a:t>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흐름으로</a:t>
            </a:r>
            <a:r>
              <a:rPr dirty="0"/>
              <a:t> </a:t>
            </a:r>
            <a:r>
              <a:rPr dirty="0" err="1"/>
              <a:t>정리하여</a:t>
            </a:r>
            <a:r>
              <a:rPr dirty="0"/>
              <a:t> </a:t>
            </a:r>
            <a:r>
              <a:rPr dirty="0" err="1"/>
              <a:t>모델마다</a:t>
            </a:r>
            <a:r>
              <a:rPr dirty="0"/>
              <a:t> </a:t>
            </a: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구현할</a:t>
            </a:r>
            <a:r>
              <a:rPr dirty="0"/>
              <a:t> </a:t>
            </a:r>
            <a:r>
              <a:rPr dirty="0" err="1"/>
              <a:t>필요를</a:t>
            </a:r>
            <a:r>
              <a:rPr dirty="0"/>
              <a:t> </a:t>
            </a:r>
            <a:r>
              <a:rPr dirty="0" err="1"/>
              <a:t>줄였다는</a:t>
            </a:r>
            <a:r>
              <a:rPr dirty="0"/>
              <a:t> </a:t>
            </a:r>
            <a:r>
              <a:rPr dirty="0" err="1"/>
              <a:t>점입니다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이 슬라이드에서는 </a:t>
            </a:r>
            <a:r>
              <a:rPr lang="ko-KR" altLang="ko-KR" b="1" dirty="0"/>
              <a:t>모델 내부 상태를 </a:t>
            </a:r>
            <a:r>
              <a:rPr lang="ko-KR" altLang="ko-KR" b="1" dirty="0" err="1"/>
              <a:t>Layer와</a:t>
            </a:r>
            <a:r>
              <a:rPr lang="ko-KR" altLang="ko-KR" b="1" dirty="0"/>
              <a:t> </a:t>
            </a:r>
            <a:r>
              <a:rPr lang="ko-KR" altLang="ko-KR" b="1" dirty="0" err="1"/>
              <a:t>Neuron</a:t>
            </a:r>
            <a:r>
              <a:rPr lang="ko-KR" altLang="ko-KR" b="1" dirty="0"/>
              <a:t> 단위로 분석하기 위한 진단 구조</a:t>
            </a:r>
            <a:r>
              <a:rPr lang="ko-KR" altLang="ko-KR" dirty="0"/>
              <a:t>를 </a:t>
            </a:r>
            <a:r>
              <a:rPr lang="ko-KR" altLang="ko-KR" dirty="0" err="1"/>
              <a:t>설명드리겠습니다</a:t>
            </a:r>
            <a:r>
              <a:rPr lang="ko-KR" altLang="ko-KR" dirty="0"/>
              <a:t>.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ko-KR" dirty="0"/>
              <a:t>모델 구조를 해석하고, </a:t>
            </a:r>
            <a:r>
              <a:rPr lang="ko-KR" altLang="ko-KR" dirty="0" err="1"/>
              <a:t>Tensor의</a:t>
            </a:r>
            <a:r>
              <a:rPr lang="ko-KR" altLang="ko-KR" dirty="0"/>
              <a:t> </a:t>
            </a:r>
            <a:r>
              <a:rPr lang="ko-KR" altLang="ko-KR" dirty="0" err="1"/>
              <a:t>통계값을</a:t>
            </a:r>
            <a:r>
              <a:rPr lang="ko-KR" altLang="ko-KR" dirty="0"/>
              <a:t> 계산한 뒤, 진단 조건을 적용하도록 역할을 나누었습니다.</a:t>
            </a:r>
            <a:endParaRPr lang="en-US" altLang="ko-KR" dirty="0"/>
          </a:p>
          <a:p>
            <a:endParaRPr lang="ko-KR" altLang="ko-KR" dirty="0"/>
          </a:p>
          <a:p>
            <a:r>
              <a:rPr lang="ko-KR" altLang="ko-KR" dirty="0"/>
              <a:t>먼저 </a:t>
            </a:r>
            <a:r>
              <a:rPr lang="ko-KR" altLang="ko-K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SequentialLayerResolver</a:t>
            </a:r>
            <a:r>
              <a:rPr lang="ko-KR" altLang="ko-KR" dirty="0" err="1"/>
              <a:t>는</a:t>
            </a:r>
            <a:r>
              <a:rPr lang="ko-KR" altLang="ko-KR" dirty="0"/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nn.Sequential</a:t>
            </a:r>
            <a:r>
              <a:rPr lang="ko-KR" altLang="ko-KR" dirty="0" err="1"/>
              <a:t>에서</a:t>
            </a:r>
            <a:r>
              <a:rPr lang="ko-KR" altLang="ko-KR" dirty="0"/>
              <a:t> </a:t>
            </a:r>
            <a:r>
              <a:rPr lang="ko-KR" altLang="ko-KR" dirty="0" err="1"/>
              <a:t>Linear와</a:t>
            </a:r>
            <a:r>
              <a:rPr lang="ko-KR" altLang="ko-KR" dirty="0"/>
              <a:t> </a:t>
            </a:r>
            <a:r>
              <a:rPr lang="ko-KR" altLang="ko-KR" dirty="0" err="1"/>
              <a:t>Conv</a:t>
            </a:r>
            <a:r>
              <a:rPr lang="ko-KR" altLang="ko-KR" dirty="0"/>
              <a:t> 계열 모듈을 </a:t>
            </a:r>
            <a:r>
              <a:rPr lang="ko-KR" altLang="ko-KR" dirty="0" err="1"/>
              <a:t>Primary</a:t>
            </a:r>
            <a:r>
              <a:rPr lang="ko-KR" altLang="ko-KR" dirty="0"/>
              <a:t> </a:t>
            </a:r>
            <a:r>
              <a:rPr lang="ko-KR" altLang="ko-KR" dirty="0" err="1"/>
              <a:t>Layer로</a:t>
            </a:r>
            <a:r>
              <a:rPr lang="ko-KR" altLang="ko-KR" dirty="0"/>
              <a:t> 식별합니다.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ko-KR" dirty="0"/>
              <a:t>뒤따르는 모듈은 해당 </a:t>
            </a:r>
            <a:r>
              <a:rPr lang="ko-KR" altLang="ko-KR" dirty="0" err="1"/>
              <a:t>Layer의</a:t>
            </a:r>
            <a:r>
              <a:rPr lang="ko-KR" altLang="ko-KR" dirty="0"/>
              <a:t> </a:t>
            </a:r>
            <a:r>
              <a:rPr lang="ko-KR" altLang="ko-KR" dirty="0" err="1"/>
              <a:t>Stage로</a:t>
            </a:r>
            <a:r>
              <a:rPr lang="ko-KR" altLang="ko-KR" dirty="0"/>
              <a:t> 연결합니다. </a:t>
            </a:r>
            <a:r>
              <a:rPr lang="ko-KR" altLang="ko-K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TensorNeuronSelector</a:t>
            </a:r>
            <a:r>
              <a:rPr lang="ko-KR" altLang="ko-KR" dirty="0" err="1"/>
              <a:t>는</a:t>
            </a:r>
            <a:r>
              <a:rPr lang="ko-KR" altLang="ko-KR" dirty="0"/>
              <a:t> 분석할 </a:t>
            </a:r>
            <a:r>
              <a:rPr lang="ko-KR" altLang="ko-KR" dirty="0" err="1"/>
              <a:t>Neuron의</a:t>
            </a:r>
            <a:r>
              <a:rPr lang="ko-KR" altLang="ko-KR" dirty="0"/>
              <a:t> 축과 인덱스를 검증한 뒤 값을 선택합니다.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ko-KR" dirty="0"/>
              <a:t>이 과정에서 분석 대상을 특정 </a:t>
            </a:r>
            <a:r>
              <a:rPr lang="ko-KR" altLang="ko-KR" dirty="0" err="1"/>
              <a:t>Layer와</a:t>
            </a:r>
            <a:r>
              <a:rPr lang="ko-KR" altLang="ko-KR" dirty="0"/>
              <a:t> </a:t>
            </a:r>
            <a:r>
              <a:rPr lang="ko-KR" altLang="ko-KR" dirty="0" err="1"/>
              <a:t>Neuron으로</a:t>
            </a:r>
            <a:r>
              <a:rPr lang="ko-KR" altLang="ko-KR" dirty="0"/>
              <a:t> 명확히 지정할 수 있습니다.</a:t>
            </a:r>
            <a:endParaRPr lang="en-US" altLang="ko-KR" dirty="0"/>
          </a:p>
          <a:p>
            <a:endParaRPr lang="ko-KR" altLang="ko-KR" dirty="0"/>
          </a:p>
          <a:p>
            <a:r>
              <a:rPr lang="ko-KR" altLang="ko-KR" dirty="0"/>
              <a:t>선택한 값은 </a:t>
            </a:r>
            <a:r>
              <a:rPr lang="ko-KR" altLang="ko-K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TensorStatistics</a:t>
            </a:r>
            <a:r>
              <a:rPr lang="ko-KR" altLang="ko-KR" dirty="0" err="1"/>
              <a:t>에서</a:t>
            </a:r>
            <a:r>
              <a:rPr lang="ko-KR" altLang="ko-KR" dirty="0"/>
              <a:t> 분석합니다. </a:t>
            </a:r>
            <a:r>
              <a:rPr lang="ko-KR" altLang="ko-KR" dirty="0" err="1"/>
              <a:t>Mean</a:t>
            </a:r>
            <a:r>
              <a:rPr lang="ko-KR" altLang="ko-KR" dirty="0"/>
              <a:t>, </a:t>
            </a:r>
            <a:r>
              <a:rPr lang="ko-KR" altLang="ko-KR" dirty="0" err="1"/>
              <a:t>standard</a:t>
            </a:r>
            <a:r>
              <a:rPr lang="ko-KR" altLang="ko-KR" dirty="0"/>
              <a:t> </a:t>
            </a:r>
            <a:r>
              <a:rPr lang="ko-KR" altLang="ko-KR" dirty="0" err="1"/>
              <a:t>deviation</a:t>
            </a:r>
            <a:r>
              <a:rPr lang="ko-KR" altLang="ko-KR" dirty="0"/>
              <a:t>, </a:t>
            </a:r>
            <a:r>
              <a:rPr lang="ko-KR" altLang="ko-KR" dirty="0" err="1"/>
              <a:t>zero</a:t>
            </a:r>
            <a:r>
              <a:rPr lang="ko-KR" altLang="ko-KR" dirty="0"/>
              <a:t> </a:t>
            </a:r>
            <a:r>
              <a:rPr lang="ko-KR" altLang="ko-KR" dirty="0" err="1"/>
              <a:t>ratio</a:t>
            </a:r>
            <a:r>
              <a:rPr lang="ko-KR" altLang="ko-KR" dirty="0"/>
              <a:t>, L1·L2 </a:t>
            </a:r>
            <a:r>
              <a:rPr lang="ko-KR" altLang="ko-KR" dirty="0" err="1"/>
              <a:t>norm</a:t>
            </a:r>
            <a:r>
              <a:rPr lang="ko-KR" altLang="ko-KR" dirty="0"/>
              <a:t>, </a:t>
            </a:r>
            <a:r>
              <a:rPr lang="ko-KR" altLang="ko-KR" dirty="0" err="1"/>
              <a:t>NaN·Inf</a:t>
            </a:r>
            <a:r>
              <a:rPr lang="ko-KR" altLang="ko-KR" dirty="0"/>
              <a:t> 개수 등을 계산합니다. </a:t>
            </a:r>
            <a:endParaRPr lang="en-US" altLang="ko-KR" dirty="0"/>
          </a:p>
          <a:p>
            <a:endParaRPr lang="en-US" altLang="ko-K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ko-KR" altLang="ko-K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WeightDiagnostic</a:t>
            </a:r>
            <a:r>
              <a:rPr lang="ko-KR" altLang="ko-KR" dirty="0" err="1"/>
              <a:t>은</a:t>
            </a:r>
            <a:r>
              <a:rPr lang="ko-KR" altLang="ko-KR" dirty="0"/>
              <a:t> 이 </a:t>
            </a:r>
            <a:r>
              <a:rPr lang="ko-KR" altLang="ko-KR" dirty="0" err="1"/>
              <a:t>통계값으로</a:t>
            </a:r>
            <a:r>
              <a:rPr lang="ko-KR" altLang="ko-KR" dirty="0"/>
              <a:t> </a:t>
            </a:r>
            <a:r>
              <a:rPr lang="ko-KR" altLang="ko-KR" dirty="0" err="1"/>
              <a:t>Weight가</a:t>
            </a:r>
            <a:r>
              <a:rPr lang="ko-KR" altLang="ko-KR" dirty="0"/>
              <a:t> 모두 0인지, 거의 일정한지, </a:t>
            </a:r>
            <a:r>
              <a:rPr lang="ko-KR" altLang="ko-KR" dirty="0" err="1"/>
              <a:t>NaN·Inf가</a:t>
            </a:r>
            <a:r>
              <a:rPr lang="ko-KR" altLang="ko-KR" dirty="0"/>
              <a:t> 있는지 판정합니다.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ko-KR" dirty="0"/>
              <a:t>작은 </a:t>
            </a:r>
            <a:r>
              <a:rPr lang="ko-KR" altLang="ko-KR" dirty="0" err="1"/>
              <a:t>Weight와</a:t>
            </a:r>
            <a:r>
              <a:rPr lang="ko-KR" altLang="ko-KR" dirty="0"/>
              <a:t> 큰 </a:t>
            </a:r>
            <a:r>
              <a:rPr lang="ko-KR" altLang="ko-KR" dirty="0" err="1"/>
              <a:t>Weight의</a:t>
            </a:r>
            <a:r>
              <a:rPr lang="ko-KR" altLang="ko-KR" dirty="0"/>
              <a:t> </a:t>
            </a:r>
            <a:r>
              <a:rPr lang="ko-KR" altLang="ko-KR" dirty="0" err="1"/>
              <a:t>기준값은</a:t>
            </a:r>
            <a:r>
              <a:rPr lang="ko-KR" altLang="ko-KR" dirty="0"/>
              <a:t> 분석 목적에 따라 호출자가 지정합니다.</a:t>
            </a:r>
          </a:p>
          <a:p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소프트웨어</a:t>
            </a:r>
            <a:r>
              <a:rPr dirty="0"/>
              <a:t> </a:t>
            </a:r>
            <a:r>
              <a:rPr dirty="0" err="1"/>
              <a:t>엔지니어링에서</a:t>
            </a:r>
            <a:r>
              <a:rPr dirty="0"/>
              <a:t> </a:t>
            </a:r>
            <a:r>
              <a:rPr dirty="0" err="1"/>
              <a:t>기능</a:t>
            </a:r>
            <a:r>
              <a:rPr dirty="0"/>
              <a:t> </a:t>
            </a:r>
            <a:r>
              <a:rPr dirty="0" err="1"/>
              <a:t>구현만큼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dirty="0" err="1"/>
              <a:t>것은</a:t>
            </a:r>
            <a:r>
              <a:rPr dirty="0"/>
              <a:t> 검증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근거라고</a:t>
            </a:r>
            <a:r>
              <a:rPr dirty="0"/>
              <a:t> </a:t>
            </a:r>
            <a:r>
              <a:rPr dirty="0" err="1"/>
              <a:t>생각합니다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슬라이드에는</a:t>
            </a:r>
            <a:r>
              <a:rPr dirty="0"/>
              <a:t> </a:t>
            </a:r>
            <a:r>
              <a:rPr dirty="0" err="1"/>
              <a:t>기존에</a:t>
            </a:r>
            <a:r>
              <a:rPr dirty="0"/>
              <a:t> </a:t>
            </a:r>
            <a:r>
              <a:rPr dirty="0" err="1"/>
              <a:t>수행한</a:t>
            </a:r>
            <a:r>
              <a:rPr dirty="0"/>
              <a:t> </a:t>
            </a:r>
            <a:r>
              <a:rPr dirty="0" err="1"/>
              <a:t>pytest</a:t>
            </a:r>
            <a:r>
              <a:rPr dirty="0"/>
              <a:t> </a:t>
            </a:r>
            <a:r>
              <a:rPr dirty="0" err="1"/>
              <a:t>결과인</a:t>
            </a:r>
            <a:r>
              <a:rPr dirty="0"/>
              <a:t> 126개 테스트 </a:t>
            </a:r>
            <a:r>
              <a:rPr dirty="0" err="1"/>
              <a:t>통과</a:t>
            </a:r>
            <a:r>
              <a:rPr dirty="0"/>
              <a:t>, </a:t>
            </a:r>
            <a:r>
              <a:rPr dirty="0" err="1"/>
              <a:t>실패</a:t>
            </a:r>
            <a:r>
              <a:rPr dirty="0"/>
              <a:t> 0건이 </a:t>
            </a:r>
            <a:r>
              <a:rPr dirty="0" err="1"/>
              <a:t>기록되어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endParaRPr lang="en-US" dirty="0"/>
          </a:p>
          <a:p>
            <a:endParaRPr lang="en-US" dirty="0"/>
          </a:p>
          <a:p>
            <a:r>
              <a:rPr dirty="0"/>
              <a:t>테스트 </a:t>
            </a:r>
            <a:r>
              <a:rPr dirty="0" err="1"/>
              <a:t>범위에는</a:t>
            </a:r>
            <a:r>
              <a:rPr dirty="0"/>
              <a:t> </a:t>
            </a:r>
            <a:r>
              <a:rPr dirty="0" err="1"/>
              <a:t>SGD와</a:t>
            </a:r>
            <a:r>
              <a:rPr dirty="0"/>
              <a:t> </a:t>
            </a:r>
            <a:r>
              <a:rPr dirty="0" err="1"/>
              <a:t>Adam의</a:t>
            </a:r>
            <a:r>
              <a:rPr dirty="0"/>
              <a:t> </a:t>
            </a:r>
            <a:r>
              <a:rPr dirty="0" err="1"/>
              <a:t>파라미터</a:t>
            </a:r>
            <a:r>
              <a:rPr dirty="0"/>
              <a:t> </a:t>
            </a:r>
            <a:r>
              <a:rPr dirty="0" err="1"/>
              <a:t>업데이트</a:t>
            </a:r>
            <a:r>
              <a:rPr dirty="0"/>
              <a:t>, </a:t>
            </a:r>
            <a:r>
              <a:rPr dirty="0" err="1"/>
              <a:t>Train·Validation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분기</a:t>
            </a:r>
            <a:r>
              <a:rPr dirty="0"/>
              <a:t>, </a:t>
            </a:r>
            <a:r>
              <a:rPr dirty="0" err="1"/>
              <a:t>중첩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처리</a:t>
            </a:r>
            <a:r>
              <a:rPr dirty="0"/>
              <a:t>, PAD </a:t>
            </a:r>
            <a:r>
              <a:rPr dirty="0" err="1"/>
              <a:t>제외</a:t>
            </a:r>
            <a:r>
              <a:rPr dirty="0"/>
              <a:t> </a:t>
            </a:r>
            <a:r>
              <a:rPr dirty="0" err="1"/>
              <a:t>손실과</a:t>
            </a:r>
            <a:r>
              <a:rPr dirty="0"/>
              <a:t> </a:t>
            </a:r>
            <a:r>
              <a:rPr dirty="0" err="1"/>
              <a:t>정확도</a:t>
            </a:r>
            <a:r>
              <a:rPr dirty="0"/>
              <a:t>, Checkpoint </a:t>
            </a:r>
            <a:r>
              <a:rPr dirty="0" err="1"/>
              <a:t>저장·복원</a:t>
            </a:r>
            <a:r>
              <a:rPr dirty="0"/>
              <a:t>, </a:t>
            </a:r>
            <a:r>
              <a:rPr dirty="0" err="1"/>
              <a:t>DataLoader</a:t>
            </a:r>
            <a:r>
              <a:rPr dirty="0"/>
              <a:t> </a:t>
            </a:r>
            <a:r>
              <a:rPr dirty="0" err="1"/>
              <a:t>관련</a:t>
            </a:r>
            <a:r>
              <a:rPr dirty="0"/>
              <a:t> </a:t>
            </a:r>
            <a:r>
              <a:rPr dirty="0" err="1"/>
              <a:t>동작</a:t>
            </a:r>
            <a:r>
              <a:rPr dirty="0"/>
              <a:t>, Profiling </a:t>
            </a:r>
            <a:r>
              <a:rPr dirty="0" err="1"/>
              <a:t>등이</a:t>
            </a:r>
            <a:r>
              <a:rPr dirty="0"/>
              <a:t> </a:t>
            </a:r>
            <a:r>
              <a:rPr dirty="0" err="1"/>
              <a:t>포함됩니다</a:t>
            </a:r>
            <a:r>
              <a:rPr dirty="0"/>
              <a:t>.</a:t>
            </a:r>
          </a:p>
          <a:p>
            <a:endParaRPr dirty="0"/>
          </a:p>
          <a:p>
            <a:r>
              <a:rPr lang="en-US" altLang="ko-KR" dirty="0" err="1"/>
              <a:t>pytest</a:t>
            </a:r>
            <a:r>
              <a:rPr lang="en-US" altLang="ko-KR" dirty="0"/>
              <a:t> </a:t>
            </a:r>
            <a:r>
              <a:rPr lang="ko-KR" altLang="en-US" dirty="0"/>
              <a:t>결과는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코어의</a:t>
            </a:r>
            <a:r>
              <a:rPr dirty="0"/>
              <a:t> 검증 </a:t>
            </a:r>
            <a:r>
              <a:rPr dirty="0" err="1"/>
              <a:t>결과를</a:t>
            </a:r>
            <a:r>
              <a:rPr dirty="0"/>
              <a:t> </a:t>
            </a:r>
            <a:r>
              <a:rPr dirty="0" err="1"/>
              <a:t>나타냅니다</a:t>
            </a:r>
            <a:r>
              <a:rPr dirty="0"/>
              <a:t>. </a:t>
            </a:r>
            <a:r>
              <a:rPr lang="ko-KR" altLang="en-US" dirty="0"/>
              <a:t>신규 </a:t>
            </a:r>
            <a:r>
              <a:rPr dirty="0"/>
              <a:t>Diagnostics </a:t>
            </a:r>
            <a:r>
              <a:rPr dirty="0" err="1"/>
              <a:t>진단</a:t>
            </a:r>
            <a:r>
              <a:rPr dirty="0"/>
              <a:t> </a:t>
            </a:r>
            <a:r>
              <a:rPr dirty="0" err="1"/>
              <a:t>기능의</a:t>
            </a:r>
            <a:r>
              <a:rPr dirty="0"/>
              <a:t> 테스트 </a:t>
            </a:r>
            <a:r>
              <a:rPr dirty="0" err="1"/>
              <a:t>결과는</a:t>
            </a:r>
            <a:r>
              <a:rPr dirty="0"/>
              <a:t> </a:t>
            </a:r>
            <a:r>
              <a:rPr dirty="0" err="1"/>
              <a:t>별도로</a:t>
            </a:r>
            <a:r>
              <a:rPr dirty="0"/>
              <a:t> </a:t>
            </a:r>
            <a:r>
              <a:rPr dirty="0" err="1"/>
              <a:t>확보한</a:t>
            </a:r>
            <a:r>
              <a:rPr dirty="0"/>
              <a:t> 뒤 </a:t>
            </a:r>
            <a:r>
              <a:rPr dirty="0" err="1"/>
              <a:t>업데이트</a:t>
            </a:r>
            <a:r>
              <a:rPr lang="en-US" dirty="0"/>
              <a:t> </a:t>
            </a:r>
            <a:r>
              <a:rPr lang="ko-KR" altLang="en-US" dirty="0"/>
              <a:t>예정입니다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Decoder-only Transformer SLM </a:t>
            </a:r>
            <a:r>
              <a:rPr dirty="0" err="1"/>
              <a:t>프로젝트는</a:t>
            </a:r>
            <a:r>
              <a:rPr dirty="0"/>
              <a:t> 2026년 6월부터 8월까지 </a:t>
            </a:r>
            <a:r>
              <a:rPr dirty="0" err="1"/>
              <a:t>진행했습니다</a:t>
            </a:r>
            <a:r>
              <a:rPr dirty="0"/>
              <a:t>. </a:t>
            </a:r>
            <a:r>
              <a:rPr dirty="0" err="1"/>
              <a:t>목표는</a:t>
            </a:r>
            <a:r>
              <a:rPr dirty="0"/>
              <a:t> </a:t>
            </a:r>
            <a:r>
              <a:rPr dirty="0" err="1"/>
              <a:t>사전</a:t>
            </a:r>
            <a:r>
              <a:rPr dirty="0"/>
              <a:t> </a:t>
            </a:r>
            <a:r>
              <a:rPr dirty="0" err="1"/>
              <a:t>학습된</a:t>
            </a:r>
            <a:r>
              <a:rPr dirty="0"/>
              <a:t> </a:t>
            </a:r>
            <a:r>
              <a:rPr dirty="0" err="1"/>
              <a:t>언어모델을</a:t>
            </a:r>
            <a:r>
              <a:rPr dirty="0"/>
              <a:t> </a:t>
            </a:r>
            <a:r>
              <a:rPr dirty="0" err="1"/>
              <a:t>단순히</a:t>
            </a:r>
            <a:r>
              <a:rPr dirty="0"/>
              <a:t> </a:t>
            </a:r>
            <a:r>
              <a:rPr dirty="0" err="1"/>
              <a:t>사용하는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, </a:t>
            </a:r>
            <a:r>
              <a:rPr dirty="0" err="1"/>
              <a:t>토큰화부터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, </a:t>
            </a:r>
            <a:r>
              <a:rPr dirty="0" err="1"/>
              <a:t>학습·검증·추론까지</a:t>
            </a:r>
            <a:r>
              <a:rPr dirty="0"/>
              <a:t>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흐름을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구현하는</a:t>
            </a:r>
            <a:r>
              <a:rPr dirty="0"/>
              <a:t> </a:t>
            </a:r>
            <a:r>
              <a:rPr dirty="0" err="1"/>
              <a:t>것이었습니다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처리에서는</a:t>
            </a:r>
            <a:r>
              <a:rPr dirty="0"/>
              <a:t> </a:t>
            </a:r>
            <a:r>
              <a:rPr dirty="0" err="1"/>
              <a:t>SentencePiece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토크나이저를</a:t>
            </a:r>
            <a:r>
              <a:rPr dirty="0"/>
              <a:t> </a:t>
            </a:r>
            <a:r>
              <a:rPr dirty="0" err="1"/>
              <a:t>학습하고</a:t>
            </a:r>
            <a:r>
              <a:rPr dirty="0"/>
              <a:t> </a:t>
            </a:r>
            <a:r>
              <a:rPr dirty="0" err="1"/>
              <a:t>텍스트를</a:t>
            </a:r>
            <a:r>
              <a:rPr dirty="0"/>
              <a:t> Token </a:t>
            </a:r>
            <a:r>
              <a:rPr dirty="0" err="1"/>
              <a:t>ID로</a:t>
            </a:r>
            <a:r>
              <a:rPr dirty="0"/>
              <a:t> </a:t>
            </a:r>
            <a:r>
              <a:rPr dirty="0" err="1"/>
              <a:t>변환했습니다</a:t>
            </a:r>
            <a:r>
              <a:rPr dirty="0"/>
              <a:t>. </a:t>
            </a:r>
            <a:r>
              <a:rPr dirty="0" err="1"/>
              <a:t>모델은</a:t>
            </a:r>
            <a:r>
              <a:rPr dirty="0"/>
              <a:t> Token 및 Positional Embedding, Causal </a:t>
            </a:r>
            <a:r>
              <a:rPr dirty="0" err="1"/>
              <a:t>Mask를</a:t>
            </a:r>
            <a:r>
              <a:rPr dirty="0"/>
              <a:t> </a:t>
            </a:r>
            <a:r>
              <a:rPr dirty="0" err="1"/>
              <a:t>적용한</a:t>
            </a:r>
            <a:r>
              <a:rPr dirty="0"/>
              <a:t> Masked Self-Attention, Feed Forward Network, Decoder </a:t>
            </a:r>
            <a:r>
              <a:rPr dirty="0" err="1"/>
              <a:t>Block을</a:t>
            </a:r>
            <a:r>
              <a:rPr dirty="0"/>
              <a:t> </a:t>
            </a:r>
            <a:r>
              <a:rPr dirty="0" err="1"/>
              <a:t>중심으로</a:t>
            </a:r>
            <a:r>
              <a:rPr dirty="0"/>
              <a:t> </a:t>
            </a:r>
            <a:r>
              <a:rPr dirty="0" err="1"/>
              <a:t>구성했습니다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과정에서는</a:t>
            </a:r>
            <a:r>
              <a:rPr dirty="0"/>
              <a:t> </a:t>
            </a:r>
            <a:r>
              <a:rPr dirty="0" err="1"/>
              <a:t>Logits와</a:t>
            </a:r>
            <a:r>
              <a:rPr dirty="0"/>
              <a:t> </a:t>
            </a:r>
            <a:r>
              <a:rPr dirty="0" err="1"/>
              <a:t>정답</a:t>
            </a:r>
            <a:r>
              <a:rPr dirty="0"/>
              <a:t> </a:t>
            </a:r>
            <a:r>
              <a:rPr dirty="0" err="1"/>
              <a:t>토큰의</a:t>
            </a:r>
            <a:r>
              <a:rPr dirty="0"/>
              <a:t> </a:t>
            </a:r>
            <a:r>
              <a:rPr dirty="0" err="1"/>
              <a:t>관계를</a:t>
            </a:r>
            <a:r>
              <a:rPr dirty="0"/>
              <a:t> </a:t>
            </a:r>
            <a:r>
              <a:rPr dirty="0" err="1"/>
              <a:t>정의하고</a:t>
            </a:r>
            <a:r>
              <a:rPr dirty="0"/>
              <a:t> Loss </a:t>
            </a:r>
            <a:r>
              <a:rPr dirty="0" err="1"/>
              <a:t>계산</a:t>
            </a:r>
            <a:r>
              <a:rPr dirty="0"/>
              <a:t>, Backpropagation, </a:t>
            </a:r>
            <a:r>
              <a:rPr dirty="0" err="1"/>
              <a:t>Validation을</a:t>
            </a:r>
            <a:r>
              <a:rPr dirty="0"/>
              <a:t> </a:t>
            </a:r>
            <a:r>
              <a:rPr dirty="0" err="1"/>
              <a:t>수행했습니다</a:t>
            </a:r>
            <a:r>
              <a:rPr dirty="0"/>
              <a:t>. </a:t>
            </a:r>
            <a:r>
              <a:rPr dirty="0" err="1"/>
              <a:t>이때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시퀀스와</a:t>
            </a:r>
            <a:r>
              <a:rPr dirty="0"/>
              <a:t> </a:t>
            </a:r>
            <a:r>
              <a:rPr dirty="0" err="1"/>
              <a:t>정답</a:t>
            </a:r>
            <a:r>
              <a:rPr dirty="0"/>
              <a:t> </a:t>
            </a:r>
            <a:r>
              <a:rPr dirty="0" err="1"/>
              <a:t>시퀀스의</a:t>
            </a:r>
            <a:r>
              <a:rPr dirty="0"/>
              <a:t> </a:t>
            </a:r>
            <a:r>
              <a:rPr dirty="0" err="1"/>
              <a:t>위치</a:t>
            </a:r>
            <a:r>
              <a:rPr dirty="0"/>
              <a:t> </a:t>
            </a:r>
            <a:r>
              <a:rPr dirty="0" err="1"/>
              <a:t>관계</a:t>
            </a:r>
            <a:r>
              <a:rPr dirty="0"/>
              <a:t>, </a:t>
            </a:r>
            <a:r>
              <a:rPr dirty="0" err="1"/>
              <a:t>마스킹</a:t>
            </a:r>
            <a:r>
              <a:rPr dirty="0"/>
              <a:t>, Padding </a:t>
            </a:r>
            <a:r>
              <a:rPr dirty="0" err="1"/>
              <a:t>처리처럼</a:t>
            </a:r>
            <a:r>
              <a:rPr dirty="0"/>
              <a:t> </a:t>
            </a:r>
            <a:r>
              <a:rPr dirty="0" err="1"/>
              <a:t>언어모델</a:t>
            </a:r>
            <a:r>
              <a:rPr dirty="0"/>
              <a:t> </a:t>
            </a:r>
            <a:r>
              <a:rPr dirty="0" err="1"/>
              <a:t>학습에서</a:t>
            </a:r>
            <a:r>
              <a:rPr dirty="0"/>
              <a:t> </a:t>
            </a:r>
            <a:r>
              <a:rPr dirty="0" err="1"/>
              <a:t>오류가</a:t>
            </a:r>
            <a:r>
              <a:rPr dirty="0"/>
              <a:t> </a:t>
            </a:r>
            <a:r>
              <a:rPr dirty="0" err="1"/>
              <a:t>발생하기</a:t>
            </a:r>
            <a:r>
              <a:rPr dirty="0"/>
              <a:t> </a:t>
            </a:r>
            <a:r>
              <a:rPr dirty="0" err="1"/>
              <a:t>쉬운</a:t>
            </a:r>
            <a:r>
              <a:rPr dirty="0"/>
              <a:t> </a:t>
            </a:r>
            <a:r>
              <a:rPr dirty="0" err="1"/>
              <a:t>지점을</a:t>
            </a:r>
            <a:r>
              <a:rPr dirty="0"/>
              <a:t> </a:t>
            </a:r>
            <a:r>
              <a:rPr dirty="0" err="1"/>
              <a:t>확인했습니다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Runtime </a:t>
            </a:r>
            <a:r>
              <a:rPr dirty="0" err="1"/>
              <a:t>영역에서는</a:t>
            </a:r>
            <a:r>
              <a:rPr dirty="0"/>
              <a:t> </a:t>
            </a:r>
            <a:r>
              <a:rPr dirty="0" err="1"/>
              <a:t>CPU와</a:t>
            </a:r>
            <a:r>
              <a:rPr dirty="0"/>
              <a:t> Intel XPU </a:t>
            </a:r>
            <a:r>
              <a:rPr dirty="0" err="1"/>
              <a:t>환경을</a:t>
            </a:r>
            <a:r>
              <a:rPr dirty="0"/>
              <a:t> </a:t>
            </a:r>
            <a:r>
              <a:rPr dirty="0" err="1"/>
              <a:t>비교하고</a:t>
            </a:r>
            <a:r>
              <a:rPr dirty="0"/>
              <a:t> Device </a:t>
            </a:r>
            <a:r>
              <a:rPr dirty="0" err="1"/>
              <a:t>Profiling과</a:t>
            </a:r>
            <a:r>
              <a:rPr dirty="0"/>
              <a:t> Batch </a:t>
            </a:r>
            <a:r>
              <a:rPr dirty="0" err="1"/>
              <a:t>Size에</a:t>
            </a:r>
            <a:r>
              <a:rPr dirty="0"/>
              <a:t> </a:t>
            </a:r>
            <a:r>
              <a:rPr dirty="0" err="1"/>
              <a:t>따른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특성을</a:t>
            </a:r>
            <a:r>
              <a:rPr dirty="0"/>
              <a:t> </a:t>
            </a:r>
            <a:r>
              <a:rPr dirty="0" err="1"/>
              <a:t>분석했습니다</a:t>
            </a:r>
            <a:r>
              <a:rPr dirty="0"/>
              <a:t>. </a:t>
            </a:r>
            <a:r>
              <a:rPr dirty="0" err="1"/>
              <a:t>특정</a:t>
            </a:r>
            <a:r>
              <a:rPr dirty="0"/>
              <a:t> </a:t>
            </a:r>
            <a:r>
              <a:rPr dirty="0" err="1"/>
              <a:t>장치에서의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가능</a:t>
            </a:r>
            <a:r>
              <a:rPr dirty="0"/>
              <a:t> </a:t>
            </a:r>
            <a:r>
              <a:rPr dirty="0" err="1"/>
              <a:t>여부와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성능은</a:t>
            </a:r>
            <a:r>
              <a:rPr dirty="0"/>
              <a:t> </a:t>
            </a:r>
            <a:r>
              <a:rPr dirty="0" err="1"/>
              <a:t>구분해</a:t>
            </a:r>
            <a:r>
              <a:rPr dirty="0"/>
              <a:t> </a:t>
            </a:r>
            <a:r>
              <a:rPr dirty="0" err="1"/>
              <a:t>판단했습니다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프로젝트의</a:t>
            </a:r>
            <a:r>
              <a:rPr dirty="0"/>
              <a:t> </a:t>
            </a:r>
            <a:r>
              <a:rPr dirty="0" err="1"/>
              <a:t>후속</a:t>
            </a:r>
            <a:r>
              <a:rPr dirty="0"/>
              <a:t> </a:t>
            </a:r>
            <a:r>
              <a:rPr dirty="0" err="1"/>
              <a:t>성과는</a:t>
            </a:r>
            <a:r>
              <a:rPr dirty="0"/>
              <a:t>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코드의</a:t>
            </a:r>
            <a:r>
              <a:rPr dirty="0"/>
              <a:t> </a:t>
            </a:r>
            <a:r>
              <a:rPr dirty="0" err="1"/>
              <a:t>분리입니다</a:t>
            </a:r>
            <a:r>
              <a:rPr dirty="0"/>
              <a:t>. SLM </a:t>
            </a:r>
            <a:r>
              <a:rPr dirty="0" err="1"/>
              <a:t>프로젝트에서</a:t>
            </a:r>
            <a:r>
              <a:rPr dirty="0"/>
              <a:t> </a:t>
            </a:r>
            <a:r>
              <a:rPr dirty="0" err="1"/>
              <a:t>사용한</a:t>
            </a:r>
            <a:r>
              <a:rPr dirty="0"/>
              <a:t> Training </a:t>
            </a:r>
            <a:r>
              <a:rPr dirty="0" err="1"/>
              <a:t>Loop를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모델에서도</a:t>
            </a:r>
            <a:r>
              <a:rPr dirty="0"/>
              <a:t> </a:t>
            </a:r>
            <a:r>
              <a:rPr dirty="0" err="1"/>
              <a:t>재사용할</a:t>
            </a:r>
            <a:r>
              <a:rPr dirty="0"/>
              <a:t> 수 </a:t>
            </a:r>
            <a:r>
              <a:rPr dirty="0" err="1"/>
              <a:t>있도록</a:t>
            </a:r>
            <a:r>
              <a:rPr dirty="0"/>
              <a:t>, </a:t>
            </a:r>
            <a:r>
              <a:rPr dirty="0" err="1"/>
              <a:t>Tokenizer와</a:t>
            </a:r>
            <a:r>
              <a:rPr dirty="0"/>
              <a:t> Masking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언어모델</a:t>
            </a:r>
            <a:r>
              <a:rPr dirty="0"/>
              <a:t> </a:t>
            </a:r>
            <a:r>
              <a:rPr dirty="0" err="1"/>
              <a:t>전용</a:t>
            </a:r>
            <a:r>
              <a:rPr dirty="0"/>
              <a:t> </a:t>
            </a:r>
            <a:r>
              <a:rPr dirty="0" err="1"/>
              <a:t>의존성을</a:t>
            </a:r>
            <a:r>
              <a:rPr dirty="0"/>
              <a:t> </a:t>
            </a:r>
            <a:r>
              <a:rPr dirty="0" err="1"/>
              <a:t>제거하는</a:t>
            </a:r>
            <a:r>
              <a:rPr dirty="0"/>
              <a:t> </a:t>
            </a:r>
            <a:r>
              <a:rPr dirty="0" err="1"/>
              <a:t>방향으로</a:t>
            </a:r>
            <a:r>
              <a:rPr dirty="0"/>
              <a:t> deep-learning-</a:t>
            </a:r>
            <a:r>
              <a:rPr dirty="0" err="1"/>
              <a:t>core를</a:t>
            </a:r>
            <a:r>
              <a:rPr dirty="0"/>
              <a:t> </a:t>
            </a:r>
            <a:r>
              <a:rPr dirty="0" err="1"/>
              <a:t>발전시켰습니다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Fully Connected DNN </a:t>
            </a:r>
            <a:r>
              <a:rPr dirty="0" err="1"/>
              <a:t>프로젝트에서는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딥러닝</a:t>
            </a:r>
            <a:r>
              <a:rPr dirty="0"/>
              <a:t> </a:t>
            </a:r>
            <a:r>
              <a:rPr dirty="0" err="1"/>
              <a:t>프레임워크가</a:t>
            </a:r>
            <a:r>
              <a:rPr dirty="0"/>
              <a:t> </a:t>
            </a:r>
            <a:r>
              <a:rPr dirty="0" err="1"/>
              <a:t>제공하는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구현체에</a:t>
            </a:r>
            <a:r>
              <a:rPr dirty="0"/>
              <a:t> </a:t>
            </a:r>
            <a:r>
              <a:rPr dirty="0" err="1"/>
              <a:t>의존하지</a:t>
            </a:r>
            <a:r>
              <a:rPr dirty="0"/>
              <a:t> </a:t>
            </a:r>
            <a:r>
              <a:rPr dirty="0" err="1"/>
              <a:t>않고</a:t>
            </a:r>
            <a:r>
              <a:rPr dirty="0"/>
              <a:t>, </a:t>
            </a:r>
            <a:r>
              <a:rPr dirty="0" err="1"/>
              <a:t>신경망의</a:t>
            </a:r>
            <a:r>
              <a:rPr dirty="0"/>
              <a:t>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요소를</a:t>
            </a:r>
            <a:r>
              <a:rPr dirty="0"/>
              <a:t> </a:t>
            </a:r>
            <a:r>
              <a:rPr dirty="0" err="1"/>
              <a:t>Python으로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구현했습니다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구조</a:t>
            </a:r>
            <a:r>
              <a:rPr dirty="0"/>
              <a:t> </a:t>
            </a:r>
            <a:r>
              <a:rPr dirty="0" err="1"/>
              <a:t>측면에서는</a:t>
            </a:r>
            <a:r>
              <a:rPr dirty="0"/>
              <a:t> Neuron, Layer, Fully Connected </a:t>
            </a:r>
            <a:r>
              <a:rPr dirty="0" err="1"/>
              <a:t>Network를</a:t>
            </a:r>
            <a:r>
              <a:rPr dirty="0"/>
              <a:t> </a:t>
            </a:r>
            <a:r>
              <a:rPr dirty="0" err="1"/>
              <a:t>정의하고</a:t>
            </a:r>
            <a:r>
              <a:rPr dirty="0"/>
              <a:t>, </a:t>
            </a:r>
            <a:r>
              <a:rPr dirty="0" err="1"/>
              <a:t>뉴런</a:t>
            </a:r>
            <a:r>
              <a:rPr dirty="0"/>
              <a:t> </a:t>
            </a:r>
            <a:r>
              <a:rPr dirty="0" err="1"/>
              <a:t>사이의</a:t>
            </a:r>
            <a:r>
              <a:rPr dirty="0"/>
              <a:t> </a:t>
            </a:r>
            <a:r>
              <a:rPr dirty="0" err="1"/>
              <a:t>연결과</a:t>
            </a:r>
            <a:r>
              <a:rPr dirty="0"/>
              <a:t> </a:t>
            </a:r>
            <a:r>
              <a:rPr dirty="0" err="1"/>
              <a:t>Weight·Bias의</a:t>
            </a:r>
            <a:r>
              <a:rPr dirty="0"/>
              <a:t> </a:t>
            </a:r>
            <a:r>
              <a:rPr dirty="0" err="1"/>
              <a:t>역할을</a:t>
            </a:r>
            <a:r>
              <a:rPr dirty="0"/>
              <a:t> </a:t>
            </a:r>
            <a:r>
              <a:rPr dirty="0" err="1"/>
              <a:t>코드로</a:t>
            </a:r>
            <a:r>
              <a:rPr dirty="0"/>
              <a:t> </a:t>
            </a:r>
            <a:r>
              <a:rPr dirty="0" err="1"/>
              <a:t>표현했습니다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Forward </a:t>
            </a:r>
            <a:r>
              <a:rPr dirty="0" err="1"/>
              <a:t>Propagation에서는</a:t>
            </a:r>
            <a:r>
              <a:rPr dirty="0"/>
              <a:t> </a:t>
            </a:r>
            <a:r>
              <a:rPr dirty="0" err="1"/>
              <a:t>입력의</a:t>
            </a:r>
            <a:r>
              <a:rPr dirty="0"/>
              <a:t> </a:t>
            </a:r>
            <a:r>
              <a:rPr dirty="0" err="1"/>
              <a:t>가중합과</a:t>
            </a:r>
            <a:r>
              <a:rPr dirty="0"/>
              <a:t> Activation </a:t>
            </a:r>
            <a:r>
              <a:rPr dirty="0" err="1"/>
              <a:t>Function을</a:t>
            </a:r>
            <a:r>
              <a:rPr dirty="0"/>
              <a:t> </a:t>
            </a:r>
            <a:r>
              <a:rPr dirty="0" err="1"/>
              <a:t>통해</a:t>
            </a:r>
            <a:r>
              <a:rPr dirty="0"/>
              <a:t> </a:t>
            </a:r>
            <a:r>
              <a:rPr dirty="0" err="1"/>
              <a:t>출력이</a:t>
            </a:r>
            <a:r>
              <a:rPr dirty="0"/>
              <a:t> </a:t>
            </a:r>
            <a:r>
              <a:rPr dirty="0" err="1"/>
              <a:t>계산되는</a:t>
            </a:r>
            <a:r>
              <a:rPr dirty="0"/>
              <a:t> </a:t>
            </a:r>
            <a:r>
              <a:rPr dirty="0" err="1"/>
              <a:t>과정을</a:t>
            </a:r>
            <a:r>
              <a:rPr dirty="0"/>
              <a:t> </a:t>
            </a:r>
            <a:r>
              <a:rPr dirty="0" err="1"/>
              <a:t>구현했습니다</a:t>
            </a:r>
            <a:r>
              <a:rPr dirty="0"/>
              <a:t>. Backward </a:t>
            </a:r>
            <a:r>
              <a:rPr dirty="0" err="1"/>
              <a:t>Propagation에서는</a:t>
            </a:r>
            <a:r>
              <a:rPr dirty="0"/>
              <a:t> </a:t>
            </a:r>
            <a:r>
              <a:rPr dirty="0" err="1"/>
              <a:t>손실함수의</a:t>
            </a:r>
            <a:r>
              <a:rPr dirty="0"/>
              <a:t> </a:t>
            </a:r>
            <a:r>
              <a:rPr dirty="0" err="1"/>
              <a:t>미분과</a:t>
            </a:r>
            <a:r>
              <a:rPr dirty="0"/>
              <a:t> Chain </a:t>
            </a:r>
            <a:r>
              <a:rPr dirty="0" err="1"/>
              <a:t>Rule을</a:t>
            </a:r>
            <a:r>
              <a:rPr dirty="0"/>
              <a:t> </a:t>
            </a:r>
            <a:r>
              <a:rPr dirty="0" err="1"/>
              <a:t>이용해</a:t>
            </a:r>
            <a:r>
              <a:rPr dirty="0"/>
              <a:t> 각 Weight 및 </a:t>
            </a:r>
            <a:r>
              <a:rPr dirty="0" err="1"/>
              <a:t>Bias에</a:t>
            </a:r>
            <a:r>
              <a:rPr dirty="0"/>
              <a:t> </a:t>
            </a:r>
            <a:r>
              <a:rPr dirty="0" err="1"/>
              <a:t>대한</a:t>
            </a:r>
            <a:r>
              <a:rPr dirty="0"/>
              <a:t> </a:t>
            </a:r>
            <a:r>
              <a:rPr dirty="0" err="1"/>
              <a:t>Gradient를</a:t>
            </a:r>
            <a:r>
              <a:rPr dirty="0"/>
              <a:t> </a:t>
            </a:r>
            <a:r>
              <a:rPr dirty="0" err="1"/>
              <a:t>계산하고</a:t>
            </a:r>
            <a:r>
              <a:rPr dirty="0"/>
              <a:t> </a:t>
            </a:r>
            <a:r>
              <a:rPr dirty="0" err="1"/>
              <a:t>파라미터</a:t>
            </a:r>
            <a:r>
              <a:rPr dirty="0"/>
              <a:t> </a:t>
            </a:r>
            <a:r>
              <a:rPr dirty="0" err="1"/>
              <a:t>갱신에</a:t>
            </a:r>
            <a:r>
              <a:rPr dirty="0"/>
              <a:t> </a:t>
            </a:r>
            <a:r>
              <a:rPr dirty="0" err="1"/>
              <a:t>연결했습니다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검증에서는</a:t>
            </a:r>
            <a:r>
              <a:rPr dirty="0"/>
              <a:t> </a:t>
            </a:r>
            <a:r>
              <a:rPr dirty="0" err="1"/>
              <a:t>수식으로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계산한</a:t>
            </a:r>
            <a:r>
              <a:rPr dirty="0"/>
              <a:t> </a:t>
            </a:r>
            <a:r>
              <a:rPr dirty="0" err="1"/>
              <a:t>기댓값과</a:t>
            </a:r>
            <a:r>
              <a:rPr dirty="0"/>
              <a:t> </a:t>
            </a:r>
            <a:r>
              <a:rPr dirty="0" err="1"/>
              <a:t>코드가</a:t>
            </a:r>
            <a:r>
              <a:rPr dirty="0"/>
              <a:t> </a:t>
            </a:r>
            <a:r>
              <a:rPr dirty="0" err="1"/>
              <a:t>반환하는</a:t>
            </a:r>
            <a:r>
              <a:rPr dirty="0"/>
              <a:t> Neuron </a:t>
            </a:r>
            <a:r>
              <a:rPr dirty="0" err="1"/>
              <a:t>출력</a:t>
            </a:r>
            <a:r>
              <a:rPr dirty="0"/>
              <a:t>, Forward </a:t>
            </a:r>
            <a:r>
              <a:rPr dirty="0" err="1"/>
              <a:t>결과</a:t>
            </a:r>
            <a:r>
              <a:rPr dirty="0"/>
              <a:t>, Gradient </a:t>
            </a:r>
            <a:r>
              <a:rPr dirty="0" err="1"/>
              <a:t>값을</a:t>
            </a:r>
            <a:r>
              <a:rPr dirty="0"/>
              <a:t> </a:t>
            </a:r>
            <a:r>
              <a:rPr dirty="0" err="1"/>
              <a:t>비교했습니다</a:t>
            </a:r>
            <a:r>
              <a:rPr dirty="0"/>
              <a:t>. </a:t>
            </a:r>
            <a:r>
              <a:rPr dirty="0" err="1"/>
              <a:t>이를</a:t>
            </a:r>
            <a:r>
              <a:rPr dirty="0"/>
              <a:t> </a:t>
            </a:r>
            <a:r>
              <a:rPr dirty="0" err="1"/>
              <a:t>통해</a:t>
            </a:r>
            <a:r>
              <a:rPr dirty="0"/>
              <a:t> </a:t>
            </a:r>
            <a:r>
              <a:rPr dirty="0" err="1"/>
              <a:t>실행이</a:t>
            </a:r>
            <a:r>
              <a:rPr dirty="0"/>
              <a:t> </a:t>
            </a:r>
            <a:r>
              <a:rPr dirty="0" err="1"/>
              <a:t>된다는</a:t>
            </a:r>
            <a:r>
              <a:rPr dirty="0"/>
              <a:t> </a:t>
            </a:r>
            <a:r>
              <a:rPr dirty="0" err="1"/>
              <a:t>사실만</a:t>
            </a:r>
            <a:r>
              <a:rPr dirty="0"/>
              <a:t> </a:t>
            </a:r>
            <a:r>
              <a:rPr dirty="0" err="1"/>
              <a:t>확인하는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</a:t>
            </a:r>
            <a:r>
              <a:rPr dirty="0" err="1"/>
              <a:t>연산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수학적</a:t>
            </a:r>
            <a:r>
              <a:rPr dirty="0"/>
              <a:t> </a:t>
            </a:r>
            <a:r>
              <a:rPr dirty="0" err="1"/>
              <a:t>정의와</a:t>
            </a:r>
            <a:r>
              <a:rPr dirty="0"/>
              <a:t> </a:t>
            </a:r>
            <a:r>
              <a:rPr dirty="0" err="1"/>
              <a:t>일치하는지</a:t>
            </a:r>
            <a:r>
              <a:rPr dirty="0"/>
              <a:t> </a:t>
            </a:r>
            <a:r>
              <a:rPr dirty="0" err="1"/>
              <a:t>검증하고자</a:t>
            </a:r>
            <a:r>
              <a:rPr dirty="0"/>
              <a:t> </a:t>
            </a:r>
            <a:r>
              <a:rPr dirty="0" err="1"/>
              <a:t>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경험은</a:t>
            </a:r>
            <a:r>
              <a:rPr dirty="0"/>
              <a:t> </a:t>
            </a:r>
            <a:r>
              <a:rPr dirty="0" err="1"/>
              <a:t>PyTorch에서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미분을</a:t>
            </a:r>
            <a:r>
              <a:rPr dirty="0"/>
              <a:t> </a:t>
            </a:r>
            <a:r>
              <a:rPr dirty="0" err="1"/>
              <a:t>사용할</a:t>
            </a:r>
            <a:r>
              <a:rPr dirty="0"/>
              <a:t> </a:t>
            </a:r>
            <a:r>
              <a:rPr dirty="0" err="1"/>
              <a:t>때도</a:t>
            </a:r>
            <a:r>
              <a:rPr dirty="0"/>
              <a:t> </a:t>
            </a:r>
            <a:r>
              <a:rPr dirty="0" err="1"/>
              <a:t>중요합니다</a:t>
            </a:r>
            <a:r>
              <a:rPr dirty="0"/>
              <a:t>. </a:t>
            </a:r>
            <a:r>
              <a:rPr dirty="0" err="1"/>
              <a:t>Loss가</a:t>
            </a:r>
            <a:r>
              <a:rPr dirty="0"/>
              <a:t> </a:t>
            </a:r>
            <a:r>
              <a:rPr dirty="0" err="1"/>
              <a:t>감소하더라도</a:t>
            </a:r>
            <a:r>
              <a:rPr dirty="0"/>
              <a:t> Gradient </a:t>
            </a:r>
            <a:r>
              <a:rPr dirty="0" err="1"/>
              <a:t>흐름이나</a:t>
            </a:r>
            <a:r>
              <a:rPr dirty="0"/>
              <a:t> </a:t>
            </a:r>
            <a:r>
              <a:rPr dirty="0" err="1"/>
              <a:t>활성화</a:t>
            </a:r>
            <a:r>
              <a:rPr dirty="0"/>
              <a:t> </a:t>
            </a:r>
            <a:r>
              <a:rPr dirty="0" err="1"/>
              <a:t>상태가</a:t>
            </a:r>
            <a:r>
              <a:rPr dirty="0"/>
              <a:t> </a:t>
            </a:r>
            <a:r>
              <a:rPr dirty="0" err="1"/>
              <a:t>의도와</a:t>
            </a:r>
            <a:r>
              <a:rPr dirty="0"/>
              <a:t> </a:t>
            </a:r>
            <a:r>
              <a:rPr dirty="0" err="1"/>
              <a:t>다를</a:t>
            </a:r>
            <a:r>
              <a:rPr dirty="0"/>
              <a:t> 수 </a:t>
            </a:r>
            <a:r>
              <a:rPr dirty="0" err="1"/>
              <a:t>있다는</a:t>
            </a:r>
            <a:r>
              <a:rPr dirty="0"/>
              <a:t> </a:t>
            </a:r>
            <a:r>
              <a:rPr dirty="0" err="1"/>
              <a:t>점을</a:t>
            </a:r>
            <a:r>
              <a:rPr dirty="0"/>
              <a:t> </a:t>
            </a:r>
            <a:r>
              <a:rPr dirty="0" err="1"/>
              <a:t>이해하게</a:t>
            </a:r>
            <a:r>
              <a:rPr dirty="0"/>
              <a:t> </a:t>
            </a:r>
            <a:r>
              <a:rPr dirty="0" err="1"/>
              <a:t>되었고</a:t>
            </a:r>
            <a:r>
              <a:rPr dirty="0"/>
              <a:t>, </a:t>
            </a:r>
            <a:r>
              <a:rPr dirty="0" err="1"/>
              <a:t>이후</a:t>
            </a:r>
            <a:r>
              <a:rPr dirty="0"/>
              <a:t> deep-learning-</a:t>
            </a:r>
            <a:r>
              <a:rPr dirty="0" err="1"/>
              <a:t>core에서</a:t>
            </a:r>
            <a:r>
              <a:rPr dirty="0"/>
              <a:t> </a:t>
            </a:r>
            <a:r>
              <a:rPr dirty="0" err="1"/>
              <a:t>Weight·Activation·Gradient</a:t>
            </a:r>
            <a:r>
              <a:rPr dirty="0"/>
              <a:t> </a:t>
            </a:r>
            <a:r>
              <a:rPr dirty="0" err="1"/>
              <a:t>진단에</a:t>
            </a:r>
            <a:r>
              <a:rPr dirty="0"/>
              <a:t> </a:t>
            </a:r>
            <a:r>
              <a:rPr dirty="0" err="1"/>
              <a:t>관심을</a:t>
            </a:r>
            <a:r>
              <a:rPr dirty="0"/>
              <a:t> </a:t>
            </a:r>
            <a:r>
              <a:rPr dirty="0" err="1"/>
              <a:t>확장하는</a:t>
            </a:r>
            <a:r>
              <a:rPr dirty="0"/>
              <a:t> </a:t>
            </a:r>
            <a:r>
              <a:rPr dirty="0" err="1"/>
              <a:t>기반이</a:t>
            </a:r>
            <a:r>
              <a:rPr dirty="0"/>
              <a:t> </a:t>
            </a:r>
            <a:r>
              <a:rPr dirty="0" err="1"/>
              <a:t>되었습니다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이 </a:t>
            </a:r>
            <a:r>
              <a:rPr dirty="0" err="1"/>
              <a:t>프로젝트는</a:t>
            </a:r>
            <a:r>
              <a:rPr dirty="0"/>
              <a:t> Java 21과 Spring Boot 3.3.1을 </a:t>
            </a:r>
            <a:r>
              <a:rPr dirty="0" err="1"/>
              <a:t>기반으로</a:t>
            </a:r>
            <a:r>
              <a:rPr dirty="0"/>
              <a:t> </a:t>
            </a:r>
            <a:r>
              <a:rPr dirty="0" err="1"/>
              <a:t>재사용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애플리케이션</a:t>
            </a:r>
            <a:r>
              <a:rPr dirty="0"/>
              <a:t> </a:t>
            </a:r>
            <a:r>
              <a:rPr dirty="0" err="1"/>
              <a:t>아키텍처를</a:t>
            </a:r>
            <a:r>
              <a:rPr dirty="0"/>
              <a:t> </a:t>
            </a:r>
            <a:r>
              <a:rPr dirty="0" err="1"/>
              <a:t>구성한</a:t>
            </a:r>
            <a:r>
              <a:rPr dirty="0"/>
              <a:t> </a:t>
            </a:r>
            <a:r>
              <a:rPr dirty="0" err="1"/>
              <a:t>사례입니다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서비스</a:t>
            </a:r>
            <a:r>
              <a:rPr dirty="0"/>
              <a:t> </a:t>
            </a:r>
            <a:r>
              <a:rPr dirty="0" err="1"/>
              <a:t>계층에서는</a:t>
            </a:r>
            <a:r>
              <a:rPr dirty="0"/>
              <a:t> </a:t>
            </a:r>
            <a:r>
              <a:rPr dirty="0" err="1"/>
              <a:t>Controller와</a:t>
            </a:r>
            <a:r>
              <a:rPr dirty="0"/>
              <a:t> </a:t>
            </a:r>
            <a:r>
              <a:rPr dirty="0" err="1"/>
              <a:t>Service의</a:t>
            </a:r>
            <a:r>
              <a:rPr dirty="0"/>
              <a:t> </a:t>
            </a:r>
            <a:r>
              <a:rPr dirty="0" err="1"/>
              <a:t>역할을</a:t>
            </a:r>
            <a:r>
              <a:rPr dirty="0"/>
              <a:t> </a:t>
            </a:r>
            <a:r>
              <a:rPr dirty="0" err="1"/>
              <a:t>구분하고</a:t>
            </a:r>
            <a:r>
              <a:rPr dirty="0"/>
              <a:t>, </a:t>
            </a:r>
            <a:r>
              <a:rPr dirty="0" err="1"/>
              <a:t>Config와</a:t>
            </a:r>
            <a:r>
              <a:rPr dirty="0"/>
              <a:t> AOP 등 </a:t>
            </a:r>
            <a:r>
              <a:rPr dirty="0" err="1"/>
              <a:t>횡단</a:t>
            </a:r>
            <a:r>
              <a:rPr dirty="0"/>
              <a:t> </a:t>
            </a:r>
            <a:r>
              <a:rPr dirty="0" err="1"/>
              <a:t>관심사를</a:t>
            </a:r>
            <a:r>
              <a:rPr dirty="0"/>
              <a:t> </a:t>
            </a:r>
            <a:r>
              <a:rPr dirty="0" err="1"/>
              <a:t>별도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요소로</a:t>
            </a:r>
            <a:r>
              <a:rPr dirty="0"/>
              <a:t> </a:t>
            </a:r>
            <a:r>
              <a:rPr dirty="0" err="1"/>
              <a:t>분리했습니다</a:t>
            </a:r>
            <a:r>
              <a:rPr dirty="0"/>
              <a:t>. </a:t>
            </a:r>
            <a:r>
              <a:rPr dirty="0" err="1"/>
              <a:t>이를</a:t>
            </a:r>
            <a:r>
              <a:rPr dirty="0"/>
              <a:t> </a:t>
            </a:r>
            <a:r>
              <a:rPr dirty="0" err="1"/>
              <a:t>통해</a:t>
            </a:r>
            <a:r>
              <a:rPr dirty="0"/>
              <a:t> </a:t>
            </a:r>
            <a:r>
              <a:rPr dirty="0" err="1"/>
              <a:t>요청</a:t>
            </a:r>
            <a:r>
              <a:rPr dirty="0"/>
              <a:t> </a:t>
            </a:r>
            <a:r>
              <a:rPr dirty="0" err="1"/>
              <a:t>처리</a:t>
            </a:r>
            <a:r>
              <a:rPr dirty="0"/>
              <a:t> </a:t>
            </a:r>
            <a:r>
              <a:rPr dirty="0" err="1"/>
              <a:t>흐름과</a:t>
            </a:r>
            <a:r>
              <a:rPr dirty="0"/>
              <a:t>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정책을</a:t>
            </a:r>
            <a:r>
              <a:rPr dirty="0"/>
              <a:t> </a:t>
            </a:r>
            <a:r>
              <a:rPr dirty="0" err="1"/>
              <a:t>독립적으로</a:t>
            </a:r>
            <a:r>
              <a:rPr dirty="0"/>
              <a:t> </a:t>
            </a:r>
            <a:r>
              <a:rPr dirty="0" err="1"/>
              <a:t>관리하도록</a:t>
            </a:r>
            <a:r>
              <a:rPr dirty="0"/>
              <a:t> </a:t>
            </a:r>
            <a:r>
              <a:rPr dirty="0" err="1"/>
              <a:t>설계했습니다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보안</a:t>
            </a:r>
            <a:r>
              <a:rPr dirty="0"/>
              <a:t> </a:t>
            </a:r>
            <a:r>
              <a:rPr dirty="0" err="1"/>
              <a:t>영역에서는</a:t>
            </a:r>
            <a:r>
              <a:rPr dirty="0"/>
              <a:t> Spring </a:t>
            </a:r>
            <a:r>
              <a:rPr dirty="0" err="1"/>
              <a:t>Security의</a:t>
            </a:r>
            <a:r>
              <a:rPr dirty="0"/>
              <a:t> </a:t>
            </a:r>
            <a:r>
              <a:rPr dirty="0" err="1"/>
              <a:t>SecurityFilterChain</a:t>
            </a:r>
            <a:r>
              <a:rPr dirty="0"/>
              <a:t>, Stateless </a:t>
            </a:r>
            <a:r>
              <a:rPr dirty="0" err="1"/>
              <a:t>정책</a:t>
            </a:r>
            <a:r>
              <a:rPr dirty="0"/>
              <a:t>, </a:t>
            </a:r>
            <a:r>
              <a:rPr dirty="0" err="1"/>
              <a:t>BCrypt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인증</a:t>
            </a:r>
            <a:r>
              <a:rPr dirty="0"/>
              <a:t> </a:t>
            </a:r>
            <a:r>
              <a:rPr dirty="0" err="1"/>
              <a:t>요소를</a:t>
            </a:r>
            <a:r>
              <a:rPr dirty="0"/>
              <a:t> </a:t>
            </a:r>
            <a:r>
              <a:rPr dirty="0" err="1"/>
              <a:t>다뤘습니다</a:t>
            </a:r>
            <a:r>
              <a:rPr dirty="0"/>
              <a:t>. </a:t>
            </a:r>
            <a:r>
              <a:rPr dirty="0" err="1"/>
              <a:t>인증·인가</a:t>
            </a:r>
            <a:r>
              <a:rPr dirty="0"/>
              <a:t> </a:t>
            </a:r>
            <a:r>
              <a:rPr dirty="0" err="1"/>
              <a:t>설정을</a:t>
            </a:r>
            <a:r>
              <a:rPr dirty="0"/>
              <a:t> </a:t>
            </a:r>
            <a:r>
              <a:rPr dirty="0" err="1"/>
              <a:t>비즈니스</a:t>
            </a:r>
            <a:r>
              <a:rPr dirty="0"/>
              <a:t> </a:t>
            </a:r>
            <a:r>
              <a:rPr dirty="0" err="1"/>
              <a:t>로직과</a:t>
            </a:r>
            <a:r>
              <a:rPr dirty="0"/>
              <a:t> </a:t>
            </a:r>
            <a:r>
              <a:rPr dirty="0" err="1"/>
              <a:t>분리하는</a:t>
            </a:r>
            <a:r>
              <a:rPr dirty="0"/>
              <a:t> </a:t>
            </a:r>
            <a:r>
              <a:rPr dirty="0" err="1"/>
              <a:t>것은</a:t>
            </a:r>
            <a:r>
              <a:rPr dirty="0"/>
              <a:t> </a:t>
            </a:r>
            <a:r>
              <a:rPr dirty="0" err="1"/>
              <a:t>서비스</a:t>
            </a:r>
            <a:r>
              <a:rPr dirty="0"/>
              <a:t> </a:t>
            </a:r>
            <a:r>
              <a:rPr dirty="0" err="1"/>
              <a:t>기능이</a:t>
            </a:r>
            <a:r>
              <a:rPr dirty="0"/>
              <a:t> </a:t>
            </a:r>
            <a:r>
              <a:rPr dirty="0" err="1"/>
              <a:t>늘어날</a:t>
            </a:r>
            <a:r>
              <a:rPr dirty="0"/>
              <a:t> 때 </a:t>
            </a:r>
            <a:r>
              <a:rPr dirty="0" err="1"/>
              <a:t>보안</a:t>
            </a:r>
            <a:r>
              <a:rPr dirty="0"/>
              <a:t> </a:t>
            </a:r>
            <a:r>
              <a:rPr dirty="0" err="1"/>
              <a:t>정책을</a:t>
            </a:r>
            <a:r>
              <a:rPr dirty="0"/>
              <a:t> </a:t>
            </a:r>
            <a:r>
              <a:rPr dirty="0" err="1"/>
              <a:t>일관되게</a:t>
            </a:r>
            <a:r>
              <a:rPr dirty="0"/>
              <a:t> </a:t>
            </a:r>
            <a:r>
              <a:rPr dirty="0" err="1"/>
              <a:t>적용하는</a:t>
            </a:r>
            <a:r>
              <a:rPr dirty="0"/>
              <a:t> 데 </a:t>
            </a:r>
            <a:r>
              <a:rPr dirty="0" err="1"/>
              <a:t>중요합니다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연동에는</a:t>
            </a:r>
            <a:r>
              <a:rPr dirty="0"/>
              <a:t> </a:t>
            </a:r>
            <a:r>
              <a:rPr dirty="0" err="1"/>
              <a:t>RestTemplate과</a:t>
            </a:r>
            <a:r>
              <a:rPr dirty="0"/>
              <a:t> </a:t>
            </a:r>
            <a:r>
              <a:rPr dirty="0" err="1"/>
              <a:t>WebClient를</a:t>
            </a:r>
            <a:r>
              <a:rPr dirty="0"/>
              <a:t> </a:t>
            </a:r>
            <a:r>
              <a:rPr dirty="0" err="1"/>
              <a:t>활용하고</a:t>
            </a:r>
            <a:r>
              <a:rPr dirty="0"/>
              <a:t>, Connection </a:t>
            </a:r>
            <a:r>
              <a:rPr dirty="0" err="1"/>
              <a:t>Pool과</a:t>
            </a:r>
            <a:r>
              <a:rPr dirty="0"/>
              <a:t> Timeout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통신</a:t>
            </a:r>
            <a:r>
              <a:rPr dirty="0"/>
              <a:t> </a:t>
            </a:r>
            <a:r>
              <a:rPr dirty="0" err="1"/>
              <a:t>설정을</a:t>
            </a:r>
            <a:r>
              <a:rPr dirty="0"/>
              <a:t> </a:t>
            </a:r>
            <a:r>
              <a:rPr dirty="0" err="1"/>
              <a:t>고려했습니다</a:t>
            </a:r>
            <a:r>
              <a:rPr dirty="0"/>
              <a:t>.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관심사로는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검증, </a:t>
            </a:r>
            <a:r>
              <a:rPr dirty="0" err="1"/>
              <a:t>예외</a:t>
            </a:r>
            <a:r>
              <a:rPr dirty="0"/>
              <a:t> </a:t>
            </a:r>
            <a:r>
              <a:rPr dirty="0" err="1"/>
              <a:t>처리</a:t>
            </a:r>
            <a:r>
              <a:rPr dirty="0"/>
              <a:t>, </a:t>
            </a:r>
            <a:r>
              <a:rPr dirty="0" err="1"/>
              <a:t>로깅</a:t>
            </a:r>
            <a:r>
              <a:rPr dirty="0"/>
              <a:t>, API </a:t>
            </a:r>
            <a:r>
              <a:rPr dirty="0" err="1"/>
              <a:t>테스트를</a:t>
            </a:r>
            <a:r>
              <a:rPr dirty="0"/>
              <a:t> </a:t>
            </a:r>
            <a:r>
              <a:rPr dirty="0" err="1"/>
              <a:t>정리했습니다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AI </a:t>
            </a:r>
            <a:r>
              <a:rPr dirty="0" err="1"/>
              <a:t>추론</a:t>
            </a:r>
            <a:r>
              <a:rPr dirty="0"/>
              <a:t> </a:t>
            </a:r>
            <a:r>
              <a:rPr dirty="0" err="1"/>
              <a:t>서비스를</a:t>
            </a:r>
            <a:r>
              <a:rPr dirty="0"/>
              <a:t> </a:t>
            </a:r>
            <a:r>
              <a:rPr dirty="0" err="1"/>
              <a:t>완성했다는</a:t>
            </a:r>
            <a:r>
              <a:rPr dirty="0"/>
              <a:t> </a:t>
            </a:r>
            <a:r>
              <a:rPr dirty="0" err="1"/>
              <a:t>의미는</a:t>
            </a:r>
            <a:r>
              <a:rPr dirty="0"/>
              <a:t> </a:t>
            </a:r>
            <a:r>
              <a:rPr dirty="0" err="1"/>
              <a:t>아닙니다</a:t>
            </a:r>
            <a:r>
              <a:rPr dirty="0"/>
              <a:t>. </a:t>
            </a:r>
            <a:r>
              <a:rPr dirty="0" err="1"/>
              <a:t>다만</a:t>
            </a:r>
            <a:r>
              <a:rPr dirty="0"/>
              <a:t> </a:t>
            </a:r>
            <a:r>
              <a:rPr dirty="0" err="1"/>
              <a:t>향후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추론</a:t>
            </a:r>
            <a:r>
              <a:rPr dirty="0"/>
              <a:t> </a:t>
            </a:r>
            <a:r>
              <a:rPr dirty="0" err="1"/>
              <a:t>API를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애플리케이션에</a:t>
            </a:r>
            <a:r>
              <a:rPr dirty="0"/>
              <a:t> </a:t>
            </a:r>
            <a:r>
              <a:rPr dirty="0" err="1"/>
              <a:t>통합할</a:t>
            </a:r>
            <a:r>
              <a:rPr dirty="0"/>
              <a:t> 때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서비스</a:t>
            </a:r>
            <a:r>
              <a:rPr dirty="0"/>
              <a:t> </a:t>
            </a:r>
            <a:r>
              <a:rPr dirty="0" err="1"/>
              <a:t>계층</a:t>
            </a:r>
            <a:r>
              <a:rPr dirty="0"/>
              <a:t>, </a:t>
            </a:r>
            <a:r>
              <a:rPr dirty="0" err="1"/>
              <a:t>인증</a:t>
            </a:r>
            <a:r>
              <a:rPr dirty="0"/>
              <a:t>,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연동</a:t>
            </a:r>
            <a:r>
              <a:rPr dirty="0"/>
              <a:t>, </a:t>
            </a:r>
            <a:r>
              <a:rPr dirty="0" err="1"/>
              <a:t>예외</a:t>
            </a:r>
            <a:r>
              <a:rPr dirty="0"/>
              <a:t> </a:t>
            </a:r>
            <a:r>
              <a:rPr dirty="0" err="1"/>
              <a:t>처리의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구조를</a:t>
            </a:r>
            <a:r>
              <a:rPr dirty="0"/>
              <a:t> </a:t>
            </a:r>
            <a:r>
              <a:rPr dirty="0" err="1"/>
              <a:t>제공한다는</a:t>
            </a:r>
            <a:r>
              <a:rPr dirty="0"/>
              <a:t> </a:t>
            </a:r>
            <a:r>
              <a:rPr dirty="0" err="1"/>
              <a:t>점에서</a:t>
            </a:r>
            <a:r>
              <a:rPr dirty="0"/>
              <a:t> </a:t>
            </a:r>
            <a:r>
              <a:rPr dirty="0" err="1"/>
              <a:t>의미가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AI </a:t>
            </a:r>
            <a:r>
              <a:rPr dirty="0" err="1"/>
              <a:t>모델을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환경에서</a:t>
            </a:r>
            <a:r>
              <a:rPr dirty="0"/>
              <a:t> </a:t>
            </a:r>
            <a:r>
              <a:rPr dirty="0" err="1"/>
              <a:t>활용하려면</a:t>
            </a:r>
            <a:r>
              <a:rPr dirty="0"/>
              <a:t> </a:t>
            </a:r>
            <a:r>
              <a:rPr dirty="0" err="1"/>
              <a:t>알고리즘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외에도</a:t>
            </a:r>
            <a:r>
              <a:rPr dirty="0"/>
              <a:t> </a:t>
            </a:r>
            <a:r>
              <a:rPr dirty="0" err="1"/>
              <a:t>성능</a:t>
            </a:r>
            <a:r>
              <a:rPr dirty="0"/>
              <a:t>, </a:t>
            </a:r>
            <a:r>
              <a:rPr dirty="0" err="1"/>
              <a:t>플랫폼</a:t>
            </a:r>
            <a:r>
              <a:rPr dirty="0"/>
              <a:t>, </a:t>
            </a:r>
            <a:r>
              <a:rPr dirty="0" err="1"/>
              <a:t>운영</a:t>
            </a:r>
            <a:r>
              <a:rPr dirty="0"/>
              <a:t>, </a:t>
            </a:r>
            <a:r>
              <a:rPr dirty="0" err="1"/>
              <a:t>협업에</a:t>
            </a:r>
            <a:r>
              <a:rPr dirty="0"/>
              <a:t> </a:t>
            </a:r>
            <a:r>
              <a:rPr dirty="0" err="1"/>
              <a:t>대한</a:t>
            </a:r>
            <a:r>
              <a:rPr dirty="0"/>
              <a:t> </a:t>
            </a:r>
            <a:r>
              <a:rPr dirty="0" err="1"/>
              <a:t>경험이</a:t>
            </a:r>
            <a:r>
              <a:rPr dirty="0"/>
              <a:t> </a:t>
            </a:r>
            <a:r>
              <a:rPr dirty="0" err="1"/>
              <a:t>필요합니다</a:t>
            </a:r>
            <a:r>
              <a:rPr dirty="0"/>
              <a:t>. 이 </a:t>
            </a:r>
            <a:r>
              <a:rPr dirty="0" err="1"/>
              <a:t>슬라이드는</a:t>
            </a:r>
            <a:r>
              <a:rPr dirty="0"/>
              <a:t> </a:t>
            </a:r>
            <a:r>
              <a:rPr dirty="0" err="1"/>
              <a:t>이전</a:t>
            </a:r>
            <a:r>
              <a:rPr dirty="0"/>
              <a:t> </a:t>
            </a:r>
            <a:r>
              <a:rPr dirty="0" err="1"/>
              <a:t>소프트웨어</a:t>
            </a:r>
            <a:r>
              <a:rPr dirty="0"/>
              <a:t> </a:t>
            </a:r>
            <a:r>
              <a:rPr dirty="0" err="1"/>
              <a:t>프로젝트에서</a:t>
            </a:r>
            <a:r>
              <a:rPr dirty="0"/>
              <a:t> </a:t>
            </a:r>
            <a:r>
              <a:rPr dirty="0" err="1"/>
              <a:t>축적한</a:t>
            </a:r>
            <a:r>
              <a:rPr dirty="0"/>
              <a:t> </a:t>
            </a:r>
            <a:r>
              <a:rPr dirty="0" err="1"/>
              <a:t>역량을</a:t>
            </a:r>
            <a:r>
              <a:rPr dirty="0"/>
              <a:t> 세 </a:t>
            </a:r>
            <a:r>
              <a:rPr dirty="0" err="1"/>
              <a:t>가지로</a:t>
            </a:r>
            <a:r>
              <a:rPr dirty="0"/>
              <a:t> </a:t>
            </a:r>
            <a:r>
              <a:rPr dirty="0" err="1"/>
              <a:t>정리한</a:t>
            </a:r>
            <a:r>
              <a:rPr dirty="0"/>
              <a:t> </a:t>
            </a:r>
            <a:r>
              <a:rPr dirty="0" err="1"/>
              <a:t>것입니다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첫째는</a:t>
            </a:r>
            <a:r>
              <a:rPr dirty="0"/>
              <a:t> Performance </a:t>
            </a:r>
            <a:r>
              <a:rPr dirty="0" err="1"/>
              <a:t>Optimization입니다</a:t>
            </a:r>
            <a:r>
              <a:rPr dirty="0"/>
              <a:t>. Samsung SDS </a:t>
            </a:r>
            <a:r>
              <a:rPr dirty="0" err="1"/>
              <a:t>관련</a:t>
            </a:r>
            <a:r>
              <a:rPr dirty="0"/>
              <a:t> </a:t>
            </a:r>
            <a:r>
              <a:rPr dirty="0" err="1"/>
              <a:t>프로젝트에서는</a:t>
            </a:r>
            <a:r>
              <a:rPr dirty="0"/>
              <a:t> </a:t>
            </a:r>
            <a:r>
              <a:rPr dirty="0" err="1"/>
              <a:t>기업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개발과</a:t>
            </a:r>
            <a:r>
              <a:rPr dirty="0"/>
              <a:t> Batch Procedure </a:t>
            </a:r>
            <a:r>
              <a:rPr dirty="0" err="1"/>
              <a:t>개선을</a:t>
            </a:r>
            <a:r>
              <a:rPr dirty="0"/>
              <a:t> </a:t>
            </a:r>
            <a:r>
              <a:rPr dirty="0" err="1"/>
              <a:t>수행했고</a:t>
            </a:r>
            <a:r>
              <a:rPr dirty="0"/>
              <a:t>, KPI </a:t>
            </a:r>
            <a:r>
              <a:rPr dirty="0" err="1"/>
              <a:t>집계</a:t>
            </a:r>
            <a:r>
              <a:rPr dirty="0"/>
              <a:t> Batch </a:t>
            </a:r>
            <a:r>
              <a:rPr dirty="0" err="1"/>
              <a:t>처리</a:t>
            </a:r>
            <a:r>
              <a:rPr dirty="0"/>
              <a:t> </a:t>
            </a:r>
            <a:r>
              <a:rPr dirty="0" err="1"/>
              <a:t>시간을</a:t>
            </a:r>
            <a:r>
              <a:rPr dirty="0"/>
              <a:t> 약 24시간에서 2시간으로 </a:t>
            </a:r>
            <a:r>
              <a:rPr dirty="0" err="1"/>
              <a:t>단축한</a:t>
            </a:r>
            <a:r>
              <a:rPr dirty="0"/>
              <a:t> </a:t>
            </a:r>
            <a:r>
              <a:rPr dirty="0" err="1"/>
              <a:t>경험이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핵심은</a:t>
            </a:r>
            <a:r>
              <a:rPr dirty="0"/>
              <a:t> </a:t>
            </a:r>
            <a:r>
              <a:rPr dirty="0" err="1"/>
              <a:t>처리</a:t>
            </a:r>
            <a:r>
              <a:rPr dirty="0"/>
              <a:t> </a:t>
            </a:r>
            <a:r>
              <a:rPr dirty="0" err="1"/>
              <a:t>과정의</a:t>
            </a:r>
            <a:r>
              <a:rPr dirty="0"/>
              <a:t> </a:t>
            </a:r>
            <a:r>
              <a:rPr dirty="0" err="1"/>
              <a:t>병목을</a:t>
            </a:r>
            <a:r>
              <a:rPr dirty="0"/>
              <a:t> </a:t>
            </a:r>
            <a:r>
              <a:rPr dirty="0" err="1"/>
              <a:t>파악하고</a:t>
            </a:r>
            <a:r>
              <a:rPr dirty="0"/>
              <a:t> </a:t>
            </a:r>
            <a:r>
              <a:rPr dirty="0" err="1"/>
              <a:t>개선</a:t>
            </a:r>
            <a:r>
              <a:rPr dirty="0"/>
              <a:t> </a:t>
            </a:r>
            <a:r>
              <a:rPr dirty="0" err="1"/>
              <a:t>효과를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시간으로</a:t>
            </a:r>
            <a:r>
              <a:rPr dirty="0"/>
              <a:t> </a:t>
            </a:r>
            <a:r>
              <a:rPr dirty="0" err="1"/>
              <a:t>검증했다는</a:t>
            </a:r>
            <a:r>
              <a:rPr dirty="0"/>
              <a:t> </a:t>
            </a:r>
            <a:r>
              <a:rPr dirty="0" err="1"/>
              <a:t>점입니다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둘째는</a:t>
            </a:r>
            <a:r>
              <a:rPr dirty="0"/>
              <a:t> Platform </a:t>
            </a:r>
            <a:r>
              <a:rPr dirty="0" err="1"/>
              <a:t>Integration입니다</a:t>
            </a:r>
            <a:r>
              <a:rPr dirty="0"/>
              <a:t>. </a:t>
            </a:r>
            <a:r>
              <a:rPr dirty="0" err="1"/>
              <a:t>CubicWave에서는</a:t>
            </a:r>
            <a:r>
              <a:rPr dirty="0"/>
              <a:t> </a:t>
            </a:r>
            <a:r>
              <a:rPr dirty="0" err="1"/>
              <a:t>모바일</a:t>
            </a:r>
            <a:r>
              <a:rPr dirty="0"/>
              <a:t> </a:t>
            </a:r>
            <a:r>
              <a:rPr dirty="0" err="1"/>
              <a:t>플랫폼과</a:t>
            </a:r>
            <a:r>
              <a:rPr dirty="0"/>
              <a:t> </a:t>
            </a:r>
            <a:r>
              <a:rPr dirty="0" err="1"/>
              <a:t>하드웨어를</a:t>
            </a:r>
            <a:r>
              <a:rPr dirty="0"/>
              <a:t> </a:t>
            </a:r>
            <a:r>
              <a:rPr dirty="0" err="1"/>
              <a:t>연결하는</a:t>
            </a:r>
            <a:r>
              <a:rPr dirty="0"/>
              <a:t> </a:t>
            </a:r>
            <a:r>
              <a:rPr dirty="0" err="1"/>
              <a:t>기능을</a:t>
            </a:r>
            <a:r>
              <a:rPr dirty="0"/>
              <a:t> </a:t>
            </a:r>
            <a:r>
              <a:rPr dirty="0" err="1"/>
              <a:t>개발하면서</a:t>
            </a:r>
            <a:r>
              <a:rPr dirty="0"/>
              <a:t> Bluetooth, </a:t>
            </a:r>
            <a:r>
              <a:rPr dirty="0" err="1"/>
              <a:t>멀티미디어</a:t>
            </a:r>
            <a:r>
              <a:rPr dirty="0"/>
              <a:t>, </a:t>
            </a:r>
            <a:r>
              <a:rPr dirty="0" err="1"/>
              <a:t>인증</a:t>
            </a:r>
            <a:r>
              <a:rPr dirty="0"/>
              <a:t> 등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경계에</a:t>
            </a:r>
            <a:r>
              <a:rPr dirty="0"/>
              <a:t> </a:t>
            </a:r>
            <a:r>
              <a:rPr dirty="0" err="1"/>
              <a:t>걸친</a:t>
            </a:r>
            <a:r>
              <a:rPr dirty="0"/>
              <a:t> </a:t>
            </a:r>
            <a:r>
              <a:rPr dirty="0" err="1"/>
              <a:t>문제를</a:t>
            </a:r>
            <a:r>
              <a:rPr dirty="0"/>
              <a:t> </a:t>
            </a:r>
            <a:r>
              <a:rPr dirty="0" err="1"/>
              <a:t>다뤘습니다</a:t>
            </a:r>
            <a:r>
              <a:rPr dirty="0"/>
              <a:t>. 이 </a:t>
            </a:r>
            <a:r>
              <a:rPr dirty="0" err="1"/>
              <a:t>경험은</a:t>
            </a:r>
            <a:r>
              <a:rPr dirty="0"/>
              <a:t> </a:t>
            </a:r>
            <a:r>
              <a:rPr dirty="0" err="1"/>
              <a:t>실행환경</a:t>
            </a:r>
            <a:r>
              <a:rPr dirty="0"/>
              <a:t> </a:t>
            </a:r>
            <a:r>
              <a:rPr dirty="0" err="1"/>
              <a:t>제약과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요소의</a:t>
            </a:r>
            <a:r>
              <a:rPr dirty="0"/>
              <a:t> </a:t>
            </a:r>
            <a:r>
              <a:rPr dirty="0" err="1"/>
              <a:t>상호작용을</a:t>
            </a:r>
            <a:r>
              <a:rPr dirty="0"/>
              <a:t> </a:t>
            </a:r>
            <a:r>
              <a:rPr dirty="0" err="1"/>
              <a:t>이해하는</a:t>
            </a:r>
            <a:r>
              <a:rPr dirty="0"/>
              <a:t> 데 </a:t>
            </a:r>
            <a:r>
              <a:rPr dirty="0" err="1"/>
              <a:t>도움이</a:t>
            </a:r>
            <a:r>
              <a:rPr dirty="0"/>
              <a:t> </a:t>
            </a:r>
            <a:r>
              <a:rPr dirty="0" err="1"/>
              <a:t>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셋째는</a:t>
            </a:r>
            <a:r>
              <a:rPr dirty="0"/>
              <a:t> Verification &amp; </a:t>
            </a:r>
            <a:r>
              <a:rPr dirty="0" err="1"/>
              <a:t>Collaboration입니다</a:t>
            </a:r>
            <a:r>
              <a:rPr dirty="0"/>
              <a:t>. </a:t>
            </a:r>
            <a:r>
              <a:rPr dirty="0" err="1"/>
              <a:t>TrueMobile에서는</a:t>
            </a:r>
            <a:r>
              <a:rPr dirty="0"/>
              <a:t> </a:t>
            </a:r>
            <a:r>
              <a:rPr dirty="0" err="1"/>
              <a:t>중국·홍콩·대만</a:t>
            </a:r>
            <a:r>
              <a:rPr dirty="0"/>
              <a:t> </a:t>
            </a:r>
            <a:r>
              <a:rPr dirty="0" err="1"/>
              <a:t>시장을</a:t>
            </a:r>
            <a:r>
              <a:rPr dirty="0"/>
              <a:t> </a:t>
            </a:r>
            <a:r>
              <a:rPr dirty="0" err="1"/>
              <a:t>대상으로</a:t>
            </a:r>
            <a:r>
              <a:rPr dirty="0"/>
              <a:t> </a:t>
            </a:r>
            <a:r>
              <a:rPr dirty="0" err="1"/>
              <a:t>Localization과</a:t>
            </a:r>
            <a:r>
              <a:rPr dirty="0"/>
              <a:t> </a:t>
            </a:r>
            <a:r>
              <a:rPr dirty="0" err="1"/>
              <a:t>결함</a:t>
            </a:r>
            <a:r>
              <a:rPr dirty="0"/>
              <a:t> </a:t>
            </a:r>
            <a:r>
              <a:rPr dirty="0" err="1"/>
              <a:t>수정</a:t>
            </a:r>
            <a:r>
              <a:rPr dirty="0"/>
              <a:t>, </a:t>
            </a:r>
            <a:r>
              <a:rPr dirty="0" err="1"/>
              <a:t>해외</a:t>
            </a:r>
            <a:r>
              <a:rPr dirty="0"/>
              <a:t> QA </a:t>
            </a:r>
            <a:r>
              <a:rPr dirty="0" err="1"/>
              <a:t>협업을</a:t>
            </a:r>
            <a:r>
              <a:rPr dirty="0"/>
              <a:t> </a:t>
            </a:r>
            <a:r>
              <a:rPr dirty="0" err="1"/>
              <a:t>수행했습니다</a:t>
            </a:r>
            <a:r>
              <a:rPr dirty="0"/>
              <a:t>. </a:t>
            </a:r>
            <a:r>
              <a:rPr dirty="0" err="1"/>
              <a:t>다양한</a:t>
            </a:r>
            <a:r>
              <a:rPr dirty="0"/>
              <a:t> </a:t>
            </a:r>
            <a:r>
              <a:rPr dirty="0" err="1"/>
              <a:t>환경에서</a:t>
            </a:r>
            <a:r>
              <a:rPr dirty="0"/>
              <a:t> </a:t>
            </a:r>
            <a:r>
              <a:rPr dirty="0" err="1"/>
              <a:t>재현되는</a:t>
            </a:r>
            <a:r>
              <a:rPr dirty="0"/>
              <a:t> </a:t>
            </a:r>
            <a:r>
              <a:rPr dirty="0" err="1"/>
              <a:t>문제를</a:t>
            </a:r>
            <a:r>
              <a:rPr dirty="0"/>
              <a:t> </a:t>
            </a:r>
            <a:r>
              <a:rPr dirty="0" err="1"/>
              <a:t>확인하고</a:t>
            </a:r>
            <a:r>
              <a:rPr dirty="0"/>
              <a:t> </a:t>
            </a:r>
            <a:r>
              <a:rPr dirty="0" err="1"/>
              <a:t>관계자와</a:t>
            </a:r>
            <a:r>
              <a:rPr dirty="0"/>
              <a:t> 검증 </a:t>
            </a:r>
            <a:r>
              <a:rPr dirty="0" err="1"/>
              <a:t>기준을</a:t>
            </a:r>
            <a:r>
              <a:rPr dirty="0"/>
              <a:t> </a:t>
            </a:r>
            <a:r>
              <a:rPr dirty="0" err="1"/>
              <a:t>맞추는</a:t>
            </a:r>
            <a:r>
              <a:rPr dirty="0"/>
              <a:t> </a:t>
            </a:r>
            <a:r>
              <a:rPr dirty="0" err="1"/>
              <a:t>경험을</a:t>
            </a:r>
            <a:r>
              <a:rPr dirty="0"/>
              <a:t> </a:t>
            </a:r>
            <a:r>
              <a:rPr dirty="0" err="1"/>
              <a:t>쌓았습니다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세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역량은</a:t>
            </a:r>
            <a:r>
              <a:rPr dirty="0"/>
              <a:t> </a:t>
            </a:r>
            <a:r>
              <a:rPr dirty="0" err="1"/>
              <a:t>현재</a:t>
            </a:r>
            <a:r>
              <a:rPr dirty="0"/>
              <a:t> AI </a:t>
            </a:r>
            <a:r>
              <a:rPr dirty="0" err="1"/>
              <a:t>프로젝트에도</a:t>
            </a:r>
            <a:r>
              <a:rPr dirty="0"/>
              <a:t> </a:t>
            </a:r>
            <a:r>
              <a:rPr dirty="0" err="1"/>
              <a:t>연결됩니다</a:t>
            </a:r>
            <a:r>
              <a:rPr dirty="0"/>
              <a:t>. </a:t>
            </a:r>
            <a:r>
              <a:rPr dirty="0" err="1"/>
              <a:t>학습·추론</a:t>
            </a:r>
            <a:r>
              <a:rPr dirty="0"/>
              <a:t> </a:t>
            </a:r>
            <a:r>
              <a:rPr dirty="0" err="1"/>
              <a:t>성능</a:t>
            </a:r>
            <a:r>
              <a:rPr dirty="0"/>
              <a:t> </a:t>
            </a:r>
            <a:r>
              <a:rPr dirty="0" err="1"/>
              <a:t>측정</a:t>
            </a:r>
            <a:r>
              <a:rPr dirty="0"/>
              <a:t>, Device </a:t>
            </a:r>
            <a:r>
              <a:rPr dirty="0" err="1"/>
              <a:t>호환성</a:t>
            </a:r>
            <a:r>
              <a:rPr dirty="0"/>
              <a:t> </a:t>
            </a:r>
            <a:r>
              <a:rPr dirty="0" err="1"/>
              <a:t>분석</a:t>
            </a:r>
            <a:r>
              <a:rPr dirty="0"/>
              <a:t>, </a:t>
            </a:r>
            <a:r>
              <a:rPr dirty="0" err="1"/>
              <a:t>테스트와</a:t>
            </a:r>
            <a:r>
              <a:rPr dirty="0"/>
              <a:t> </a:t>
            </a:r>
            <a:r>
              <a:rPr dirty="0" err="1"/>
              <a:t>재현성</a:t>
            </a:r>
            <a:r>
              <a:rPr dirty="0"/>
              <a:t> </a:t>
            </a:r>
            <a:r>
              <a:rPr dirty="0" err="1"/>
              <a:t>확보라는</a:t>
            </a:r>
            <a:r>
              <a:rPr dirty="0"/>
              <a:t> </a:t>
            </a:r>
            <a:r>
              <a:rPr dirty="0" err="1"/>
              <a:t>형태로</a:t>
            </a:r>
            <a:r>
              <a:rPr dirty="0"/>
              <a:t> </a:t>
            </a:r>
            <a:r>
              <a:rPr dirty="0" err="1"/>
              <a:t>적용하고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지금까지</a:t>
            </a:r>
            <a:r>
              <a:rPr dirty="0"/>
              <a:t> </a:t>
            </a:r>
            <a:r>
              <a:rPr dirty="0" err="1"/>
              <a:t>소개한</a:t>
            </a:r>
            <a:r>
              <a:rPr dirty="0"/>
              <a:t> </a:t>
            </a:r>
            <a:r>
              <a:rPr dirty="0" err="1"/>
              <a:t>프로젝트를</a:t>
            </a:r>
            <a:r>
              <a:rPr dirty="0"/>
              <a:t> </a:t>
            </a:r>
            <a:r>
              <a:rPr dirty="0" err="1"/>
              <a:t>종합하면</a:t>
            </a:r>
            <a:r>
              <a:rPr dirty="0"/>
              <a:t> 제 </a:t>
            </a:r>
            <a:r>
              <a:rPr dirty="0" err="1"/>
              <a:t>기술적</a:t>
            </a:r>
            <a:r>
              <a:rPr dirty="0"/>
              <a:t> </a:t>
            </a:r>
            <a:r>
              <a:rPr dirty="0" err="1"/>
              <a:t>포지셔닝은</a:t>
            </a:r>
            <a:r>
              <a:rPr dirty="0"/>
              <a:t> 네 </a:t>
            </a:r>
            <a:r>
              <a:rPr dirty="0" err="1"/>
              <a:t>영역으로</a:t>
            </a:r>
            <a:r>
              <a:rPr dirty="0"/>
              <a:t> </a:t>
            </a:r>
            <a:r>
              <a:rPr dirty="0" err="1"/>
              <a:t>설명할</a:t>
            </a:r>
            <a:r>
              <a:rPr dirty="0"/>
              <a:t> 수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첫째</a:t>
            </a:r>
            <a:r>
              <a:rPr dirty="0"/>
              <a:t>, Model </a:t>
            </a:r>
            <a:r>
              <a:rPr dirty="0" err="1"/>
              <a:t>Engineering입니다</a:t>
            </a:r>
            <a:r>
              <a:rPr dirty="0"/>
              <a:t>. Fully Connected </a:t>
            </a:r>
            <a:r>
              <a:rPr dirty="0" err="1"/>
              <a:t>DNN과</a:t>
            </a:r>
            <a:r>
              <a:rPr dirty="0"/>
              <a:t> Decoder-only </a:t>
            </a:r>
            <a:r>
              <a:rPr dirty="0" err="1"/>
              <a:t>Transformer를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구현하면서</a:t>
            </a:r>
            <a:r>
              <a:rPr dirty="0"/>
              <a:t> Forward, Backward, Attention, Masking 등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연산을</a:t>
            </a:r>
            <a:r>
              <a:rPr dirty="0"/>
              <a:t> </a:t>
            </a:r>
            <a:r>
              <a:rPr dirty="0" err="1"/>
              <a:t>이해하고</a:t>
            </a:r>
            <a:r>
              <a:rPr dirty="0"/>
              <a:t> </a:t>
            </a:r>
            <a:r>
              <a:rPr dirty="0" err="1"/>
              <a:t>검증했습니다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둘째</a:t>
            </a:r>
            <a:r>
              <a:rPr dirty="0"/>
              <a:t>, Training </a:t>
            </a:r>
            <a:r>
              <a:rPr dirty="0" err="1"/>
              <a:t>Engineering입니다</a:t>
            </a:r>
            <a:r>
              <a:rPr dirty="0"/>
              <a:t>. deep-learning-</a:t>
            </a:r>
            <a:r>
              <a:rPr dirty="0" err="1"/>
              <a:t>core에서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고유</a:t>
            </a:r>
            <a:r>
              <a:rPr dirty="0"/>
              <a:t> </a:t>
            </a:r>
            <a:r>
              <a:rPr dirty="0" err="1"/>
              <a:t>로직과</a:t>
            </a:r>
            <a:r>
              <a:rPr dirty="0"/>
              <a:t>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인프라의</a:t>
            </a:r>
            <a:r>
              <a:rPr dirty="0"/>
              <a:t> </a:t>
            </a:r>
            <a:r>
              <a:rPr dirty="0" err="1"/>
              <a:t>의존성을</a:t>
            </a:r>
            <a:r>
              <a:rPr dirty="0"/>
              <a:t> </a:t>
            </a:r>
            <a:r>
              <a:rPr dirty="0" err="1"/>
              <a:t>분리하고</a:t>
            </a:r>
            <a:r>
              <a:rPr dirty="0"/>
              <a:t>, </a:t>
            </a:r>
            <a:r>
              <a:rPr dirty="0" err="1"/>
              <a:t>학습·평가·Checkpoint·Metrics</a:t>
            </a:r>
            <a:r>
              <a:rPr dirty="0"/>
              <a:t> </a:t>
            </a:r>
            <a:r>
              <a:rPr dirty="0" err="1"/>
              <a:t>기능을</a:t>
            </a:r>
            <a:r>
              <a:rPr dirty="0"/>
              <a:t> </a:t>
            </a:r>
            <a:r>
              <a:rPr dirty="0" err="1"/>
              <a:t>재사용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구조로</a:t>
            </a:r>
            <a:r>
              <a:rPr dirty="0"/>
              <a:t> </a:t>
            </a:r>
            <a:r>
              <a:rPr dirty="0" err="1"/>
              <a:t>구성했습니다</a:t>
            </a:r>
            <a:r>
              <a:rPr dirty="0"/>
              <a:t>. </a:t>
            </a:r>
            <a:r>
              <a:rPr dirty="0" err="1"/>
              <a:t>최근에는</a:t>
            </a:r>
            <a:r>
              <a:rPr dirty="0"/>
              <a:t> </a:t>
            </a:r>
            <a:r>
              <a:rPr dirty="0" err="1"/>
              <a:t>TensorStatistics와</a:t>
            </a:r>
            <a:r>
              <a:rPr dirty="0"/>
              <a:t> </a:t>
            </a:r>
            <a:r>
              <a:rPr dirty="0" err="1"/>
              <a:t>WeightDiagnostics를</a:t>
            </a:r>
            <a:r>
              <a:rPr dirty="0"/>
              <a:t> </a:t>
            </a:r>
            <a:r>
              <a:rPr dirty="0" err="1"/>
              <a:t>기반으로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상태를</a:t>
            </a:r>
            <a:r>
              <a:rPr dirty="0"/>
              <a:t> </a:t>
            </a:r>
            <a:r>
              <a:rPr dirty="0" err="1"/>
              <a:t>분석하는</a:t>
            </a:r>
            <a:r>
              <a:rPr dirty="0"/>
              <a:t> </a:t>
            </a:r>
            <a:r>
              <a:rPr dirty="0" err="1"/>
              <a:t>기능을</a:t>
            </a:r>
            <a:r>
              <a:rPr dirty="0"/>
              <a:t> </a:t>
            </a:r>
            <a:r>
              <a:rPr dirty="0" err="1"/>
              <a:t>확장하고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셋째</a:t>
            </a:r>
            <a:r>
              <a:rPr dirty="0"/>
              <a:t>, Runtime </a:t>
            </a:r>
            <a:r>
              <a:rPr dirty="0" err="1"/>
              <a:t>Analysis입니다</a:t>
            </a:r>
            <a:r>
              <a:rPr dirty="0"/>
              <a:t>. </a:t>
            </a:r>
            <a:r>
              <a:rPr dirty="0" err="1"/>
              <a:t>CPU와</a:t>
            </a:r>
            <a:r>
              <a:rPr dirty="0"/>
              <a:t> Intel XPU 등 </a:t>
            </a:r>
            <a:r>
              <a:rPr dirty="0" err="1"/>
              <a:t>실행환경의</a:t>
            </a:r>
            <a:r>
              <a:rPr dirty="0"/>
              <a:t> </a:t>
            </a:r>
            <a:r>
              <a:rPr dirty="0" err="1"/>
              <a:t>특성을</a:t>
            </a:r>
            <a:r>
              <a:rPr dirty="0"/>
              <a:t> </a:t>
            </a:r>
            <a:r>
              <a:rPr dirty="0" err="1"/>
              <a:t>확인하고</a:t>
            </a:r>
            <a:r>
              <a:rPr dirty="0"/>
              <a:t> Device </a:t>
            </a:r>
            <a:r>
              <a:rPr dirty="0" err="1"/>
              <a:t>Profiling을</a:t>
            </a:r>
            <a:r>
              <a:rPr dirty="0"/>
              <a:t> </a:t>
            </a:r>
            <a:r>
              <a:rPr dirty="0" err="1"/>
              <a:t>통해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가능성과</a:t>
            </a:r>
            <a:r>
              <a:rPr dirty="0"/>
              <a:t> </a:t>
            </a:r>
            <a:r>
              <a:rPr dirty="0" err="1"/>
              <a:t>성능을</a:t>
            </a:r>
            <a:r>
              <a:rPr dirty="0"/>
              <a:t> </a:t>
            </a:r>
            <a:r>
              <a:rPr dirty="0" err="1"/>
              <a:t>구분해</a:t>
            </a:r>
            <a:r>
              <a:rPr dirty="0"/>
              <a:t> </a:t>
            </a:r>
            <a:r>
              <a:rPr dirty="0" err="1"/>
              <a:t>분석했습니다</a:t>
            </a:r>
            <a:r>
              <a:rPr dirty="0"/>
              <a:t>. </a:t>
            </a:r>
            <a:r>
              <a:rPr dirty="0" err="1"/>
              <a:t>CUDA는</a:t>
            </a:r>
            <a:r>
              <a:rPr dirty="0"/>
              <a:t> 이 </a:t>
            </a:r>
            <a:r>
              <a:rPr dirty="0" err="1"/>
              <a:t>슬라이드의</a:t>
            </a:r>
            <a:r>
              <a:rPr dirty="0"/>
              <a:t> </a:t>
            </a:r>
            <a:r>
              <a:rPr dirty="0" err="1"/>
              <a:t>기술</a:t>
            </a:r>
            <a:r>
              <a:rPr dirty="0"/>
              <a:t> </a:t>
            </a:r>
            <a:r>
              <a:rPr dirty="0" err="1"/>
              <a:t>범위에</a:t>
            </a:r>
            <a:r>
              <a:rPr dirty="0"/>
              <a:t> </a:t>
            </a:r>
            <a:r>
              <a:rPr dirty="0" err="1"/>
              <a:t>포함되어</a:t>
            </a:r>
            <a:r>
              <a:rPr dirty="0"/>
              <a:t> </a:t>
            </a:r>
            <a:r>
              <a:rPr dirty="0" err="1"/>
              <a:t>있지만</a:t>
            </a:r>
            <a:r>
              <a:rPr dirty="0"/>
              <a:t>, 이 </a:t>
            </a:r>
            <a:r>
              <a:rPr dirty="0" err="1"/>
              <a:t>발표에서</a:t>
            </a:r>
            <a:r>
              <a:rPr dirty="0"/>
              <a:t> </a:t>
            </a:r>
            <a:r>
              <a:rPr dirty="0" err="1"/>
              <a:t>별도의</a:t>
            </a:r>
            <a:r>
              <a:rPr dirty="0"/>
              <a:t> CUDA </a:t>
            </a:r>
            <a:r>
              <a:rPr dirty="0" err="1"/>
              <a:t>실측</a:t>
            </a:r>
            <a:r>
              <a:rPr dirty="0"/>
              <a:t> </a:t>
            </a:r>
            <a:r>
              <a:rPr dirty="0" err="1"/>
              <a:t>결과를</a:t>
            </a:r>
            <a:r>
              <a:rPr dirty="0"/>
              <a:t> </a:t>
            </a:r>
            <a:r>
              <a:rPr dirty="0" err="1"/>
              <a:t>제시하는</a:t>
            </a:r>
            <a:r>
              <a:rPr dirty="0"/>
              <a:t> </a:t>
            </a:r>
            <a:r>
              <a:rPr dirty="0" err="1"/>
              <a:t>것은</a:t>
            </a:r>
            <a:r>
              <a:rPr dirty="0"/>
              <a:t> </a:t>
            </a:r>
            <a:r>
              <a:rPr dirty="0" err="1"/>
              <a:t>아닙니다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넷째</a:t>
            </a:r>
            <a:r>
              <a:rPr dirty="0"/>
              <a:t>, Application </a:t>
            </a:r>
            <a:r>
              <a:rPr dirty="0" err="1"/>
              <a:t>Architecture입니다</a:t>
            </a:r>
            <a:r>
              <a:rPr dirty="0"/>
              <a:t>. Spring Boot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보안</a:t>
            </a:r>
            <a:r>
              <a:rPr dirty="0"/>
              <a:t>, API,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연동</a:t>
            </a:r>
            <a:r>
              <a:rPr dirty="0"/>
              <a:t>, </a:t>
            </a:r>
            <a:r>
              <a:rPr dirty="0" err="1"/>
              <a:t>예외</a:t>
            </a:r>
            <a:r>
              <a:rPr dirty="0"/>
              <a:t> </a:t>
            </a:r>
            <a:r>
              <a:rPr dirty="0" err="1"/>
              <a:t>처리</a:t>
            </a:r>
            <a:r>
              <a:rPr dirty="0"/>
              <a:t> </a:t>
            </a:r>
            <a:r>
              <a:rPr dirty="0" err="1"/>
              <a:t>구조를</a:t>
            </a:r>
            <a:r>
              <a:rPr dirty="0"/>
              <a:t> </a:t>
            </a:r>
            <a:r>
              <a:rPr dirty="0" err="1"/>
              <a:t>통해</a:t>
            </a:r>
            <a:r>
              <a:rPr dirty="0"/>
              <a:t> </a:t>
            </a:r>
            <a:r>
              <a:rPr dirty="0" err="1"/>
              <a:t>모델을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서비스에</a:t>
            </a:r>
            <a:r>
              <a:rPr dirty="0"/>
              <a:t> </a:t>
            </a:r>
            <a:r>
              <a:rPr dirty="0" err="1"/>
              <a:t>연결할</a:t>
            </a:r>
            <a:r>
              <a:rPr dirty="0"/>
              <a:t> 수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소프트웨어</a:t>
            </a:r>
            <a:r>
              <a:rPr dirty="0"/>
              <a:t> </a:t>
            </a:r>
            <a:r>
              <a:rPr dirty="0" err="1"/>
              <a:t>기반을</a:t>
            </a:r>
            <a:r>
              <a:rPr dirty="0"/>
              <a:t> </a:t>
            </a:r>
            <a:r>
              <a:rPr dirty="0" err="1"/>
              <a:t>갖추고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현재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완료된</a:t>
            </a:r>
            <a:r>
              <a:rPr dirty="0"/>
              <a:t> </a:t>
            </a:r>
            <a:r>
              <a:rPr dirty="0" err="1"/>
              <a:t>기능과</a:t>
            </a:r>
            <a:r>
              <a:rPr dirty="0"/>
              <a:t> </a:t>
            </a:r>
            <a:r>
              <a:rPr dirty="0" err="1"/>
              <a:t>개발</a:t>
            </a:r>
            <a:r>
              <a:rPr dirty="0"/>
              <a:t> </a:t>
            </a:r>
            <a:r>
              <a:rPr dirty="0" err="1"/>
              <a:t>중인</a:t>
            </a:r>
            <a:r>
              <a:rPr dirty="0"/>
              <a:t> </a:t>
            </a:r>
            <a:r>
              <a:rPr dirty="0" err="1"/>
              <a:t>NeuronDiagnostic을</a:t>
            </a:r>
            <a:r>
              <a:rPr dirty="0"/>
              <a:t> </a:t>
            </a:r>
            <a:r>
              <a:rPr dirty="0" err="1"/>
              <a:t>명확히</a:t>
            </a:r>
            <a:r>
              <a:rPr dirty="0"/>
              <a:t> </a:t>
            </a:r>
            <a:r>
              <a:rPr dirty="0" err="1"/>
              <a:t>구분하면서</a:t>
            </a:r>
            <a:r>
              <a:rPr dirty="0"/>
              <a:t>,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이후에도</a:t>
            </a:r>
            <a:r>
              <a:rPr dirty="0"/>
              <a:t>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상태를</a:t>
            </a:r>
            <a:r>
              <a:rPr dirty="0"/>
              <a:t> </a:t>
            </a:r>
            <a:r>
              <a:rPr dirty="0" err="1"/>
              <a:t>측정하고</a:t>
            </a:r>
            <a:r>
              <a:rPr dirty="0"/>
              <a:t> </a:t>
            </a:r>
            <a:r>
              <a:rPr dirty="0" err="1"/>
              <a:t>원인을</a:t>
            </a:r>
            <a:r>
              <a:rPr dirty="0"/>
              <a:t> </a:t>
            </a:r>
            <a:r>
              <a:rPr dirty="0" err="1"/>
              <a:t>분석할</a:t>
            </a:r>
            <a:r>
              <a:rPr dirty="0"/>
              <a:t> 수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방향으로</a:t>
            </a:r>
            <a:r>
              <a:rPr dirty="0"/>
              <a:t> </a:t>
            </a:r>
            <a:r>
              <a:rPr dirty="0" err="1"/>
              <a:t>프로젝트를</a:t>
            </a:r>
            <a:r>
              <a:rPr dirty="0"/>
              <a:t> </a:t>
            </a:r>
            <a:r>
              <a:rPr dirty="0" err="1"/>
              <a:t>발전시키고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제 </a:t>
            </a:r>
            <a:r>
              <a:rPr dirty="0" err="1"/>
              <a:t>강점은</a:t>
            </a:r>
            <a:r>
              <a:rPr dirty="0"/>
              <a:t> </a:t>
            </a:r>
            <a:r>
              <a:rPr dirty="0" err="1"/>
              <a:t>모델을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구현하는</a:t>
            </a:r>
            <a:r>
              <a:rPr dirty="0"/>
              <a:t> </a:t>
            </a:r>
            <a:r>
              <a:rPr dirty="0" err="1"/>
              <a:t>능력과</a:t>
            </a:r>
            <a:r>
              <a:rPr dirty="0"/>
              <a:t>, 그 </a:t>
            </a:r>
            <a:r>
              <a:rPr dirty="0" err="1"/>
              <a:t>모델을</a:t>
            </a:r>
            <a:r>
              <a:rPr dirty="0"/>
              <a:t> </a:t>
            </a:r>
            <a:r>
              <a:rPr dirty="0" err="1"/>
              <a:t>반복적으로</a:t>
            </a:r>
            <a:r>
              <a:rPr dirty="0"/>
              <a:t> </a:t>
            </a:r>
            <a:r>
              <a:rPr dirty="0" err="1"/>
              <a:t>학습·검증하고</a:t>
            </a:r>
            <a:r>
              <a:rPr dirty="0"/>
              <a:t> </a:t>
            </a:r>
            <a:r>
              <a:rPr dirty="0" err="1"/>
              <a:t>시스템에</a:t>
            </a:r>
            <a:r>
              <a:rPr dirty="0"/>
              <a:t> </a:t>
            </a:r>
            <a:r>
              <a:rPr dirty="0" err="1"/>
              <a:t>통합할</a:t>
            </a:r>
            <a:r>
              <a:rPr dirty="0"/>
              <a:t> 수 </a:t>
            </a:r>
            <a:r>
              <a:rPr dirty="0" err="1"/>
              <a:t>있도록</a:t>
            </a:r>
            <a:r>
              <a:rPr dirty="0"/>
              <a:t> </a:t>
            </a:r>
            <a:r>
              <a:rPr dirty="0" err="1"/>
              <a:t>소프트웨어</a:t>
            </a:r>
            <a:r>
              <a:rPr dirty="0"/>
              <a:t> </a:t>
            </a:r>
            <a:r>
              <a:rPr dirty="0" err="1"/>
              <a:t>구조를</a:t>
            </a:r>
            <a:r>
              <a:rPr dirty="0"/>
              <a:t> </a:t>
            </a:r>
            <a:r>
              <a:rPr dirty="0" err="1"/>
              <a:t>설계하는</a:t>
            </a:r>
            <a:r>
              <a:rPr dirty="0"/>
              <a:t> </a:t>
            </a:r>
            <a:r>
              <a:rPr dirty="0" err="1"/>
              <a:t>능력을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갖추었다는</a:t>
            </a:r>
            <a:r>
              <a:rPr dirty="0"/>
              <a:t> </a:t>
            </a:r>
            <a:r>
              <a:rPr dirty="0" err="1"/>
              <a:t>점입니다</a:t>
            </a:r>
            <a:r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ithlionbuddh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01168"/>
            <a:ext cx="8229600" cy="27432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398153"/>
                </a:solidFill>
                <a:latin typeface="Malgun Gothic"/>
              </a:defRPr>
            </a:pPr>
            <a:r>
              <a:rPr dirty="0"/>
              <a:t>TECHNICAL PORTFOLIO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530352"/>
            <a:ext cx="10972800" cy="16459"/>
          </a:xfrm>
          <a:prstGeom prst="rect">
            <a:avLst/>
          </a:prstGeom>
          <a:solidFill>
            <a:srgbClr val="398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1064240" cy="621792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9365B"/>
                </a:solidFill>
                <a:latin typeface="Malgun Gothic"/>
              </a:defRPr>
            </a:pPr>
            <a:r>
              <a:t>AI PROJECT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1353312"/>
            <a:ext cx="10972800" cy="36576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A78"/>
                </a:solidFill>
                <a:latin typeface="Malgun Gothic"/>
              </a:defRPr>
            </a:pPr>
            <a:r>
              <a:rPr lang="en-US" dirty="0"/>
              <a:t>Roh </a:t>
            </a:r>
            <a:r>
              <a:rPr dirty="0"/>
              <a:t>Mi</a:t>
            </a:r>
            <a:r>
              <a:rPr lang="en-US" dirty="0"/>
              <a:t> </a:t>
            </a:r>
            <a:r>
              <a:rPr dirty="0"/>
              <a:t>Jeong</a:t>
            </a:r>
            <a:r>
              <a:rPr lang="en-US" dirty="0"/>
              <a:t> </a:t>
            </a:r>
            <a:r>
              <a:rPr dirty="0"/>
              <a:t>| AI Software Engineer  |  GitHub: </a:t>
            </a:r>
            <a:r>
              <a:rPr dirty="0" err="1">
                <a:hlinkClick r:id="rId3"/>
              </a:rPr>
              <a:t>withlionbuddha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457200" cy="182880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789920" cy="1078992"/>
          </a:xfrm>
          <a:prstGeom prst="roundRect">
            <a:avLst/>
          </a:prstGeom>
          <a:solidFill>
            <a:srgbClr val="F6F8FC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121408"/>
            <a:ext cx="10241280" cy="758952"/>
          </a:xfrm>
          <a:prstGeom prst="rect">
            <a:avLst/>
          </a:prstGeom>
          <a:noFill/>
        </p:spPr>
        <p:txBody>
          <a:bodyPr wrap="square" lIns="64008" tIns="36576" rIns="45720">
            <a:normAutofit lnSpcReduction="10000"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9365B"/>
                </a:solidFill>
                <a:latin typeface="Malgun Gothic"/>
              </a:defRPr>
            </a:pPr>
            <a:r>
              <a:t>11년 4개월 SW 프로젝트 경험을 기반으로</a:t>
            </a:r>
          </a:p>
          <a:p>
            <a:pPr>
              <a:spcAft>
                <a:spcPts val="700"/>
              </a:spcAft>
              <a:defRPr sz="2000" b="1">
                <a:solidFill>
                  <a:srgbClr val="19365B"/>
                </a:solidFill>
                <a:latin typeface="Malgun Gothic"/>
              </a:defRPr>
            </a:pPr>
            <a:r>
              <a:t>AI 모델 구현 → 학습 인프라 → 실행환경 → 서비스 아키텍처로 확장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0332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3703320"/>
            <a:ext cx="2640330" cy="420624"/>
          </a:xfrm>
          <a:prstGeom prst="roundRect">
            <a:avLst/>
          </a:prstGeom>
          <a:solidFill>
            <a:srgbClr val="2B56C0"/>
          </a:solidFill>
          <a:ln>
            <a:solidFill>
              <a:srgbClr val="2B56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3753611"/>
            <a:ext cx="2420874" cy="283154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rPr dirty="0"/>
              <a:t>01  TRAINING</a:t>
            </a:r>
            <a:r>
              <a:rPr lang="en-US" dirty="0"/>
              <a:t> Core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786384" y="42702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deep-learning-core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모델 비종속 학습 인프라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7570" y="370332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17570" y="3703320"/>
            <a:ext cx="2640330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7298" y="3753611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02 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3874" y="42702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Decoder-only SLM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Transformer 구현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5060" y="370332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95060" y="3703320"/>
            <a:ext cx="2640330" cy="420624"/>
          </a:xfrm>
          <a:prstGeom prst="roundRect">
            <a:avLst/>
          </a:prstGeom>
          <a:solidFill>
            <a:srgbClr val="704CA6"/>
          </a:solidFill>
          <a:ln>
            <a:solidFill>
              <a:srgbClr val="70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4788" y="3753611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03  FUNDAMENTALS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1364" y="42702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Fully Connected DNN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미분·역전파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550" y="370332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972550" y="3703320"/>
            <a:ext cx="2640330" cy="420624"/>
          </a:xfrm>
          <a:prstGeom prst="roundRect">
            <a:avLst/>
          </a:prstGeom>
          <a:solidFill>
            <a:srgbClr val="C56E2E"/>
          </a:solidFill>
          <a:ln>
            <a:solidFill>
              <a:srgbClr val="C5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82278" y="3753611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04  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8854" y="42702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Spring Boot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재사용 서비스 구조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21792" y="438912"/>
            <a:ext cx="10972800" cy="15544"/>
          </a:xfrm>
          <a:prstGeom prst="rect">
            <a:avLst/>
          </a:prstGeom>
          <a:solidFill>
            <a:srgbClr val="378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01168"/>
            <a:ext cx="5486400" cy="201168"/>
          </a:xfrm>
          <a:prstGeom prst="rect">
            <a:avLst/>
          </a:prstGeom>
          <a:noFill/>
        </p:spPr>
        <p:txBody>
          <a:bodyPr wrap="square" lIns="27432" tIns="0" rIns="27432" bIns="0">
            <a:normAutofit/>
          </a:bodyPr>
          <a:lstStyle/>
          <a:p>
            <a:pPr>
              <a:defRPr sz="1100" b="0">
                <a:solidFill>
                  <a:srgbClr val="378158"/>
                </a:solidFill>
                <a:latin typeface="Malgun Gothic"/>
              </a:defRPr>
            </a:pPr>
            <a:r>
              <a:t>AI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058400" cy="512064"/>
          </a:xfrm>
          <a:prstGeom prst="rect">
            <a:avLst/>
          </a:prstGeom>
          <a:noFill/>
        </p:spPr>
        <p:txBody>
          <a:bodyPr wrap="square" lIns="27432" tIns="0" rIns="27432" bIns="0">
            <a:normAutofit/>
          </a:bodyPr>
          <a:lstStyle/>
          <a:p>
            <a:pPr>
              <a:defRPr sz="2900" b="1">
                <a:solidFill>
                  <a:srgbClr val="1D395B"/>
                </a:solidFill>
                <a:latin typeface="Malgun Gothic"/>
              </a:defRPr>
            </a:pPr>
            <a:r>
              <a:t>CONTENTS  | 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298448"/>
            <a:ext cx="10058400" cy="320040"/>
          </a:xfrm>
          <a:prstGeom prst="rect">
            <a:avLst/>
          </a:prstGeom>
          <a:noFill/>
        </p:spPr>
        <p:txBody>
          <a:bodyPr wrap="square" lIns="27432" tIns="0" rIns="27432" bIns="0">
            <a:normAutofit/>
          </a:bodyPr>
          <a:lstStyle/>
          <a:p>
            <a:pPr>
              <a:defRPr sz="1300" b="0">
                <a:solidFill>
                  <a:srgbClr val="6B7480"/>
                </a:solidFill>
                <a:latin typeface="Malgun Gothic"/>
              </a:defRPr>
            </a:pPr>
            <a:r>
              <a:t>기술평가자를 위한 프로젝트별 문제 정의 · 구현 범위 · 검증 근거 · 개발 현황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92224"/>
            <a:ext cx="10881360" cy="585216"/>
          </a:xfrm>
          <a:prstGeom prst="roundRect">
            <a:avLst/>
          </a:prstGeom>
          <a:solidFill>
            <a:srgbClr val="F7F8FB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13816" y="1892807"/>
            <a:ext cx="502920" cy="384048"/>
          </a:xfrm>
          <a:prstGeom prst="roundRect">
            <a:avLst/>
          </a:prstGeom>
          <a:solidFill>
            <a:srgbClr val="2E5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865376"/>
            <a:ext cx="7315200" cy="228600"/>
          </a:xfrm>
          <a:prstGeom prst="rect">
            <a:avLst/>
          </a:prstGeom>
          <a:noFill/>
        </p:spPr>
        <p:txBody>
          <a:bodyPr wrap="square" lIns="27432" tIns="0" rIns="27432" bIns="0">
            <a:normAutofit fontScale="92500" lnSpcReduction="10000"/>
          </a:bodyPr>
          <a:lstStyle/>
          <a:p>
            <a:pPr>
              <a:defRPr sz="1700" b="1">
                <a:solidFill>
                  <a:srgbClr val="1D395B"/>
                </a:solidFill>
                <a:latin typeface="Malgun Gothic"/>
              </a:defRPr>
            </a:pPr>
            <a:r>
              <a:t>deep-learning-core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2130552"/>
            <a:ext cx="9052560" cy="192024"/>
          </a:xfrm>
          <a:prstGeom prst="rect">
            <a:avLst/>
          </a:prstGeom>
          <a:noFill/>
        </p:spPr>
        <p:txBody>
          <a:bodyPr wrap="square" lIns="27432" tIns="0" rIns="27432" bIns="0">
            <a:normAutofit/>
          </a:bodyPr>
          <a:lstStyle/>
          <a:p>
            <a:pPr>
              <a:defRPr sz="1000" b="0">
                <a:solidFill>
                  <a:srgbClr val="6B7480"/>
                </a:solidFill>
                <a:latin typeface="Malgun Gothic"/>
              </a:defRPr>
            </a:pPr>
            <a:r>
              <a:t>모델 비종속 학습 인프라 · Training Architecture · Model Diagnostics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975104"/>
            <a:ext cx="603504" cy="219456"/>
          </a:xfrm>
          <a:prstGeom prst="rect">
            <a:avLst/>
          </a:prstGeom>
          <a:noFill/>
        </p:spPr>
        <p:txBody>
          <a:bodyPr wrap="square" lIns="27432" tIns="0" rIns="27432" bIns="0">
            <a:normAutofit/>
          </a:bodyPr>
          <a:lstStyle/>
          <a:p>
            <a:pPr>
              <a:defRPr sz="1100" b="1">
                <a:solidFill>
                  <a:srgbClr val="6B7480"/>
                </a:solidFill>
                <a:latin typeface="Malgun Gothic"/>
              </a:defRPr>
            </a:pPr>
            <a:r>
              <a:t>04–08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96312"/>
            <a:ext cx="10881360" cy="585216"/>
          </a:xfrm>
          <a:prstGeom prst="roundRect">
            <a:avLst/>
          </a:prstGeom>
          <a:solidFill>
            <a:srgbClr val="F7F8FB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3816" y="2596896"/>
            <a:ext cx="502920" cy="384048"/>
          </a:xfrm>
          <a:prstGeom prst="roundRect">
            <a:avLst/>
          </a:prstGeom>
          <a:solidFill>
            <a:srgbClr val="378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7904" y="2569464"/>
            <a:ext cx="7315200" cy="228600"/>
          </a:xfrm>
          <a:prstGeom prst="rect">
            <a:avLst/>
          </a:prstGeom>
          <a:noFill/>
        </p:spPr>
        <p:txBody>
          <a:bodyPr wrap="square" lIns="27432" tIns="0" rIns="27432" bIns="0">
            <a:normAutofit fontScale="92500" lnSpcReduction="10000"/>
          </a:bodyPr>
          <a:lstStyle/>
          <a:p>
            <a:pPr>
              <a:defRPr sz="1700" b="1">
                <a:solidFill>
                  <a:srgbClr val="1D395B"/>
                </a:solidFill>
                <a:latin typeface="Malgun Gothic"/>
              </a:defRPr>
            </a:pPr>
            <a:r>
              <a:t>Decoder-only Transformer SLM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834640"/>
            <a:ext cx="9052560" cy="192024"/>
          </a:xfrm>
          <a:prstGeom prst="rect">
            <a:avLst/>
          </a:prstGeom>
          <a:noFill/>
        </p:spPr>
        <p:txBody>
          <a:bodyPr wrap="square" lIns="27432" tIns="0" rIns="27432" bIns="0">
            <a:normAutofit/>
          </a:bodyPr>
          <a:lstStyle/>
          <a:p>
            <a:pPr>
              <a:defRPr sz="1000" b="0">
                <a:solidFill>
                  <a:srgbClr val="6B7480"/>
                </a:solidFill>
                <a:latin typeface="Malgun Gothic"/>
              </a:defRPr>
            </a:pPr>
            <a:r>
              <a:t>Tokenizer · Decoder 구현 · 학습 및 Intel XPU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2679192"/>
            <a:ext cx="603504" cy="219456"/>
          </a:xfrm>
          <a:prstGeom prst="rect">
            <a:avLst/>
          </a:prstGeom>
          <a:noFill/>
        </p:spPr>
        <p:txBody>
          <a:bodyPr wrap="square" lIns="27432" tIns="0" rIns="27432" bIns="0">
            <a:normAutofit fontScale="92500" lnSpcReduction="20000"/>
          </a:bodyPr>
          <a:lstStyle/>
          <a:p>
            <a:r>
              <a:t>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00400"/>
            <a:ext cx="10881360" cy="585216"/>
          </a:xfrm>
          <a:prstGeom prst="roundRect">
            <a:avLst/>
          </a:prstGeom>
          <a:solidFill>
            <a:srgbClr val="F7F8FB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3816" y="3300984"/>
            <a:ext cx="502920" cy="384048"/>
          </a:xfrm>
          <a:prstGeom prst="roundRect">
            <a:avLst/>
          </a:prstGeom>
          <a:solidFill>
            <a:srgbClr val="714E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7904" y="3273552"/>
            <a:ext cx="7315200" cy="228600"/>
          </a:xfrm>
          <a:prstGeom prst="rect">
            <a:avLst/>
          </a:prstGeom>
          <a:noFill/>
        </p:spPr>
        <p:txBody>
          <a:bodyPr wrap="square" lIns="27432" tIns="0" rIns="27432" bIns="0">
            <a:normAutofit fontScale="92500" lnSpcReduction="10000"/>
          </a:bodyPr>
          <a:lstStyle/>
          <a:p>
            <a:pPr>
              <a:defRPr sz="1700" b="1">
                <a:solidFill>
                  <a:srgbClr val="1D395B"/>
                </a:solidFill>
                <a:latin typeface="Malgun Gothic"/>
              </a:defRPr>
            </a:pPr>
            <a:r>
              <a:t>Fully Connected DNN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3538728"/>
            <a:ext cx="9052560" cy="192024"/>
          </a:xfrm>
          <a:prstGeom prst="rect">
            <a:avLst/>
          </a:prstGeom>
          <a:noFill/>
        </p:spPr>
        <p:txBody>
          <a:bodyPr wrap="square" lIns="27432" tIns="0" rIns="27432" bIns="0">
            <a:normAutofit/>
          </a:bodyPr>
          <a:lstStyle/>
          <a:p>
            <a:pPr>
              <a:defRPr sz="1000" b="0">
                <a:solidFill>
                  <a:srgbClr val="6B7480"/>
                </a:solidFill>
                <a:latin typeface="Malgun Gothic"/>
              </a:defRPr>
            </a:pPr>
            <a:r>
              <a:t>Neuron/Layer 직접 구현 · Forward/Backward · Gradient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44200" y="3383280"/>
            <a:ext cx="603504" cy="219456"/>
          </a:xfrm>
          <a:prstGeom prst="rect">
            <a:avLst/>
          </a:prstGeom>
          <a:noFill/>
        </p:spPr>
        <p:txBody>
          <a:bodyPr wrap="square" lIns="27432" tIns="0" rIns="27432" bIns="0">
            <a:normAutofit fontScale="92500" lnSpcReduction="20000"/>
          </a:bodyPr>
          <a:lstStyle/>
          <a:p>
            <a:r>
              <a:t>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904487"/>
            <a:ext cx="10881360" cy="585216"/>
          </a:xfrm>
          <a:prstGeom prst="roundRect">
            <a:avLst/>
          </a:prstGeom>
          <a:solidFill>
            <a:srgbClr val="F7F8FB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13816" y="4005072"/>
            <a:ext cx="502920" cy="384048"/>
          </a:xfrm>
          <a:prstGeom prst="roundRect">
            <a:avLst/>
          </a:prstGeom>
          <a:solidFill>
            <a:srgbClr val="C26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7904" y="3977639"/>
            <a:ext cx="7315200" cy="228600"/>
          </a:xfrm>
          <a:prstGeom prst="rect">
            <a:avLst/>
          </a:prstGeom>
          <a:noFill/>
        </p:spPr>
        <p:txBody>
          <a:bodyPr wrap="square" lIns="27432" tIns="0" rIns="27432" bIns="0">
            <a:normAutofit fontScale="92500" lnSpcReduction="10000"/>
          </a:bodyPr>
          <a:lstStyle/>
          <a:p>
            <a:pPr>
              <a:defRPr sz="1700" b="1">
                <a:solidFill>
                  <a:srgbClr val="1D395B"/>
                </a:solidFill>
                <a:latin typeface="Malgun Gothic"/>
              </a:defRPr>
            </a:pPr>
            <a:r>
              <a:t>Reusable Spring Boot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4242816"/>
            <a:ext cx="9052560" cy="192024"/>
          </a:xfrm>
          <a:prstGeom prst="rect">
            <a:avLst/>
          </a:prstGeom>
          <a:noFill/>
        </p:spPr>
        <p:txBody>
          <a:bodyPr wrap="square" lIns="27432" tIns="0" rIns="27432" bIns="0">
            <a:normAutofit/>
          </a:bodyPr>
          <a:lstStyle/>
          <a:p>
            <a:pPr>
              <a:defRPr sz="1000" b="0">
                <a:solidFill>
                  <a:srgbClr val="6B7480"/>
                </a:solidFill>
                <a:latin typeface="Malgun Gothic"/>
              </a:defRPr>
            </a:pPr>
            <a:r>
              <a:t>Service · Security · Integration · Common Concerns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4087368"/>
            <a:ext cx="603504" cy="219456"/>
          </a:xfrm>
          <a:prstGeom prst="rect">
            <a:avLst/>
          </a:prstGeom>
          <a:noFill/>
        </p:spPr>
        <p:txBody>
          <a:bodyPr wrap="square" lIns="27432" tIns="0" rIns="27432" bIns="0">
            <a:normAutofit fontScale="92500" lnSpcReduction="20000"/>
          </a:bodyPr>
          <a:lstStyle/>
          <a:p>
            <a:r>
              <a:t>11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608576"/>
            <a:ext cx="10881360" cy="585216"/>
          </a:xfrm>
          <a:prstGeom prst="roundRect">
            <a:avLst/>
          </a:prstGeom>
          <a:solidFill>
            <a:srgbClr val="F7F8FB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13816" y="4709160"/>
            <a:ext cx="502920" cy="384048"/>
          </a:xfrm>
          <a:prstGeom prst="roundRect">
            <a:avLst/>
          </a:prstGeom>
          <a:solidFill>
            <a:srgbClr val="2E5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7904" y="4681728"/>
            <a:ext cx="7315200" cy="228600"/>
          </a:xfrm>
          <a:prstGeom prst="rect">
            <a:avLst/>
          </a:prstGeom>
          <a:noFill/>
        </p:spPr>
        <p:txBody>
          <a:bodyPr wrap="square" lIns="27432" tIns="0" rIns="27432" bIns="0">
            <a:normAutofit fontScale="92500" lnSpcReduction="10000"/>
          </a:bodyPr>
          <a:lstStyle/>
          <a:p>
            <a:pPr>
              <a:defRPr sz="1700" b="1">
                <a:solidFill>
                  <a:srgbClr val="1D395B"/>
                </a:solidFill>
                <a:latin typeface="Malgun Gothic"/>
              </a:defRPr>
            </a:pPr>
            <a:r>
              <a:t>Software Engineering Foundation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7048" y="4946904"/>
            <a:ext cx="9052560" cy="192024"/>
          </a:xfrm>
          <a:prstGeom prst="rect">
            <a:avLst/>
          </a:prstGeom>
          <a:noFill/>
        </p:spPr>
        <p:txBody>
          <a:bodyPr wrap="square" lIns="27432" tIns="0" rIns="27432" bIns="0">
            <a:normAutofit/>
          </a:bodyPr>
          <a:lstStyle/>
          <a:p>
            <a:pPr>
              <a:defRPr sz="1000" b="0">
                <a:solidFill>
                  <a:srgbClr val="6B7480"/>
                </a:solidFill>
                <a:latin typeface="Malgun Gothic"/>
              </a:defRPr>
            </a:pPr>
            <a:r>
              <a:t>성능 최적화 · 플랫폼 연동 · 품질 검증 및 협업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4791456"/>
            <a:ext cx="603504" cy="219456"/>
          </a:xfrm>
          <a:prstGeom prst="rect">
            <a:avLst/>
          </a:prstGeom>
          <a:noFill/>
        </p:spPr>
        <p:txBody>
          <a:bodyPr wrap="square" lIns="27432" tIns="0" rIns="27432" bIns="0">
            <a:normAutofit fontScale="92500" lnSpcReduction="20000"/>
          </a:bodyPr>
          <a:lstStyle/>
          <a:p>
            <a:r>
              <a:t>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312664"/>
            <a:ext cx="10881360" cy="585216"/>
          </a:xfrm>
          <a:prstGeom prst="roundRect">
            <a:avLst/>
          </a:prstGeom>
          <a:solidFill>
            <a:srgbClr val="F7F8FB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13816" y="5413248"/>
            <a:ext cx="502920" cy="384048"/>
          </a:xfrm>
          <a:prstGeom prst="roundRect">
            <a:avLst/>
          </a:prstGeom>
          <a:solidFill>
            <a:srgbClr val="378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17904" y="5385816"/>
            <a:ext cx="7315200" cy="228600"/>
          </a:xfrm>
          <a:prstGeom prst="rect">
            <a:avLst/>
          </a:prstGeom>
          <a:noFill/>
        </p:spPr>
        <p:txBody>
          <a:bodyPr wrap="square" lIns="27432" tIns="0" rIns="27432" bIns="0">
            <a:normAutofit fontScale="92500" lnSpcReduction="10000"/>
          </a:bodyPr>
          <a:lstStyle/>
          <a:p>
            <a:pPr>
              <a:defRPr sz="1700" b="1">
                <a:solidFill>
                  <a:srgbClr val="1D395B"/>
                </a:solidFill>
                <a:latin typeface="Malgun Gothic"/>
              </a:defRPr>
            </a:pPr>
            <a:r>
              <a:t>Technical Positioning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7048" y="5650992"/>
            <a:ext cx="9052560" cy="192024"/>
          </a:xfrm>
          <a:prstGeom prst="rect">
            <a:avLst/>
          </a:prstGeom>
          <a:noFill/>
        </p:spPr>
        <p:txBody>
          <a:bodyPr wrap="square" lIns="27432" tIns="0" rIns="27432" bIns="0">
            <a:normAutofit/>
          </a:bodyPr>
          <a:lstStyle/>
          <a:p>
            <a:pPr>
              <a:defRPr sz="1000" b="0">
                <a:solidFill>
                  <a:srgbClr val="6B7480"/>
                </a:solidFill>
                <a:latin typeface="Malgun Gothic"/>
              </a:defRPr>
            </a:pPr>
            <a:r>
              <a:t>Model · Training · Runtime · Application 역량 정리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44200" y="5495544"/>
            <a:ext cx="603504" cy="219456"/>
          </a:xfrm>
          <a:prstGeom prst="rect">
            <a:avLst/>
          </a:prstGeom>
          <a:noFill/>
        </p:spPr>
        <p:txBody>
          <a:bodyPr wrap="square" lIns="27432" tIns="0" rIns="27432" bIns="0">
            <a:normAutofit fontScale="92500" lnSpcReduction="20000"/>
          </a:bodyPr>
          <a:lstStyle/>
          <a:p>
            <a: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27664" y="6492240"/>
            <a:ext cx="420624" cy="182880"/>
          </a:xfrm>
          <a:prstGeom prst="rect">
            <a:avLst/>
          </a:prstGeom>
          <a:noFill/>
        </p:spPr>
        <p:txBody>
          <a:bodyPr wrap="square" lIns="27432" tIns="0" rIns="27432" bIns="0">
            <a:normAutofit/>
          </a:bodyPr>
          <a:lstStyle/>
          <a:p>
            <a:pPr>
              <a:defRPr sz="1000" b="0">
                <a:solidFill>
                  <a:srgbClr val="6B7480"/>
                </a:solidFill>
                <a:latin typeface="Malgun Gothic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01168"/>
            <a:ext cx="8229600" cy="27432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398153"/>
                </a:solidFill>
                <a:latin typeface="Malgun Gothic"/>
              </a:defRPr>
            </a:pPr>
            <a:r>
              <a:t>AI SOFTWARE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530352"/>
            <a:ext cx="10972800" cy="16459"/>
          </a:xfrm>
          <a:prstGeom prst="rect">
            <a:avLst/>
          </a:prstGeom>
          <a:solidFill>
            <a:srgbClr val="398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1064240" cy="621792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9365B"/>
                </a:solidFill>
                <a:latin typeface="Malgun Gothic"/>
              </a:defRPr>
            </a:pPr>
            <a:r>
              <a:t>기술 경험의 연결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1353312"/>
            <a:ext cx="10972800" cy="36576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A78"/>
                </a:solidFill>
                <a:latin typeface="Malgun Gothic"/>
              </a:defRPr>
            </a:pPr>
            <a:r>
              <a:t>직접 구현 → 공통화 → 진단 → 서비스 연계로 이어지는 기술적 축적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457200" cy="182880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2640330" cy="420624"/>
          </a:xfrm>
          <a:prstGeom prst="roundRect">
            <a:avLst/>
          </a:prstGeom>
          <a:solidFill>
            <a:srgbClr val="2B56C0"/>
          </a:solidFill>
          <a:ln>
            <a:solidFill>
              <a:srgbClr val="2B56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201625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DNN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53288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Neuron / Layer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Forward / Backward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Gradient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196596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17570" y="1965960"/>
            <a:ext cx="2640330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7298" y="201625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rPr dirty="0"/>
              <a:t>Transformer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3874" y="253288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Tokenizer → Decoder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학습·검증·추론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Intel XPU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5060" y="196596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95060" y="1965960"/>
            <a:ext cx="2640330" cy="420624"/>
          </a:xfrm>
          <a:prstGeom prst="roundRect">
            <a:avLst/>
          </a:prstGeom>
          <a:solidFill>
            <a:srgbClr val="704CA6"/>
          </a:solidFill>
          <a:ln>
            <a:solidFill>
              <a:srgbClr val="70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4788" y="201625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rPr dirty="0"/>
              <a:t>deep-learning-core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1364" y="253288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SLM 의존성 제거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nn.Module 경계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Training 재사용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2550" y="196596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972550" y="1965960"/>
            <a:ext cx="2640330" cy="420624"/>
          </a:xfrm>
          <a:prstGeom prst="roundRect">
            <a:avLst/>
          </a:prstGeom>
          <a:solidFill>
            <a:srgbClr val="C56E2E"/>
          </a:solidFill>
          <a:ln>
            <a:solidFill>
              <a:srgbClr val="C5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82278" y="201625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Application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854" y="253288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Security / API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Integration / Logging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AI 연동 기반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160520"/>
            <a:ext cx="10652760" cy="1280160"/>
          </a:xfrm>
          <a:prstGeom prst="roundRect">
            <a:avLst/>
          </a:prstGeom>
          <a:solidFill>
            <a:srgbClr val="F6F8FC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4128" y="4370832"/>
            <a:ext cx="1828800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9365B"/>
                </a:solidFill>
                <a:latin typeface="Malgun Gothic"/>
              </a:defRPr>
            </a:pPr>
            <a:r>
              <a:t>핵심 방향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343400"/>
            <a:ext cx="8229600" cy="621792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2B56C0"/>
                </a:solidFill>
                <a:latin typeface="Malgun Gothic"/>
              </a:defRPr>
            </a:pPr>
            <a:r>
              <a:t>Model Engineering  +  Training Engineering  +  Runtime Analysis  +  Software Architecture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01168"/>
            <a:ext cx="8229600" cy="27432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398153"/>
                </a:solidFill>
                <a:latin typeface="Malgun Gothic"/>
              </a:defRPr>
            </a:pPr>
            <a:r>
              <a:t>AI SOFTWARE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530352"/>
            <a:ext cx="10972800" cy="16459"/>
          </a:xfrm>
          <a:prstGeom prst="rect">
            <a:avLst/>
          </a:prstGeom>
          <a:solidFill>
            <a:srgbClr val="398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1064240" cy="621792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r>
              <a:rPr sz="2400" b="1" dirty="0">
                <a:latin typeface="+mj-ea"/>
                <a:ea typeface="+mj-ea"/>
              </a:rPr>
              <a:t>01. deep-learning-core | </a:t>
            </a:r>
            <a:r>
              <a:rPr sz="2400" b="1" dirty="0" err="1">
                <a:latin typeface="+mj-ea"/>
                <a:ea typeface="+mj-ea"/>
              </a:rPr>
              <a:t>문제</a:t>
            </a:r>
            <a:r>
              <a:rPr sz="2400" b="1" dirty="0">
                <a:latin typeface="+mj-ea"/>
                <a:ea typeface="+mj-ea"/>
              </a:rPr>
              <a:t> </a:t>
            </a:r>
            <a:r>
              <a:rPr sz="2400" b="1" dirty="0" err="1">
                <a:latin typeface="+mj-ea"/>
                <a:ea typeface="+mj-ea"/>
              </a:rPr>
              <a:t>정의</a:t>
            </a:r>
            <a:r>
              <a:rPr sz="2400" b="1" dirty="0">
                <a:latin typeface="+mj-ea"/>
                <a:ea typeface="+mj-ea"/>
              </a:rPr>
              <a:t> 및 </a:t>
            </a:r>
            <a:r>
              <a:rPr sz="2400" b="1" dirty="0" err="1">
                <a:latin typeface="+mj-ea"/>
                <a:ea typeface="+mj-ea"/>
              </a:rPr>
              <a:t>설계</a:t>
            </a:r>
            <a:r>
              <a:rPr sz="2400" b="1" dirty="0">
                <a:latin typeface="+mj-ea"/>
                <a:ea typeface="+mj-ea"/>
              </a:rPr>
              <a:t> </a:t>
            </a:r>
            <a:r>
              <a:rPr sz="2400" b="1" dirty="0" err="1">
                <a:latin typeface="+mj-ea"/>
                <a:ea typeface="+mj-ea"/>
              </a:rPr>
              <a:t>개선</a:t>
            </a:r>
            <a:endParaRPr sz="2400" b="1" dirty="0">
              <a:latin typeface="+mj-ea"/>
              <a:ea typeface="+mj-e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0936" y="1353312"/>
            <a:ext cx="10972800" cy="36576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A78"/>
                </a:solidFill>
                <a:latin typeface="Malgun Gothic"/>
              </a:defRPr>
            </a:pPr>
            <a:r>
              <a:t>2026.09–현재  ·  PG  ·  Python / PyTorch / pytest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457200" cy="182880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663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166360" cy="420624"/>
          </a:xfrm>
          <a:prstGeom prst="roundRect">
            <a:avLst/>
          </a:prstGeom>
          <a:solidFill>
            <a:srgbClr val="C56E2E"/>
          </a:solidFill>
          <a:ln>
            <a:solidFill>
              <a:srgbClr val="C5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1879092"/>
            <a:ext cx="494690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BEFORE | SLM-specific coupling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395728"/>
            <a:ext cx="4873752" cy="1847088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242D38"/>
                </a:solidFill>
                <a:latin typeface="Malgun Gothic"/>
              </a:defRPr>
            </a:pPr>
            <a:r>
              <a:t>기존 Training Loop는 이미 모듈화되어 있었지만</a:t>
            </a:r>
          </a:p>
          <a:p>
            <a:pPr>
              <a:spcAft>
                <a:spcPts val="700"/>
              </a:spcAft>
              <a:defRPr sz="1700" b="0">
                <a:solidFill>
                  <a:srgbClr val="242D38"/>
                </a:solidFill>
                <a:latin typeface="Malgun Gothic"/>
              </a:defRPr>
            </a:pPr>
            <a:r>
              <a:t>Tokenizer · Masking 등 SLM 고유 코드와</a:t>
            </a:r>
          </a:p>
          <a:p>
            <a:pPr>
              <a:spcAft>
                <a:spcPts val="700"/>
              </a:spcAft>
              <a:defRPr sz="1700" b="0">
                <a:solidFill>
                  <a:srgbClr val="242D38"/>
                </a:solidFill>
                <a:latin typeface="Malgun Gothic"/>
              </a:defRPr>
            </a:pPr>
            <a:r>
              <a:t>학습 공통 모듈 간 의존성이 존재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828800"/>
            <a:ext cx="51663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080760" y="1828800"/>
            <a:ext cx="5166360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90488" y="1879092"/>
            <a:ext cx="494690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AFTER | Model-independent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395728"/>
            <a:ext cx="4873752" cy="1847088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242D38"/>
                </a:solidFill>
                <a:latin typeface="Malgun Gothic"/>
              </a:defRPr>
            </a:pPr>
            <a:r>
              <a:t>모델 고유 로직은 각 모델 프로젝트에 유지</a:t>
            </a:r>
          </a:p>
          <a:p>
            <a:pPr>
              <a:spcAft>
                <a:spcPts val="700"/>
              </a:spcAft>
              <a:defRPr sz="1700" b="0">
                <a:solidFill>
                  <a:srgbClr val="242D38"/>
                </a:solidFill>
                <a:latin typeface="Malgun Gothic"/>
              </a:defRPr>
            </a:pPr>
            <a:r>
              <a:t>Training / Evaluation / Device / Checkpoint</a:t>
            </a:r>
          </a:p>
          <a:p>
            <a:pPr>
              <a:spcAft>
                <a:spcPts val="700"/>
              </a:spcAft>
              <a:defRPr sz="1700" b="0">
                <a:solidFill>
                  <a:srgbClr val="242D38"/>
                </a:solidFill>
                <a:latin typeface="Malgun Gothic"/>
              </a:defRPr>
            </a:pPr>
            <a:r>
              <a:t>Metrics / Diagnostics를 Library로 분리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690872"/>
            <a:ext cx="10332720" cy="1051560"/>
          </a:xfrm>
          <a:prstGeom prst="roundRect">
            <a:avLst/>
          </a:prstGeom>
          <a:solidFill>
            <a:srgbClr val="F6F8FC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78992" y="5010912"/>
            <a:ext cx="9966960" cy="502920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9365B"/>
                </a:solidFill>
                <a:latin typeface="Malgun Gothic"/>
              </a:defRPr>
            </a:pPr>
            <a:r>
              <a:rPr dirty="0" err="1"/>
              <a:t>설계</a:t>
            </a:r>
            <a:r>
              <a:rPr dirty="0"/>
              <a:t> </a:t>
            </a:r>
            <a:r>
              <a:rPr dirty="0" err="1"/>
              <a:t>경계</a:t>
            </a:r>
            <a:r>
              <a:rPr dirty="0"/>
              <a:t>  :  </a:t>
            </a:r>
            <a:r>
              <a:rPr dirty="0" err="1"/>
              <a:t>torch.nn.Module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모델</a:t>
            </a:r>
            <a:r>
              <a:rPr dirty="0"/>
              <a:t>  →  </a:t>
            </a:r>
            <a:r>
              <a:rPr dirty="0" err="1"/>
              <a:t>재사용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Training Loop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01168"/>
            <a:ext cx="8229600" cy="27432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398153"/>
                </a:solidFill>
                <a:latin typeface="Malgun Gothic"/>
              </a:defRPr>
            </a:pPr>
            <a:r>
              <a:t>AI SOFTWARE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530352"/>
            <a:ext cx="10972800" cy="16459"/>
          </a:xfrm>
          <a:prstGeom prst="rect">
            <a:avLst/>
          </a:prstGeom>
          <a:solidFill>
            <a:srgbClr val="398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1064240" cy="437043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9365B"/>
                </a:solidFill>
                <a:latin typeface="Malgun Gothic"/>
              </a:defRPr>
            </a:pPr>
            <a:r>
              <a:rPr dirty="0"/>
              <a:t>01. </a:t>
            </a:r>
            <a:r>
              <a:rPr lang="en-US" altLang="ko-KR" dirty="0"/>
              <a:t>deep-learning-core | </a:t>
            </a:r>
            <a:r>
              <a:rPr dirty="0"/>
              <a:t>모델 비종속 학습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1353312"/>
            <a:ext cx="10972800" cy="36576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A78"/>
                </a:solidFill>
                <a:latin typeface="Malgun Gothic"/>
              </a:defRPr>
            </a:pPr>
            <a:r>
              <a:t>모델과 학습 인프라의 책임을 분리한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457200" cy="182880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2640330" cy="420624"/>
          </a:xfrm>
          <a:prstGeom prst="roundRect">
            <a:avLst/>
          </a:prstGeom>
          <a:solidFill>
            <a:srgbClr val="2B56C0"/>
          </a:solidFill>
          <a:ln>
            <a:solidFill>
              <a:srgbClr val="2B56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215341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MODEL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700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Tokenizer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Vocabulary / Masking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Inference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210312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17570" y="2103120"/>
            <a:ext cx="2640330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7298" y="215341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MODEL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3874" y="26700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torch.nn.Module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ModelBuilder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SequentialModel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5060" y="210312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95060" y="2103120"/>
            <a:ext cx="2640330" cy="420624"/>
          </a:xfrm>
          <a:prstGeom prst="roundRect">
            <a:avLst/>
          </a:prstGeom>
          <a:solidFill>
            <a:srgbClr val="704CA6"/>
          </a:solidFill>
          <a:ln>
            <a:solidFill>
              <a:srgbClr val="70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4788" y="215341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TRAINING 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1364" y="26700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Batch / Epoch Runner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Trainer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Loss / Metrics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2550" y="210312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972550" y="2103120"/>
            <a:ext cx="2640330" cy="420624"/>
          </a:xfrm>
          <a:prstGeom prst="roundRect">
            <a:avLst/>
          </a:prstGeom>
          <a:solidFill>
            <a:srgbClr val="C56E2E"/>
          </a:solidFill>
          <a:ln>
            <a:solidFill>
              <a:srgbClr val="C5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82278" y="215341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CONTROL &amp; 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854" y="26700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Checkpoint / EarlyStopping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Device / Diagnostics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Profiling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251960"/>
            <a:ext cx="10561320" cy="1207008"/>
          </a:xfrm>
          <a:prstGeom prst="roundRect">
            <a:avLst/>
          </a:prstGeom>
          <a:solidFill>
            <a:srgbClr val="F6F8FC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9848" y="4581144"/>
            <a:ext cx="10058400" cy="576072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9365B"/>
                </a:solidFill>
                <a:latin typeface="Malgun Gothic"/>
              </a:defRPr>
            </a:pPr>
            <a:r>
              <a:t>모델 고유 기능을 학습 라이브러리에 내장하지 않고, 공통 학습 기능을 독립 패키지로 구성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01168"/>
            <a:ext cx="8229600" cy="27432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398153"/>
                </a:solidFill>
                <a:latin typeface="Malgun Gothic"/>
              </a:defRPr>
            </a:pPr>
            <a:r>
              <a:t>AI SOFTWARE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530352"/>
            <a:ext cx="10972800" cy="16459"/>
          </a:xfrm>
          <a:prstGeom prst="rect">
            <a:avLst/>
          </a:prstGeom>
          <a:solidFill>
            <a:srgbClr val="398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1064240" cy="437043"/>
          </a:xfrm>
          <a:prstGeom prst="rect">
            <a:avLst/>
          </a:prstGeom>
          <a:noFill/>
        </p:spPr>
        <p:txBody>
          <a:bodyPr wrap="square" lIns="64008" tIns="36576" rIns="45720">
            <a:noAutofit/>
          </a:bodyPr>
          <a:lstStyle/>
          <a:p>
            <a:r>
              <a:rPr sz="2400" b="1" dirty="0">
                <a:latin typeface="+mj-ea"/>
                <a:ea typeface="+mj-ea"/>
              </a:rPr>
              <a:t>01. deep-learning-core | </a:t>
            </a:r>
            <a:r>
              <a:rPr sz="2400" b="1" dirty="0" err="1">
                <a:latin typeface="+mj-ea"/>
                <a:ea typeface="+mj-ea"/>
              </a:rPr>
              <a:t>학습</a:t>
            </a:r>
            <a:r>
              <a:rPr sz="2400" b="1" dirty="0">
                <a:latin typeface="+mj-ea"/>
                <a:ea typeface="+mj-ea"/>
              </a:rPr>
              <a:t> </a:t>
            </a:r>
            <a:r>
              <a:rPr sz="2400" b="1" dirty="0" err="1">
                <a:latin typeface="+mj-ea"/>
                <a:ea typeface="+mj-ea"/>
              </a:rPr>
              <a:t>실행</a:t>
            </a:r>
            <a:r>
              <a:rPr sz="2400" b="1" dirty="0">
                <a:latin typeface="+mj-ea"/>
                <a:ea typeface="+mj-ea"/>
              </a:rPr>
              <a:t> 및 </a:t>
            </a:r>
            <a:r>
              <a:rPr sz="2400" b="1" dirty="0" err="1">
                <a:latin typeface="+mj-ea"/>
                <a:ea typeface="+mj-ea"/>
              </a:rPr>
              <a:t>운영</a:t>
            </a:r>
            <a:r>
              <a:rPr sz="2400" b="1" dirty="0">
                <a:latin typeface="+mj-ea"/>
                <a:ea typeface="+mj-ea"/>
              </a:rPr>
              <a:t> </a:t>
            </a:r>
            <a:r>
              <a:rPr sz="2400" b="1" dirty="0" err="1">
                <a:latin typeface="+mj-ea"/>
                <a:ea typeface="+mj-ea"/>
              </a:rPr>
              <a:t>제어</a:t>
            </a:r>
            <a:r>
              <a:rPr sz="2400" b="1" dirty="0">
                <a:latin typeface="+mj-ea"/>
                <a:ea typeface="+mj-ea"/>
              </a:rPr>
              <a:t> </a:t>
            </a:r>
            <a:r>
              <a:rPr sz="2400" b="1" dirty="0" err="1">
                <a:latin typeface="+mj-ea"/>
                <a:ea typeface="+mj-ea"/>
              </a:rPr>
              <a:t>흐름</a:t>
            </a:r>
            <a:endParaRPr sz="2400" b="1" dirty="0">
              <a:latin typeface="+mj-ea"/>
              <a:ea typeface="+mj-e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0936" y="1353312"/>
            <a:ext cx="10972800" cy="36576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A78"/>
                </a:solidFill>
                <a:latin typeface="Malgun Gothic"/>
              </a:defRPr>
            </a:pPr>
            <a:r>
              <a:t>BatchRunner의 핵심 연산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457200" cy="182880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2640330" cy="420624"/>
          </a:xfrm>
          <a:prstGeom prst="roundRect">
            <a:avLst/>
          </a:prstGeom>
          <a:solidFill>
            <a:srgbClr val="2B56C0"/>
          </a:solidFill>
          <a:ln>
            <a:solidFill>
              <a:srgbClr val="2B56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92481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414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r>
              <a:rPr sz="1600"/>
              <a:t>inputs / targets → device</a:t>
            </a:r>
          </a:p>
          <a:p>
            <a:r>
              <a:rPr sz="1600"/>
              <a:t>중첩 dict · tuple · list 이동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1874519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17570" y="1874519"/>
            <a:ext cx="2640330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7298" y="192481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3874" y="24414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zero_grad()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Forward / Loss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5060" y="1874519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95060" y="1874519"/>
            <a:ext cx="2640330" cy="420624"/>
          </a:xfrm>
          <a:prstGeom prst="roundRect">
            <a:avLst/>
          </a:prstGeom>
          <a:solidFill>
            <a:srgbClr val="704CA6"/>
          </a:solidFill>
          <a:ln>
            <a:solidFill>
              <a:srgbClr val="70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4788" y="192481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1364" y="24414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Backward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optimizer.step()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2550" y="1874519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972550" y="1874519"/>
            <a:ext cx="2640330" cy="420624"/>
          </a:xfrm>
          <a:prstGeom prst="roundRect">
            <a:avLst/>
          </a:prstGeom>
          <a:solidFill>
            <a:srgbClr val="C56E2E"/>
          </a:solidFill>
          <a:ln>
            <a:solidFill>
              <a:srgbClr val="C5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82278" y="192481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854" y="24414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Accuracy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Train / Validation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977639"/>
            <a:ext cx="5138928" cy="1527048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22960" y="3977639"/>
            <a:ext cx="5138928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2688" y="4027931"/>
            <a:ext cx="4919472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TRAINING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4544568"/>
            <a:ext cx="4846320" cy="905255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242D38"/>
                </a:solidFill>
                <a:latin typeface="Malgun Gothic"/>
              </a:defRPr>
            </a:pPr>
            <a:r>
              <a:t>Best checkpoint 저장·복원  /  EarlyStopping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3977639"/>
            <a:ext cx="5138928" cy="1527048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126480" y="3977639"/>
            <a:ext cx="5138928" cy="420624"/>
          </a:xfrm>
          <a:prstGeom prst="roundRect">
            <a:avLst/>
          </a:prstGeom>
          <a:solidFill>
            <a:srgbClr val="704CA6"/>
          </a:solidFill>
          <a:ln>
            <a:solidFill>
              <a:srgbClr val="70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36208" y="4027931"/>
            <a:ext cx="4919472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MODEL DIAGNOSTICS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4544568"/>
            <a:ext cx="4846320" cy="905255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242D38"/>
                </a:solidFill>
                <a:latin typeface="Malgun Gothic"/>
              </a:defRPr>
            </a:pPr>
            <a:r>
              <a:t>ModelAnalyzer · WeightInspector · DeviceProfiler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01168"/>
            <a:ext cx="8229600" cy="27432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398153"/>
                </a:solidFill>
                <a:latin typeface="Malgun Gothic"/>
              </a:defRPr>
            </a:pPr>
            <a:r>
              <a:t>AI SOFTWARE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530352"/>
            <a:ext cx="10972800" cy="16459"/>
          </a:xfrm>
          <a:prstGeom prst="rect">
            <a:avLst/>
          </a:prstGeom>
          <a:solidFill>
            <a:srgbClr val="398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1064240" cy="437043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9365B"/>
                </a:solidFill>
                <a:latin typeface="Malgun Gothic"/>
              </a:defRPr>
            </a:pPr>
            <a:r>
              <a:t>01. deep-learning-core | Model Diagnostics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1353312"/>
            <a:ext cx="10972800" cy="36576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A78"/>
                </a:solidFill>
                <a:latin typeface="Malgun Gothic"/>
              </a:defRPr>
            </a:pPr>
            <a:r>
              <a:t>구현: 레이어 해석·Tensor 통계·Weight 판정  |  통합 중: 뉴런별 실행·Activation·Gradient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457200" cy="182880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2640330" cy="2181352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2640330" cy="420624"/>
          </a:xfrm>
          <a:prstGeom prst="roundRect">
            <a:avLst/>
          </a:prstGeom>
          <a:solidFill>
            <a:srgbClr val="2B56C0"/>
          </a:solidFill>
          <a:ln>
            <a:solidFill>
              <a:srgbClr val="2B56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215341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LAYER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70048"/>
            <a:ext cx="2347722" cy="1287272"/>
          </a:xfrm>
          <a:prstGeom prst="rect">
            <a:avLst/>
          </a:prstGeom>
          <a:noFill/>
        </p:spPr>
        <p:txBody>
          <a:bodyPr wrap="square" lIns="64008" tIns="36576" rIns="45720">
            <a:normAutofit fontScale="92500" lnSpcReduction="10000"/>
          </a:bodyPr>
          <a:lstStyle/>
          <a:p>
            <a:r>
              <a:t>SequentialLayerResolver</a:t>
            </a:r>
            <a:br/>
            <a:r>
              <a:t>Linear / Conv → 주 레이어</a:t>
            </a:r>
            <a:br/>
            <a:r>
              <a:t>후속 Module → Stage</a:t>
            </a:r>
            <a:br/>
            <a:r>
              <a:t>구조 정의 구현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2103119"/>
            <a:ext cx="2640330" cy="2181351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17570" y="2103120"/>
            <a:ext cx="2640330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7298" y="215341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TENSOR STATISTICS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3874" y="26700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rPr sz="1500"/>
              <a:t>Mean / Std / Min / Max</a:t>
            </a:r>
            <a:br/>
            <a:r>
              <a:rPr sz="1500"/>
              <a:t>L1 / L2 · Zero Ratio</a:t>
            </a:r>
            <a:br/>
            <a:r>
              <a:rPr sz="1500"/>
              <a:t>NaN / Inf · Sign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5060" y="2103120"/>
            <a:ext cx="2640330" cy="218135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95060" y="2103120"/>
            <a:ext cx="2640330" cy="420624"/>
          </a:xfrm>
          <a:prstGeom prst="roundRect">
            <a:avLst/>
          </a:prstGeom>
          <a:solidFill>
            <a:srgbClr val="704CA6"/>
          </a:solidFill>
          <a:ln>
            <a:solidFill>
              <a:srgbClr val="70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4788" y="215341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WEIGHT DIAGNOSTIC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1364" y="26700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 lnSpcReduction="10000"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rPr sz="1500"/>
              <a:t>All Zero / Constant</a:t>
            </a:r>
            <a:br/>
            <a:r>
              <a:rPr sz="1500"/>
              <a:t>NaN / Inf · Sign Difference</a:t>
            </a:r>
            <a:br/>
            <a:r>
              <a:rPr sz="1500"/>
              <a:t>크기 판정: 별도 기준값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2550" y="2103120"/>
            <a:ext cx="2640330" cy="2181352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972550" y="2103120"/>
            <a:ext cx="2640330" cy="420624"/>
          </a:xfrm>
          <a:prstGeom prst="roundRect">
            <a:avLst/>
          </a:prstGeom>
          <a:solidFill>
            <a:srgbClr val="C56E2E"/>
          </a:solidFill>
          <a:ln>
            <a:solidFill>
              <a:srgbClr val="C5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82278" y="215341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INTEGRATION IN PROGRESS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854" y="2670048"/>
            <a:ext cx="2347722" cy="1083564"/>
          </a:xfrm>
          <a:prstGeom prst="rect">
            <a:avLst/>
          </a:prstGeom>
          <a:noFill/>
        </p:spPr>
        <p:txBody>
          <a:bodyPr wrap="square" lIns="64008" tIns="36576" rIns="45720">
            <a:normAutofit fontScale="85000" lnSpcReduction="10000"/>
          </a:bodyPr>
          <a:lstStyle/>
          <a:p>
            <a:r>
              <a:t>뉴런 선택·Registry 구성</a:t>
            </a:r>
            <a:br/>
            <a:r>
              <a:t>NeuronDiagnostic 조건 작성</a:t>
            </a:r>
            <a:br/>
            <a:r>
              <a:t>Activation / Gradient 연계 중</a:t>
            </a:r>
            <a:endParaRPr dirty="0"/>
          </a:p>
        </p:txBody>
      </p:sp>
      <p:sp>
        <p:nvSpPr>
          <p:cNvPr id="23" name="Rounded Rectangle 22"/>
          <p:cNvSpPr/>
          <p:nvPr/>
        </p:nvSpPr>
        <p:spPr>
          <a:xfrm>
            <a:off x="667512" y="4761992"/>
            <a:ext cx="10561320" cy="1207008"/>
          </a:xfrm>
          <a:prstGeom prst="roundRect">
            <a:avLst/>
          </a:prstGeom>
          <a:solidFill>
            <a:srgbClr val="F6F8FC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8972" y="5157216"/>
            <a:ext cx="10058400" cy="576072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9365B"/>
                </a:solidFill>
                <a:latin typeface="Malgun Gothic"/>
              </a:defRPr>
            </a:pPr>
            <a:r>
              <a:rPr sz="1500"/>
              <a:t>설계 흐름: Layer 식별 → 뉴런 선택 → 통계 계산 → 조건 판정  |  통합 실행·테스트는 진행 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01168"/>
            <a:ext cx="8229600" cy="27432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398153"/>
                </a:solidFill>
                <a:latin typeface="Malgun Gothic"/>
              </a:defRPr>
            </a:pPr>
            <a:r>
              <a:t>AI SOFTWARE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530352"/>
            <a:ext cx="10972800" cy="16459"/>
          </a:xfrm>
          <a:prstGeom prst="rect">
            <a:avLst/>
          </a:prstGeom>
          <a:solidFill>
            <a:srgbClr val="398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1064240" cy="437043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9365B"/>
                </a:solidFill>
                <a:latin typeface="Malgun Gothic"/>
              </a:defRPr>
            </a:pPr>
            <a:r>
              <a:rPr dirty="0"/>
              <a:t>01. </a:t>
            </a:r>
            <a:r>
              <a:rPr lang="en-US" altLang="ko-KR" dirty="0"/>
              <a:t>deep-learning-core | </a:t>
            </a:r>
            <a:r>
              <a:rPr dirty="0"/>
              <a:t>검증 </a:t>
            </a:r>
            <a:r>
              <a:rPr dirty="0" err="1"/>
              <a:t>결과와</a:t>
            </a:r>
            <a:r>
              <a:rPr dirty="0"/>
              <a:t> </a:t>
            </a:r>
            <a:r>
              <a:rPr dirty="0" err="1"/>
              <a:t>현재</a:t>
            </a:r>
            <a:r>
              <a:rPr dirty="0"/>
              <a:t> </a:t>
            </a:r>
            <a:r>
              <a:rPr dirty="0" err="1"/>
              <a:t>범위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630936" y="1353312"/>
            <a:ext cx="10972800" cy="252377"/>
          </a:xfrm>
          <a:prstGeom prst="rect">
            <a:avLst/>
          </a:prstGeom>
          <a:noFill/>
        </p:spPr>
        <p:txBody>
          <a:bodyPr wrap="square" lIns="64008" tIns="0" rIns="45720" bIns="0">
            <a:normAutofit lnSpcReduction="10000"/>
          </a:bodyPr>
          <a:lstStyle/>
          <a:p>
            <a:r>
              <a:rPr dirty="0"/>
              <a:t>Training Core </a:t>
            </a:r>
            <a:r>
              <a:rPr dirty="0" err="1"/>
              <a:t>테스트</a:t>
            </a:r>
            <a:r>
              <a:rPr dirty="0"/>
              <a:t> </a:t>
            </a:r>
            <a:r>
              <a:rPr dirty="0" err="1"/>
              <a:t>결과</a:t>
            </a:r>
            <a:r>
              <a:rPr dirty="0"/>
              <a:t> — </a:t>
            </a:r>
            <a:r>
              <a:rPr dirty="0" err="1"/>
              <a:t>신규</a:t>
            </a:r>
            <a:r>
              <a:rPr dirty="0"/>
              <a:t> </a:t>
            </a:r>
            <a:r>
              <a:rPr dirty="0" err="1"/>
              <a:t>Diagnostics는</a:t>
            </a:r>
            <a:r>
              <a:rPr dirty="0"/>
              <a:t> </a:t>
            </a:r>
            <a:r>
              <a:rPr dirty="0" err="1"/>
              <a:t>별도</a:t>
            </a:r>
            <a:r>
              <a:rPr dirty="0"/>
              <a:t> 검증 </a:t>
            </a:r>
            <a:r>
              <a:rPr dirty="0" err="1"/>
              <a:t>필요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457200" cy="182880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1847088"/>
            <a:ext cx="5212080" cy="2240280"/>
          </a:xfrm>
          <a:prstGeom prst="roundRect">
            <a:avLst/>
          </a:prstGeom>
          <a:solidFill>
            <a:srgbClr val="ECF7EF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07008" y="2103120"/>
            <a:ext cx="4480560" cy="1005840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 algn="ctr">
              <a:spcAft>
                <a:spcPts val="700"/>
              </a:spcAft>
              <a:defRPr sz="4800" b="1">
                <a:solidFill>
                  <a:srgbClr val="398153"/>
                </a:solidFill>
                <a:latin typeface="Malgun Gothic"/>
              </a:defRPr>
            </a:pPr>
            <a:r>
              <a:t>126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10128"/>
            <a:ext cx="4617720" cy="457200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 algn="ctr">
              <a:spcAft>
                <a:spcPts val="700"/>
              </a:spcAft>
              <a:defRPr sz="1900" b="1">
                <a:solidFill>
                  <a:srgbClr val="19365B"/>
                </a:solidFill>
                <a:latin typeface="Malgun Gothic"/>
              </a:defRPr>
            </a:pPr>
            <a:r>
              <a:rPr lang="en-US" dirty="0"/>
              <a:t>Training Core Test</a:t>
            </a:r>
            <a:r>
              <a:rPr dirty="0"/>
              <a:t>: passed   /   0 failed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847088"/>
            <a:ext cx="5010912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99632" y="1847088"/>
            <a:ext cx="5010912" cy="420624"/>
          </a:xfrm>
          <a:prstGeom prst="roundRect">
            <a:avLst/>
          </a:prstGeom>
          <a:solidFill>
            <a:srgbClr val="2B56C0"/>
          </a:solidFill>
          <a:ln>
            <a:solidFill>
              <a:srgbClr val="2B56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897380"/>
            <a:ext cx="4791456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414016"/>
            <a:ext cx="4718304" cy="1618488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242D38"/>
                </a:solidFill>
                <a:latin typeface="Malgun Gothic"/>
              </a:defRPr>
            </a:pPr>
            <a:r>
              <a:t>SGD·Adam 업데이트 / Train·Valid 분기</a:t>
            </a:r>
          </a:p>
          <a:p>
            <a:pPr>
              <a:spcAft>
                <a:spcPts val="700"/>
              </a:spcAft>
              <a:defRPr sz="1400" b="0">
                <a:solidFill>
                  <a:srgbClr val="242D38"/>
                </a:solidFill>
                <a:latin typeface="Malgun Gothic"/>
              </a:defRPr>
            </a:pPr>
            <a:r>
              <a:t>중첩 입력 / PAD 제외 손실·정확도</a:t>
            </a:r>
          </a:p>
          <a:p>
            <a:pPr>
              <a:spcAft>
                <a:spcPts val="700"/>
              </a:spcAft>
              <a:defRPr sz="1400" b="0">
                <a:solidFill>
                  <a:srgbClr val="242D38"/>
                </a:solidFill>
                <a:latin typeface="Malgun Gothic"/>
              </a:defRPr>
            </a:pPr>
            <a:r>
              <a:t>Checkpoint / DataLoader / Profiling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34840"/>
            <a:ext cx="10469880" cy="1051560"/>
          </a:xfrm>
          <a:prstGeom prst="roundRect">
            <a:avLst/>
          </a:prstGeom>
          <a:solidFill>
            <a:srgbClr val="F6F8FC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69848" y="4736592"/>
            <a:ext cx="9966960" cy="5212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9365B"/>
                </a:solidFill>
                <a:latin typeface="Malgun Gothic"/>
              </a:defRPr>
            </a:pPr>
            <a:r>
              <a:rPr dirty="0" err="1"/>
              <a:t>분류·next-token</a:t>
            </a:r>
            <a:r>
              <a:rPr dirty="0"/>
              <a:t> prediction |  Diagnostics </a:t>
            </a:r>
            <a:r>
              <a:rPr dirty="0" err="1"/>
              <a:t>통합</a:t>
            </a:r>
            <a:r>
              <a:rPr dirty="0"/>
              <a:t> 검증 </a:t>
            </a:r>
            <a:r>
              <a:rPr dirty="0" err="1"/>
              <a:t>진행</a:t>
            </a:r>
            <a:r>
              <a:rPr dirty="0"/>
              <a:t> 중 · </a:t>
            </a:r>
            <a:r>
              <a:t>ActivationIns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01168"/>
            <a:ext cx="8229600" cy="27432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398153"/>
                </a:solidFill>
                <a:latin typeface="Malgun Gothic"/>
              </a:defRPr>
            </a:pPr>
            <a:r>
              <a:t>AI SOFTWARE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530352"/>
            <a:ext cx="10972800" cy="16459"/>
          </a:xfrm>
          <a:prstGeom prst="rect">
            <a:avLst/>
          </a:prstGeom>
          <a:solidFill>
            <a:srgbClr val="398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1064240" cy="621792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9365B"/>
                </a:solidFill>
                <a:latin typeface="Malgun Gothic"/>
              </a:defRPr>
            </a:pPr>
            <a:r>
              <a:rPr dirty="0"/>
              <a:t>02. Decoder-only Transformer SLM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1353312"/>
            <a:ext cx="10972800" cy="36576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A78"/>
                </a:solidFill>
                <a:latin typeface="Malgun Gothic"/>
              </a:defRPr>
            </a:pPr>
            <a:r>
              <a:t>2026.06–2026.08  ·  PG  ·  PyTorch / SentencePiece / Intel XPU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457200" cy="182880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38528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38528"/>
            <a:ext cx="2640330" cy="420624"/>
          </a:xfrm>
          <a:prstGeom prst="roundRect">
            <a:avLst/>
          </a:prstGeom>
          <a:solidFill>
            <a:srgbClr val="2B56C0"/>
          </a:solidFill>
          <a:ln>
            <a:solidFill>
              <a:srgbClr val="2B56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988820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505456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SentencePiece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Tokenizer 학습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Token ID 변환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1938528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17570" y="1938528"/>
            <a:ext cx="2640330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7298" y="1988820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3874" y="2505456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Embedding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Masked Self-Attention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Decoder Blocks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5060" y="1938528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95060" y="1938528"/>
            <a:ext cx="2640330" cy="420624"/>
          </a:xfrm>
          <a:prstGeom prst="roundRect">
            <a:avLst/>
          </a:prstGeom>
          <a:solidFill>
            <a:srgbClr val="704CA6"/>
          </a:solidFill>
          <a:ln>
            <a:solidFill>
              <a:srgbClr val="70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4788" y="1988820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1364" y="2505456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Logits / Loss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Backpropagation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Validation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2550" y="1938528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972550" y="1938528"/>
            <a:ext cx="2640330" cy="420624"/>
          </a:xfrm>
          <a:prstGeom prst="roundRect">
            <a:avLst/>
          </a:prstGeom>
          <a:solidFill>
            <a:srgbClr val="C56E2E"/>
          </a:solidFill>
          <a:ln>
            <a:solidFill>
              <a:srgbClr val="C5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82278" y="1988820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854" y="2505456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CPU ↔ XPU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Device Profiling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Batch Size 분석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78808"/>
            <a:ext cx="10469880" cy="1307592"/>
          </a:xfrm>
          <a:prstGeom prst="roundRect">
            <a:avLst/>
          </a:prstGeom>
          <a:solidFill>
            <a:srgbClr val="F6F8FC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4416552"/>
            <a:ext cx="1828800" cy="347472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398153"/>
                </a:solidFill>
                <a:latin typeface="Malgun Gothic"/>
              </a:defRPr>
            </a:pPr>
            <a:r>
              <a:t>EVOLUTION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800600"/>
            <a:ext cx="9875520" cy="484632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9365B"/>
                </a:solidFill>
                <a:latin typeface="Malgun Gothic"/>
              </a:defRPr>
            </a:pPr>
            <a:r>
              <a:t>SLM에서 확인한 공통 학습 로직을 독립 라이브러리로 분리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01168"/>
            <a:ext cx="8229600" cy="27432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398153"/>
                </a:solidFill>
                <a:latin typeface="Malgun Gothic"/>
              </a:defRPr>
            </a:pPr>
            <a:r>
              <a:t>AI SOFTWARE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530352"/>
            <a:ext cx="10972800" cy="16459"/>
          </a:xfrm>
          <a:prstGeom prst="rect">
            <a:avLst/>
          </a:prstGeom>
          <a:solidFill>
            <a:srgbClr val="398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1064240" cy="621792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9365B"/>
                </a:solidFill>
                <a:latin typeface="Malgun Gothic"/>
              </a:defRPr>
            </a:pPr>
            <a:r>
              <a:t>03. Fully Connected DNN 직접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1353312"/>
            <a:ext cx="10972800" cy="36576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A78"/>
                </a:solidFill>
                <a:latin typeface="Malgun Gothic"/>
              </a:defRPr>
            </a:pPr>
            <a:r>
              <a:t>2024.08–2025.06  ·  PG  · 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457200" cy="182880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38528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38528"/>
            <a:ext cx="2640330" cy="420624"/>
          </a:xfrm>
          <a:prstGeom prst="roundRect">
            <a:avLst/>
          </a:prstGeom>
          <a:solidFill>
            <a:srgbClr val="2B56C0"/>
          </a:solidFill>
          <a:ln>
            <a:solidFill>
              <a:srgbClr val="2B56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988820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505456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Neuron / Layer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Fully Connected Network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1938528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17570" y="1938528"/>
            <a:ext cx="2640330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7298" y="1988820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FORWARD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3874" y="2505456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Activation Function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Forward Propagation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5060" y="1938528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95060" y="1938528"/>
            <a:ext cx="2640330" cy="420624"/>
          </a:xfrm>
          <a:prstGeom prst="roundRect">
            <a:avLst/>
          </a:prstGeom>
          <a:solidFill>
            <a:srgbClr val="704CA6"/>
          </a:solidFill>
          <a:ln>
            <a:solidFill>
              <a:srgbClr val="70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4788" y="1988820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BACKWARD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1364" y="2505456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미분 / Chain Rule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Gradient 계산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2550" y="1938528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972550" y="1938528"/>
            <a:ext cx="2640330" cy="420624"/>
          </a:xfrm>
          <a:prstGeom prst="roundRect">
            <a:avLst/>
          </a:prstGeom>
          <a:solidFill>
            <a:srgbClr val="C56E2E"/>
          </a:solidFill>
          <a:ln>
            <a:solidFill>
              <a:srgbClr val="C5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82278" y="1988820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UPDATE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854" y="2505456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Weight / Bias 갱신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단위 테스트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60520"/>
            <a:ext cx="10515600" cy="1389888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22960" y="4160520"/>
            <a:ext cx="10515600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2688" y="4210812"/>
            <a:ext cx="1029614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VERIFICATION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4727448"/>
            <a:ext cx="10222992" cy="768096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242D38"/>
                </a:solidFill>
                <a:latin typeface="Malgun Gothic"/>
              </a:defRPr>
            </a:pPr>
            <a:r>
              <a:t>수학적 기댓값과 출력·Gradient를 비교하는 단위 테스트로 구현 정확성 검증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01168"/>
            <a:ext cx="8229600" cy="27432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398153"/>
                </a:solidFill>
                <a:latin typeface="Malgun Gothic"/>
              </a:defRPr>
            </a:pPr>
            <a:r>
              <a:t>AI SOFTWARE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530352"/>
            <a:ext cx="10972800" cy="16459"/>
          </a:xfrm>
          <a:prstGeom prst="rect">
            <a:avLst/>
          </a:prstGeom>
          <a:solidFill>
            <a:srgbClr val="398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1064240" cy="621792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9365B"/>
                </a:solidFill>
                <a:latin typeface="Malgun Gothic"/>
              </a:defRPr>
            </a:pPr>
            <a:r>
              <a:t>04. Reusable Spring Boot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1353312"/>
            <a:ext cx="10972800" cy="36576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A78"/>
                </a:solidFill>
                <a:latin typeface="Malgun Gothic"/>
              </a:defRPr>
            </a:pPr>
            <a:r>
              <a:t>2025.07–2025.08  ·  Application Architect  ·  Java 21 / Spring Boot 3.3.1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457200" cy="182880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2640330" cy="420624"/>
          </a:xfrm>
          <a:prstGeom prst="roundRect">
            <a:avLst/>
          </a:prstGeom>
          <a:solidFill>
            <a:srgbClr val="2B56C0"/>
          </a:solidFill>
          <a:ln>
            <a:solidFill>
              <a:srgbClr val="2B56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201625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SERVICE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53288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Controller / Service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Config / AOP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196596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17570" y="1965960"/>
            <a:ext cx="2640330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7298" y="201625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3874" y="253288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SecurityFilterChain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Stateless / BCrypt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5060" y="196596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95060" y="1965960"/>
            <a:ext cx="2640330" cy="420624"/>
          </a:xfrm>
          <a:prstGeom prst="roundRect">
            <a:avLst/>
          </a:prstGeom>
          <a:solidFill>
            <a:srgbClr val="704CA6"/>
          </a:solidFill>
          <a:ln>
            <a:solidFill>
              <a:srgbClr val="70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4788" y="201625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1364" y="253288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RestTemplate / WebClient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Connection Pool / Timeout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2550" y="196596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972550" y="1965960"/>
            <a:ext cx="2640330" cy="420624"/>
          </a:xfrm>
          <a:prstGeom prst="roundRect">
            <a:avLst/>
          </a:prstGeom>
          <a:solidFill>
            <a:srgbClr val="C56E2E"/>
          </a:solidFill>
          <a:ln>
            <a:solidFill>
              <a:srgbClr val="C5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82278" y="2016252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COMMON CONCERNS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854" y="253288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Validation / Exception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Logging / API Test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206240"/>
            <a:ext cx="10497312" cy="1234440"/>
          </a:xfrm>
          <a:prstGeom prst="roundRect">
            <a:avLst/>
          </a:prstGeom>
          <a:solidFill>
            <a:srgbClr val="F6F8FC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0704" y="4434840"/>
            <a:ext cx="2286000" cy="411480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398153"/>
                </a:solidFill>
                <a:latin typeface="Malgun Gothic"/>
              </a:defRPr>
            </a:pPr>
            <a:r>
              <a:t>AI 연동과의 관계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407408"/>
            <a:ext cx="7680960" cy="329321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AI 추론 API 연계에 필요한 서비스·보안·통신·예외 처리 기반 설계 (추론 서비스 구현 실적과 구분)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01168"/>
            <a:ext cx="8229600" cy="27432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398153"/>
                </a:solidFill>
                <a:latin typeface="Malgun Gothic"/>
              </a:defRPr>
            </a:pPr>
            <a:r>
              <a:t>AI SOFTWARE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530352"/>
            <a:ext cx="10972800" cy="16459"/>
          </a:xfrm>
          <a:prstGeom prst="rect">
            <a:avLst/>
          </a:prstGeom>
          <a:solidFill>
            <a:srgbClr val="398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1064240" cy="437043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9365B"/>
                </a:solidFill>
                <a:latin typeface="Malgun Gothic"/>
              </a:defRPr>
            </a:pPr>
            <a:r>
              <a:rPr lang="en-US" dirty="0"/>
              <a:t>05. </a:t>
            </a:r>
            <a:r>
              <a:rPr dirty="0"/>
              <a:t>Software Engineering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1353312"/>
            <a:ext cx="10972800" cy="36576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A78"/>
                </a:solidFill>
                <a:latin typeface="Malgun Gothic"/>
              </a:defRPr>
            </a:pPr>
            <a:r>
              <a:t>AI 모델을 실제 시스템과 연결하는 기반 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457200" cy="182880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3520440" cy="288036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3520440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5528" y="1879092"/>
            <a:ext cx="330098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PERFORMANCE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395728"/>
            <a:ext cx="3227832" cy="2258568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242D38"/>
                </a:solidFill>
                <a:latin typeface="Malgun Gothic"/>
              </a:defRPr>
            </a:pPr>
            <a:r>
              <a:rPr dirty="0"/>
              <a:t>Samsung SDS</a:t>
            </a:r>
            <a:endParaRPr lang="en-US" dirty="0"/>
          </a:p>
          <a:p>
            <a:pPr>
              <a:spcAft>
                <a:spcPts val="700"/>
              </a:spcAft>
              <a:defRPr sz="1600" b="0">
                <a:solidFill>
                  <a:srgbClr val="242D38"/>
                </a:solidFill>
                <a:latin typeface="Malgun Gothic"/>
              </a:defRPr>
            </a:pPr>
            <a:r>
              <a:rPr lang="en-US" dirty="0"/>
              <a:t>RCP </a:t>
            </a:r>
            <a:r>
              <a:rPr lang="en-US" dirty="0" err="1"/>
              <a:t>PlugIn</a:t>
            </a:r>
            <a:r>
              <a:rPr lang="en-US" dirty="0"/>
              <a:t> </a:t>
            </a:r>
            <a:r>
              <a:rPr lang="ko-KR" altLang="en-US" dirty="0"/>
              <a:t>개발</a:t>
            </a:r>
            <a:endParaRPr dirty="0"/>
          </a:p>
          <a:p>
            <a:pPr>
              <a:spcAft>
                <a:spcPts val="700"/>
              </a:spcAft>
              <a:defRPr sz="1600" b="0">
                <a:solidFill>
                  <a:srgbClr val="242D38"/>
                </a:solidFill>
                <a:latin typeface="Malgun Gothic"/>
              </a:defRPr>
            </a:pPr>
            <a:r>
              <a:rPr dirty="0" err="1"/>
              <a:t>기업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개발</a:t>
            </a:r>
            <a:r>
              <a:rPr dirty="0"/>
              <a:t> 및 Batch Procedure </a:t>
            </a:r>
            <a:r>
              <a:rPr dirty="0" err="1"/>
              <a:t>개선</a:t>
            </a:r>
            <a:endParaRPr dirty="0"/>
          </a:p>
          <a:p>
            <a:pPr>
              <a:spcAft>
                <a:spcPts val="700"/>
              </a:spcAft>
              <a:defRPr sz="1600" b="0">
                <a:solidFill>
                  <a:srgbClr val="242D38"/>
                </a:solidFill>
                <a:latin typeface="Malgun Gothic"/>
              </a:defRPr>
            </a:pPr>
            <a:r>
              <a:rPr dirty="0" err="1"/>
              <a:t>배치</a:t>
            </a:r>
            <a:r>
              <a:rPr dirty="0"/>
              <a:t> </a:t>
            </a:r>
            <a:r>
              <a:rPr dirty="0" err="1"/>
              <a:t>처리시간</a:t>
            </a:r>
            <a:r>
              <a:rPr dirty="0"/>
              <a:t> 약 24h → 2h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828800"/>
            <a:ext cx="3520440" cy="288036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43400" y="1828800"/>
            <a:ext cx="3520440" cy="420624"/>
          </a:xfrm>
          <a:prstGeom prst="roundRect">
            <a:avLst/>
          </a:prstGeom>
          <a:solidFill>
            <a:srgbClr val="2B56C0"/>
          </a:solidFill>
          <a:ln>
            <a:solidFill>
              <a:srgbClr val="2B56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53128" y="1879092"/>
            <a:ext cx="330098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95728"/>
            <a:ext cx="3227832" cy="2258568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242D38"/>
                </a:solidFill>
                <a:latin typeface="Malgun Gothic"/>
              </a:defRPr>
            </a:pPr>
            <a:r>
              <a:rPr dirty="0" err="1"/>
              <a:t>CubicWave</a:t>
            </a:r>
            <a:endParaRPr dirty="0"/>
          </a:p>
          <a:p>
            <a:pPr>
              <a:spcAft>
                <a:spcPts val="700"/>
              </a:spcAft>
              <a:defRPr sz="1600" b="0">
                <a:solidFill>
                  <a:srgbClr val="242D38"/>
                </a:solidFill>
                <a:latin typeface="Malgun Gothic"/>
              </a:defRPr>
            </a:pPr>
            <a:r>
              <a:rPr dirty="0" err="1"/>
              <a:t>모바일</a:t>
            </a:r>
            <a:r>
              <a:rPr dirty="0"/>
              <a:t> </a:t>
            </a:r>
            <a:r>
              <a:rPr dirty="0" err="1"/>
              <a:t>플랫폼·하드웨어</a:t>
            </a:r>
            <a:r>
              <a:rPr dirty="0"/>
              <a:t> </a:t>
            </a:r>
            <a:r>
              <a:rPr dirty="0" err="1"/>
              <a:t>연동</a:t>
            </a:r>
            <a:endParaRPr dirty="0"/>
          </a:p>
          <a:p>
            <a:pPr>
              <a:spcAft>
                <a:spcPts val="700"/>
              </a:spcAft>
              <a:defRPr sz="1600" b="0">
                <a:solidFill>
                  <a:srgbClr val="242D38"/>
                </a:solidFill>
                <a:latin typeface="Malgun Gothic"/>
              </a:defRPr>
            </a:pPr>
            <a:r>
              <a:rPr dirty="0"/>
              <a:t>Bluetooth / </a:t>
            </a:r>
            <a:r>
              <a:rPr dirty="0" err="1"/>
              <a:t>멀티미디어</a:t>
            </a:r>
            <a:r>
              <a:rPr dirty="0"/>
              <a:t> / </a:t>
            </a:r>
            <a:r>
              <a:rPr dirty="0" err="1"/>
              <a:t>인증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8001000" y="1828800"/>
            <a:ext cx="3520440" cy="288036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01000" y="1828800"/>
            <a:ext cx="3520440" cy="420624"/>
          </a:xfrm>
          <a:prstGeom prst="roundRect">
            <a:avLst/>
          </a:prstGeom>
          <a:solidFill>
            <a:srgbClr val="704CA6"/>
          </a:solidFill>
          <a:ln>
            <a:solidFill>
              <a:srgbClr val="70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10727" y="1879092"/>
            <a:ext cx="330098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395728"/>
            <a:ext cx="3227832" cy="2258568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242D38"/>
                </a:solidFill>
                <a:latin typeface="Malgun Gothic"/>
              </a:defRPr>
            </a:pPr>
            <a:r>
              <a:t>TrueMobile</a:t>
            </a:r>
          </a:p>
          <a:p>
            <a:pPr>
              <a:spcAft>
                <a:spcPts val="700"/>
              </a:spcAft>
              <a:defRPr sz="1600" b="0">
                <a:solidFill>
                  <a:srgbClr val="242D38"/>
                </a:solidFill>
                <a:latin typeface="Malgun Gothic"/>
              </a:defRPr>
            </a:pPr>
            <a:r>
              <a:t>중국·홍콩·대만 Localization</a:t>
            </a:r>
          </a:p>
          <a:p>
            <a:pPr>
              <a:spcAft>
                <a:spcPts val="700"/>
              </a:spcAft>
              <a:defRPr sz="1600" b="0">
                <a:solidFill>
                  <a:srgbClr val="242D38"/>
                </a:solidFill>
                <a:latin typeface="Malgun Gothic"/>
              </a:defRPr>
            </a:pPr>
            <a:r>
              <a:t>결함 수정·해외 QA 협업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010912"/>
            <a:ext cx="10515600" cy="777240"/>
          </a:xfrm>
          <a:prstGeom prst="roundRect">
            <a:avLst/>
          </a:prstGeom>
          <a:solidFill>
            <a:srgbClr val="F6F8FC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24128" y="5212080"/>
            <a:ext cx="10058400" cy="438912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 algn="ctr">
              <a:spcAft>
                <a:spcPts val="700"/>
              </a:spcAft>
              <a:defRPr sz="1800" b="1">
                <a:solidFill>
                  <a:srgbClr val="19365B"/>
                </a:solidFill>
                <a:latin typeface="Malgun Gothic"/>
              </a:defRPr>
            </a:pPr>
            <a:r>
              <a:t>Performance Optimization  ·  Platform Integration  ·  Verification &amp; Collaboration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01168"/>
            <a:ext cx="8229600" cy="27432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398153"/>
                </a:solidFill>
                <a:latin typeface="Malgun Gothic"/>
              </a:defRPr>
            </a:pPr>
            <a:r>
              <a:t>AI SOFTWARE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530352"/>
            <a:ext cx="10972800" cy="16459"/>
          </a:xfrm>
          <a:prstGeom prst="rect">
            <a:avLst/>
          </a:prstGeom>
          <a:solidFill>
            <a:srgbClr val="3981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1064240" cy="437043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9365B"/>
                </a:solidFill>
                <a:latin typeface="Malgun Gothic"/>
              </a:defRPr>
            </a:pPr>
            <a:r>
              <a:rPr lang="en-US" dirty="0"/>
              <a:t>06. </a:t>
            </a:r>
            <a:r>
              <a:rPr dirty="0"/>
              <a:t>Technical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1353312"/>
            <a:ext cx="10972800" cy="36576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A78"/>
                </a:solidFill>
                <a:latin typeface="Malgun Gothic"/>
              </a:defRPr>
            </a:pPr>
            <a:r>
              <a:t>AI Software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457200" cy="182880"/>
          </a:xfrm>
          <a:prstGeom prst="rect">
            <a:avLst/>
          </a:prstGeom>
          <a:noFill/>
        </p:spPr>
        <p:txBody>
          <a:bodyPr wrap="square" lIns="64008" tIns="0" rIns="45720" bIns="0">
            <a:normAutofit fontScale="77500" lnSpcReduction="20000"/>
          </a:bodyPr>
          <a:lstStyle/>
          <a:p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10698480" cy="1325880"/>
          </a:xfrm>
          <a:prstGeom prst="roundRect">
            <a:avLst/>
          </a:prstGeom>
          <a:solidFill>
            <a:srgbClr val="F6F8FC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176272"/>
            <a:ext cx="10241280" cy="594360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 algn="ctr">
              <a:spcAft>
                <a:spcPts val="700"/>
              </a:spcAft>
              <a:defRPr sz="1900" b="1">
                <a:solidFill>
                  <a:srgbClr val="19365B"/>
                </a:solidFill>
                <a:latin typeface="Malgun Gothic"/>
              </a:defRPr>
            </a:pPr>
            <a:r>
              <a:t>모델 구현 · 학습 공통화 · 진단 설계 · 실행환경 분석 · 서비스 아키텍처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0332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3703320"/>
            <a:ext cx="2640330" cy="420624"/>
          </a:xfrm>
          <a:prstGeom prst="roundRect">
            <a:avLst/>
          </a:prstGeom>
          <a:solidFill>
            <a:srgbClr val="2B56C0"/>
          </a:solidFill>
          <a:ln>
            <a:solidFill>
              <a:srgbClr val="2B56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3753611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42702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Transformer / DNN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Forward / Backward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7570" y="370332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17570" y="3703320"/>
            <a:ext cx="2640330" cy="420624"/>
          </a:xfrm>
          <a:prstGeom prst="roundRect">
            <a:avLst/>
          </a:prstGeom>
          <a:solidFill>
            <a:srgbClr val="398153"/>
          </a:solidFill>
          <a:ln>
            <a:solidFill>
              <a:srgbClr val="3981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7298" y="3753611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3874" y="42702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Model-independent Core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Checkpoint / 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5060" y="370332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95060" y="3703320"/>
            <a:ext cx="2640330" cy="420624"/>
          </a:xfrm>
          <a:prstGeom prst="roundRect">
            <a:avLst/>
          </a:prstGeom>
          <a:solidFill>
            <a:srgbClr val="704CA6"/>
          </a:solidFill>
          <a:ln>
            <a:solidFill>
              <a:srgbClr val="70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4788" y="3753611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RUNTIME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1364" y="42702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CPU / CUDA / XPU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t>Device Profiling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550" y="3703320"/>
            <a:ext cx="264033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972550" y="3703320"/>
            <a:ext cx="2640330" cy="420624"/>
          </a:xfrm>
          <a:prstGeom prst="roundRect">
            <a:avLst/>
          </a:prstGeom>
          <a:solidFill>
            <a:srgbClr val="C56E2E"/>
          </a:solidFill>
          <a:ln>
            <a:solidFill>
              <a:srgbClr val="C5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82278" y="3753611"/>
            <a:ext cx="2420874" cy="320040"/>
          </a:xfrm>
          <a:prstGeom prst="rect">
            <a:avLst/>
          </a:prstGeom>
          <a:noFill/>
        </p:spPr>
        <p:txBody>
          <a:bodyPr wrap="square" lIns="64008" tIns="0" rIns="45720" bIns="0">
            <a:norm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8854" y="4270248"/>
            <a:ext cx="2347722" cy="978407"/>
          </a:xfrm>
          <a:prstGeom prst="rect">
            <a:avLst/>
          </a:prstGeom>
          <a:noFill/>
        </p:spPr>
        <p:txBody>
          <a:bodyPr wrap="square" lIns="64008" tIns="36576" rIns="45720">
            <a:norm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rPr dirty="0"/>
              <a:t>Java / Spring</a:t>
            </a:r>
          </a:p>
          <a:p>
            <a:pPr>
              <a:spcAft>
                <a:spcPts val="700"/>
              </a:spcAft>
              <a:defRPr sz="1200" b="0">
                <a:solidFill>
                  <a:srgbClr val="242D38"/>
                </a:solidFill>
                <a:latin typeface="Malgun Gothic"/>
              </a:defRPr>
            </a:pPr>
            <a:r>
              <a:rPr dirty="0"/>
              <a:t>Integration Foundation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3058</Words>
  <Application>Microsoft Office PowerPoint</Application>
  <PresentationFormat>와이드스크린</PresentationFormat>
  <Paragraphs>394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노미정</cp:lastModifiedBy>
  <cp:revision>49</cp:revision>
  <dcterms:created xsi:type="dcterms:W3CDTF">2013-01-27T09:14:16Z</dcterms:created>
  <dcterms:modified xsi:type="dcterms:W3CDTF">2026-10-27T16:08:49Z</dcterms:modified>
  <cp:category/>
</cp:coreProperties>
</file>
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8E9520-0EB2-4B18-831A-518661E93F2E}" v="4" dt="2026-06-25T10:45:17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86" autoAdjust="0"/>
  </p:normalViewPr>
  <p:slideViewPr>
    <p:cSldViewPr snapToGrid="0">
      <p:cViewPr varScale="1">
        <p:scale>
          <a:sx n="47" d="100"/>
          <a:sy n="47" d="100"/>
        </p:scale>
        <p:origin x="13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0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프로젝트 문제의식은 </a:t>
            </a:r>
            <a:r>
              <a:rPr lang="ko-KR" dirty="0" err="1"/>
              <a:t>뷰티·메이크업</a:t>
            </a:r>
            <a:r>
              <a:rPr lang="ko-KR" dirty="0"/>
              <a:t> 콘텐츠가 대부분 단방향이라는 점입니다.</a:t>
            </a:r>
          </a:p>
          <a:p>
            <a:r>
              <a:rPr lang="ko-KR" dirty="0"/>
              <a:t>개별 피부 상태, </a:t>
            </a:r>
            <a:r>
              <a:rPr lang="ko-KR" altLang="en-US" dirty="0"/>
              <a:t>얼굴 윤곽에 따른 메이크업 방법</a:t>
            </a:r>
            <a:r>
              <a:rPr lang="en-US" altLang="ko-KR" dirty="0"/>
              <a:t>, </a:t>
            </a:r>
            <a:r>
              <a:rPr lang="ko-KR" dirty="0"/>
              <a:t>피부 고민, 제품 선호도, 메이크업 목적을 </a:t>
            </a:r>
            <a:r>
              <a:rPr lang="ko-KR" altLang="en-US" dirty="0"/>
              <a:t>실시간으로</a:t>
            </a:r>
            <a:r>
              <a:rPr lang="ko-KR" dirty="0"/>
              <a:t> 반영하기 어렵습니다.</a:t>
            </a:r>
          </a:p>
          <a:p>
            <a:pPr marL="0" indent="0">
              <a:buNone/>
            </a:pPr>
            <a:r>
              <a:rPr lang="ko-KR" altLang="en-US" dirty="0"/>
              <a:t>이 문제의 해결은 </a:t>
            </a:r>
            <a:r>
              <a:rPr lang="ko-KR" altLang="en-US" sz="1200" dirty="0">
                <a:solidFill>
                  <a:srgbClr val="334155"/>
                </a:solidFill>
              </a:rPr>
              <a:t>거울이 실시간 그대로 얼굴을 보여주듯이 실시간으로 메이크업 하는 얼굴을 인식하고 메이크업 </a:t>
            </a:r>
            <a:r>
              <a:rPr lang="en-US" altLang="ko-KR" sz="1200" dirty="0" err="1">
                <a:solidFill>
                  <a:srgbClr val="334155"/>
                </a:solidFill>
              </a:rPr>
              <a:t>코칭</a:t>
            </a:r>
            <a:r>
              <a:rPr lang="ko-KR" altLang="en-US" sz="1200" dirty="0">
                <a:solidFill>
                  <a:srgbClr val="334155"/>
                </a:solidFill>
              </a:rPr>
              <a:t>으로 함으로써 단방향 정보의 한계를 </a:t>
            </a:r>
            <a:r>
              <a:rPr lang="ko-KR" altLang="en-US" sz="1200" dirty="0" err="1">
                <a:solidFill>
                  <a:srgbClr val="334155"/>
                </a:solidFill>
              </a:rPr>
              <a:t>해결할수</a:t>
            </a:r>
            <a:r>
              <a:rPr lang="ko-KR" altLang="en-US" sz="1200" dirty="0">
                <a:solidFill>
                  <a:srgbClr val="334155"/>
                </a:solidFill>
              </a:rPr>
              <a:t> 있습니다</a:t>
            </a:r>
            <a:r>
              <a:rPr lang="en-US" altLang="ko-KR" sz="1200" dirty="0">
                <a:solidFill>
                  <a:srgbClr val="334155"/>
                </a:solidFill>
              </a:rPr>
              <a:t>. </a:t>
            </a:r>
            <a:r>
              <a:rPr lang="ko-KR" altLang="en-US" sz="1200" dirty="0">
                <a:solidFill>
                  <a:srgbClr val="334155"/>
                </a:solidFill>
              </a:rPr>
              <a:t>이 프로젝트에서는 그 중 일부분인 코칭 문장을 생성하는 </a:t>
            </a:r>
            <a:r>
              <a:rPr lang="en-US" altLang="ko-KR" sz="1200" dirty="0">
                <a:solidFill>
                  <a:srgbClr val="334155"/>
                </a:solidFill>
              </a:rPr>
              <a:t>Small Language Model</a:t>
            </a:r>
            <a:r>
              <a:rPr lang="ko-KR" altLang="en-US" sz="1200" dirty="0">
                <a:solidFill>
                  <a:srgbClr val="334155"/>
                </a:solidFill>
              </a:rPr>
              <a:t>을 개발합니다</a:t>
            </a:r>
            <a:r>
              <a:rPr lang="en-US" altLang="ko-KR" sz="1200" dirty="0">
                <a:solidFill>
                  <a:srgbClr val="334155"/>
                </a:solidFill>
              </a:rPr>
              <a:t>.  </a:t>
            </a:r>
          </a:p>
          <a:p>
            <a:r>
              <a:rPr lang="ko-KR" dirty="0"/>
              <a:t>범위는 MVP 기준으로 데이터 전처리부터 추론까지 전체 파이프라인을 직접 구현하는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이번 프로젝트의 성공 기준은 완성된 거대 모델 품질보다 학습 가능한 Decoder-only 구조를 직접 만드는 데 있습니다.</a:t>
            </a:r>
          </a:p>
          <a:p>
            <a:r>
              <a:rPr lang="ko-KR"/>
              <a:t>구현 범위는 tokenizer, decoder block, 학습 루프, 모델 저장과 로드, 텍스트 생성입니다.</a:t>
            </a:r>
          </a:p>
          <a:p>
            <a:r>
              <a:rPr lang="ko-KR"/>
              <a:t>Loss가 감소하고 작은 데이터 과적합이 가능하면 모델 구조와 학습 파이프라인은 정상으로 볼 수 있습니다.</a:t>
            </a:r>
          </a:p>
          <a:p>
            <a:r>
              <a:rPr lang="ko-KR"/>
              <a:t>일반화 성능과 답변 품질은 이후 검증 데이터와 생성 샘플 평가로 개선해야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데이터는 일반 한국어 대화와 문제성 피부 메이크업 Q&amp;A 데이터를 함께 사용했습니다.</a:t>
            </a:r>
          </a:p>
          <a:p>
            <a:r>
              <a:rPr lang="ko-KR"/>
              <a:t>일반 대화 데이터는 기본적인 한국어 문장 패턴 학습에 사용하고, 메이크업 데이터는 도메인 지식과 답변 형식 학습에 사용합니다.</a:t>
            </a:r>
          </a:p>
          <a:p>
            <a:r>
              <a:rPr lang="ko-KR"/>
              <a:t>각 raw record는 FINAL_SENTENCE 컬럼 하나로 통합해 language modeling 문장으로 변환했습니다.</a:t>
            </a:r>
          </a:p>
          <a:p>
            <a:r>
              <a:rPr lang="ko-KR"/>
              <a:t>초기에는 태그를 많이 넣었지만, 작은 모델에서는 태그 순서를 외우는 문제가 생길 수 있어 최종적으로는 질문, 답변, 종료 토큰 중심의 단순화를 검토했습니다.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전체 구조는 </a:t>
            </a:r>
            <a:r>
              <a:rPr lang="ko-KR" dirty="0" err="1"/>
              <a:t>raw</a:t>
            </a:r>
            <a:r>
              <a:rPr lang="ko-KR" dirty="0"/>
              <a:t> </a:t>
            </a:r>
            <a:r>
              <a:rPr lang="ko-KR" dirty="0" err="1"/>
              <a:t>data에서</a:t>
            </a:r>
            <a:r>
              <a:rPr lang="ko-KR" dirty="0"/>
              <a:t> 시작해 </a:t>
            </a:r>
            <a:r>
              <a:rPr lang="ko-KR" dirty="0" err="1"/>
              <a:t>token</a:t>
            </a:r>
            <a:r>
              <a:rPr lang="ko-KR" dirty="0"/>
              <a:t> </a:t>
            </a:r>
            <a:r>
              <a:rPr lang="ko-KR" dirty="0" err="1"/>
              <a:t>id로</a:t>
            </a:r>
            <a:r>
              <a:rPr lang="ko-KR" dirty="0"/>
              <a:t> 변환하고, </a:t>
            </a:r>
            <a:r>
              <a:rPr lang="ko-KR" dirty="0" err="1"/>
              <a:t>embedding과</a:t>
            </a:r>
            <a:r>
              <a:rPr lang="ko-KR" dirty="0"/>
              <a:t> </a:t>
            </a:r>
            <a:r>
              <a:rPr lang="ko-KR" dirty="0" err="1"/>
              <a:t>positional</a:t>
            </a:r>
            <a:r>
              <a:rPr lang="ko-KR" dirty="0"/>
              <a:t> </a:t>
            </a:r>
            <a:r>
              <a:rPr lang="ko-KR" dirty="0" err="1"/>
              <a:t>encoding을</a:t>
            </a:r>
            <a:r>
              <a:rPr lang="ko-KR" dirty="0"/>
              <a:t> 거쳐 </a:t>
            </a:r>
            <a:r>
              <a:rPr lang="ko-KR" dirty="0" err="1"/>
              <a:t>decoder</a:t>
            </a:r>
            <a:r>
              <a:rPr lang="ko-KR" dirty="0"/>
              <a:t> </a:t>
            </a:r>
            <a:r>
              <a:rPr lang="ko-KR" dirty="0" err="1"/>
              <a:t>block을</a:t>
            </a:r>
            <a:r>
              <a:rPr lang="ko-KR" dirty="0"/>
              <a:t> 통과하는 흐름입니다.</a:t>
            </a:r>
          </a:p>
          <a:p>
            <a:r>
              <a:rPr lang="ko-KR" dirty="0"/>
              <a:t>모델 출력은 각 위치마다 다음 </a:t>
            </a:r>
            <a:r>
              <a:rPr lang="ko-KR" dirty="0" err="1"/>
              <a:t>token</a:t>
            </a:r>
            <a:r>
              <a:rPr lang="ko-KR" dirty="0"/>
              <a:t> 후보에 대한 </a:t>
            </a:r>
            <a:r>
              <a:rPr lang="ko-KR" dirty="0" err="1"/>
              <a:t>logits입니다</a:t>
            </a:r>
            <a:r>
              <a:rPr lang="ko-KR" dirty="0"/>
              <a:t>.</a:t>
            </a:r>
          </a:p>
          <a:p>
            <a:r>
              <a:rPr lang="ko-KR" dirty="0"/>
              <a:t>학습에서는 전체 </a:t>
            </a:r>
            <a:r>
              <a:rPr lang="ko-KR" dirty="0" err="1"/>
              <a:t>sequence의</a:t>
            </a:r>
            <a:r>
              <a:rPr lang="ko-KR" dirty="0"/>
              <a:t> 다음 </a:t>
            </a:r>
            <a:r>
              <a:rPr lang="ko-KR" dirty="0" err="1"/>
              <a:t>token을</a:t>
            </a:r>
            <a:r>
              <a:rPr lang="ko-KR" dirty="0"/>
              <a:t> 동시에 예측하고, 추론에서는 마지막 위치의 확률분포를 이용해 </a:t>
            </a:r>
            <a:r>
              <a:rPr lang="ko-KR" dirty="0" err="1"/>
              <a:t>token을</a:t>
            </a:r>
            <a:r>
              <a:rPr lang="ko-KR" dirty="0"/>
              <a:t> 하나씩 생성합니다.</a:t>
            </a:r>
          </a:p>
          <a:p>
            <a:r>
              <a:rPr lang="ko-KR" dirty="0"/>
              <a:t>이 구조가 GPT 계열 </a:t>
            </a:r>
            <a:r>
              <a:rPr lang="ko-KR" dirty="0" err="1"/>
              <a:t>Decoder-only</a:t>
            </a:r>
            <a:r>
              <a:rPr lang="ko-KR" dirty="0"/>
              <a:t> 언어모델의 기본 동작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err="1"/>
              <a:t>Tokenizer는</a:t>
            </a:r>
            <a:r>
              <a:rPr lang="ko-KR"/>
              <a:t> 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한국어 문장을 </a:t>
            </a:r>
            <a:r>
              <a:rPr lang="ko-KR" altLang="ko-KR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서브워드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단위로 분리하기 위해 </a:t>
            </a:r>
            <a:r>
              <a:rPr lang="ko-KR" err="1"/>
              <a:t>SentencePiece</a:t>
            </a:r>
            <a:r>
              <a:rPr lang="ko-KR"/>
              <a:t> BPE를 사용했습니다.</a:t>
            </a:r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(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본 프로젝트에서는 한국어 문장을 </a:t>
            </a:r>
            <a:r>
              <a:rPr lang="ko-KR" altLang="ko-KR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서브워드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단위로 분리하기 위해 </a:t>
            </a:r>
            <a:r>
              <a:rPr lang="ko-KR" altLang="ko-KR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센텐스피스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비피이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토크나이저를</a:t>
            </a:r>
            <a:r>
              <a:rPr lang="ko-KR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사용했습니다.</a:t>
            </a:r>
            <a:r>
              <a:rPr lang="en-US" altLang="ko-K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ko-KR"/>
          </a:p>
          <a:p>
            <a:r>
              <a:rPr lang="ko-KR"/>
              <a:t>한국어는 조사와 어미 결합으로 단어 형태가 다양하므로 공백 기준 tokenization보다 subword 기반이 적합합니다.</a:t>
            </a:r>
          </a:p>
          <a:p>
            <a:r>
              <a:rPr lang="ko-KR"/>
              <a:t>CSV의 FINAL_SENTENCE를 corpus로 저장한 뒤 </a:t>
            </a:r>
            <a:r>
              <a:rPr lang="ko-KR" err="1"/>
              <a:t>SentencePieceTrainer로</a:t>
            </a:r>
            <a:r>
              <a:rPr lang="ko-KR"/>
              <a:t> model과 vocab 파일을 생성합니다.</a:t>
            </a:r>
          </a:p>
          <a:p>
            <a:r>
              <a:rPr lang="ko-KR"/>
              <a:t>이후 문장을 token id로 encode하고, nn.Embedding을 통해 각 token id를 128차원 vector로 변환합니다.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 err="1"/>
              <a:t>Transformer는</a:t>
            </a:r>
            <a:r>
              <a:rPr lang="ko-KR" dirty="0"/>
              <a:t> 입력 </a:t>
            </a:r>
            <a:r>
              <a:rPr lang="ko-KR" dirty="0" err="1"/>
              <a:t>token을</a:t>
            </a:r>
            <a:r>
              <a:rPr lang="ko-KR" dirty="0"/>
              <a:t> 병렬로 처리하므로 순서 정보가 별도로 필요합니다.</a:t>
            </a:r>
          </a:p>
          <a:p>
            <a:r>
              <a:rPr lang="ko-KR" dirty="0" err="1"/>
              <a:t>Positional</a:t>
            </a:r>
            <a:r>
              <a:rPr lang="ko-KR" dirty="0"/>
              <a:t> </a:t>
            </a:r>
            <a:r>
              <a:rPr lang="ko-KR" dirty="0" err="1"/>
              <a:t>Encoding은</a:t>
            </a:r>
            <a:r>
              <a:rPr lang="ko-KR" dirty="0"/>
              <a:t> </a:t>
            </a:r>
            <a:r>
              <a:rPr lang="ko-KR" dirty="0" err="1"/>
              <a:t>context_length와</a:t>
            </a:r>
            <a:r>
              <a:rPr lang="ko-KR" dirty="0"/>
              <a:t> </a:t>
            </a:r>
            <a:r>
              <a:rPr lang="ko-KR" dirty="0" err="1"/>
              <a:t>embed_size</a:t>
            </a:r>
            <a:r>
              <a:rPr lang="ko-KR" dirty="0"/>
              <a:t> 기준으로 위치별 </a:t>
            </a:r>
            <a:r>
              <a:rPr lang="ko-KR" dirty="0" err="1"/>
              <a:t>table을</a:t>
            </a:r>
            <a:r>
              <a:rPr lang="ko-KR" dirty="0"/>
              <a:t> 만들고, 짝수 차원에는 </a:t>
            </a:r>
            <a:r>
              <a:rPr lang="ko-KR" dirty="0" err="1"/>
              <a:t>sin</a:t>
            </a:r>
            <a:r>
              <a:rPr lang="ko-KR" dirty="0"/>
              <a:t>, 홀수 차원에는 </a:t>
            </a:r>
            <a:r>
              <a:rPr lang="ko-KR" dirty="0" err="1"/>
              <a:t>cos</a:t>
            </a:r>
            <a:r>
              <a:rPr lang="ko-KR" dirty="0"/>
              <a:t> 값을 넣습니다.</a:t>
            </a:r>
          </a:p>
          <a:p>
            <a:r>
              <a:rPr lang="ko-KR" dirty="0" err="1"/>
              <a:t>Embedding</a:t>
            </a:r>
            <a:r>
              <a:rPr lang="ko-KR" dirty="0"/>
              <a:t> </a:t>
            </a:r>
            <a:r>
              <a:rPr lang="ko-KR" dirty="0" err="1"/>
              <a:t>vector에</a:t>
            </a:r>
            <a:r>
              <a:rPr lang="ko-KR" dirty="0"/>
              <a:t> </a:t>
            </a:r>
            <a:r>
              <a:rPr lang="ko-KR" dirty="0" err="1"/>
              <a:t>positional</a:t>
            </a:r>
            <a:r>
              <a:rPr lang="ko-KR" dirty="0"/>
              <a:t> </a:t>
            </a:r>
            <a:r>
              <a:rPr lang="ko-KR" dirty="0" err="1"/>
              <a:t>encoding을</a:t>
            </a:r>
            <a:r>
              <a:rPr lang="ko-KR" dirty="0"/>
              <a:t> 더해 </a:t>
            </a:r>
            <a:r>
              <a:rPr lang="ko-KR" dirty="0" err="1"/>
              <a:t>token</a:t>
            </a:r>
            <a:r>
              <a:rPr lang="ko-KR" dirty="0"/>
              <a:t> 의미 정보와 위치 정보를 함께 갖는 </a:t>
            </a:r>
            <a:r>
              <a:rPr lang="ko-KR" dirty="0" err="1"/>
              <a:t>X를</a:t>
            </a:r>
            <a:r>
              <a:rPr lang="ko-KR" dirty="0"/>
              <a:t> 만듭니다.</a:t>
            </a:r>
          </a:p>
          <a:p>
            <a:r>
              <a:rPr lang="ko-KR" dirty="0" err="1"/>
              <a:t>Causal</a:t>
            </a:r>
            <a:r>
              <a:rPr lang="ko-KR" dirty="0"/>
              <a:t> </a:t>
            </a:r>
            <a:r>
              <a:rPr lang="ko-KR" dirty="0" err="1"/>
              <a:t>mask는</a:t>
            </a:r>
            <a:r>
              <a:rPr lang="ko-KR" dirty="0"/>
              <a:t> 현재 위치가 미래 </a:t>
            </a:r>
            <a:r>
              <a:rPr lang="ko-KR" dirty="0" err="1"/>
              <a:t>token을</a:t>
            </a:r>
            <a:r>
              <a:rPr lang="ko-KR" dirty="0"/>
              <a:t> 보지 못하게 하여 </a:t>
            </a:r>
            <a:r>
              <a:rPr lang="ko-KR" dirty="0" err="1"/>
              <a:t>Decoder-only</a:t>
            </a:r>
            <a:r>
              <a:rPr lang="ko-KR" dirty="0"/>
              <a:t> </a:t>
            </a:r>
            <a:r>
              <a:rPr lang="ko-KR" dirty="0" err="1"/>
              <a:t>next-token</a:t>
            </a:r>
            <a:r>
              <a:rPr lang="ko-KR" dirty="0"/>
              <a:t> </a:t>
            </a:r>
            <a:r>
              <a:rPr lang="ko-KR" dirty="0" err="1"/>
              <a:t>prediction</a:t>
            </a:r>
            <a:r>
              <a:rPr lang="ko-KR" dirty="0"/>
              <a:t> 조건을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 err="1"/>
              <a:t>Masked</a:t>
            </a:r>
            <a:r>
              <a:rPr lang="ko-KR" dirty="0"/>
              <a:t> </a:t>
            </a:r>
            <a:r>
              <a:rPr lang="ko-KR" dirty="0" err="1"/>
              <a:t>Multi-Head</a:t>
            </a:r>
            <a:r>
              <a:rPr lang="ko-KR" dirty="0"/>
              <a:t> </a:t>
            </a:r>
            <a:r>
              <a:rPr lang="ko-KR" dirty="0" err="1"/>
              <a:t>Self-Attention에서는</a:t>
            </a:r>
            <a:r>
              <a:rPr lang="ko-KR" dirty="0"/>
              <a:t> 같은 </a:t>
            </a:r>
            <a:r>
              <a:rPr lang="ko-KR" dirty="0" err="1"/>
              <a:t>X에서</a:t>
            </a:r>
            <a:r>
              <a:rPr lang="ko-KR" dirty="0"/>
              <a:t> </a:t>
            </a:r>
            <a:r>
              <a:rPr lang="ko-KR" dirty="0" err="1"/>
              <a:t>Q</a:t>
            </a:r>
            <a:r>
              <a:rPr lang="ko-KR" dirty="0"/>
              <a:t>, K, </a:t>
            </a:r>
            <a:r>
              <a:rPr lang="ko-KR" dirty="0" err="1"/>
              <a:t>V를</a:t>
            </a:r>
            <a:r>
              <a:rPr lang="ko-KR" dirty="0"/>
              <a:t> 생성합니다.</a:t>
            </a:r>
          </a:p>
          <a:p>
            <a:r>
              <a:rPr lang="ko-KR" dirty="0" err="1"/>
              <a:t>embed_size가</a:t>
            </a:r>
            <a:r>
              <a:rPr lang="ko-KR" dirty="0"/>
              <a:t> 128이고 </a:t>
            </a:r>
            <a:r>
              <a:rPr lang="ko-KR" dirty="0" err="1"/>
              <a:t>head가</a:t>
            </a:r>
            <a:r>
              <a:rPr lang="ko-KR" dirty="0"/>
              <a:t> 4개이면 각 </a:t>
            </a:r>
            <a:r>
              <a:rPr lang="ko-KR" dirty="0" err="1"/>
              <a:t>head는</a:t>
            </a:r>
            <a:r>
              <a:rPr lang="ko-KR" dirty="0"/>
              <a:t> 32차원씩 담당합니다.</a:t>
            </a:r>
          </a:p>
          <a:p>
            <a:r>
              <a:rPr lang="ko-KR" dirty="0"/>
              <a:t>각 </a:t>
            </a:r>
            <a:r>
              <a:rPr lang="ko-KR" dirty="0" err="1"/>
              <a:t>head는</a:t>
            </a:r>
            <a:r>
              <a:rPr lang="ko-KR" dirty="0"/>
              <a:t> QK 전치행렬로 </a:t>
            </a:r>
            <a:r>
              <a:rPr lang="ko-KR" dirty="0" err="1"/>
              <a:t>token</a:t>
            </a:r>
            <a:r>
              <a:rPr lang="ko-KR" dirty="0"/>
              <a:t> 간 관계 </a:t>
            </a:r>
            <a:r>
              <a:rPr lang="ko-KR" dirty="0" err="1"/>
              <a:t>score를</a:t>
            </a:r>
            <a:r>
              <a:rPr lang="ko-KR" dirty="0"/>
              <a:t> 만들고, </a:t>
            </a:r>
            <a:r>
              <a:rPr lang="ko-KR" dirty="0" err="1"/>
              <a:t>scaling과</a:t>
            </a:r>
            <a:r>
              <a:rPr lang="ko-KR" dirty="0"/>
              <a:t> </a:t>
            </a:r>
            <a:r>
              <a:rPr lang="ko-KR" dirty="0" err="1"/>
              <a:t>causal</a:t>
            </a:r>
            <a:r>
              <a:rPr lang="ko-KR" dirty="0"/>
              <a:t> </a:t>
            </a:r>
            <a:r>
              <a:rPr lang="ko-KR" dirty="0" err="1"/>
              <a:t>mask를</a:t>
            </a:r>
            <a:r>
              <a:rPr lang="ko-KR" dirty="0"/>
              <a:t> 적용한 뒤 </a:t>
            </a:r>
            <a:r>
              <a:rPr lang="ko-KR" dirty="0" err="1"/>
              <a:t>softmax로</a:t>
            </a:r>
            <a:r>
              <a:rPr lang="ko-KR" dirty="0"/>
              <a:t> </a:t>
            </a:r>
            <a:r>
              <a:rPr lang="ko-KR" dirty="0" err="1"/>
              <a:t>attention</a:t>
            </a:r>
            <a:r>
              <a:rPr lang="ko-KR" dirty="0"/>
              <a:t> </a:t>
            </a:r>
            <a:r>
              <a:rPr lang="ko-KR" dirty="0" err="1"/>
              <a:t>weight를</a:t>
            </a:r>
            <a:r>
              <a:rPr lang="ko-KR" dirty="0"/>
              <a:t> 계산합니다.</a:t>
            </a:r>
          </a:p>
          <a:p>
            <a:r>
              <a:rPr lang="ko-KR" dirty="0"/>
              <a:t>그 결과를 </a:t>
            </a:r>
            <a:r>
              <a:rPr lang="ko-KR" dirty="0" err="1"/>
              <a:t>V와</a:t>
            </a:r>
            <a:r>
              <a:rPr lang="ko-KR" dirty="0"/>
              <a:t> 곱해 </a:t>
            </a:r>
            <a:r>
              <a:rPr lang="ko-KR" dirty="0" err="1"/>
              <a:t>context</a:t>
            </a:r>
            <a:r>
              <a:rPr lang="ko-KR" dirty="0"/>
              <a:t> 정보를 만들고, </a:t>
            </a:r>
            <a:r>
              <a:rPr lang="ko-KR" dirty="0" err="1"/>
              <a:t>head</a:t>
            </a:r>
            <a:r>
              <a:rPr lang="ko-KR" dirty="0"/>
              <a:t> 결과를 </a:t>
            </a:r>
            <a:r>
              <a:rPr lang="ko-KR" dirty="0" err="1"/>
              <a:t>concat한</a:t>
            </a:r>
            <a:r>
              <a:rPr lang="ko-KR" dirty="0"/>
              <a:t> 뒤 </a:t>
            </a:r>
            <a:r>
              <a:rPr lang="ko-KR" dirty="0" err="1"/>
              <a:t>output</a:t>
            </a:r>
            <a:r>
              <a:rPr lang="ko-KR" dirty="0"/>
              <a:t> </a:t>
            </a:r>
            <a:r>
              <a:rPr lang="ko-KR" dirty="0" err="1"/>
              <a:t>projection을</a:t>
            </a:r>
            <a:r>
              <a:rPr lang="ko-KR" dirty="0"/>
              <a:t> 수행합니다.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Transformer Block은 attention만으로 끝나지 않고 residual connection, layer normalization, feed forward network를 함께 사용합니다.</a:t>
            </a:r>
          </a:p>
          <a:p>
            <a:r>
              <a:rPr lang="ko-KR"/>
              <a:t>먼저 Masked Multi-Head Attention 결과와 입력 query를 더한 뒤 LayerNorm을 적용합니다.</a:t>
            </a:r>
          </a:p>
          <a:p>
            <a:r>
              <a:rPr lang="ko-KR"/>
              <a:t>그 다음 Feed Forward Network에서 128차원 vector를 512차원으로 확장하고 GELU를 적용한 뒤 다시 128차원으로 축소합니다.</a:t>
            </a:r>
          </a:p>
          <a:p>
            <a:r>
              <a:rPr lang="ko-KR"/>
              <a:t>마지막으로 다시 residual add와 LayerNorm을 적용하여 다음 block으로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구현은 기능별 모듈로 분리했습니다.</a:t>
            </a:r>
          </a:p>
          <a:p>
            <a:r>
              <a:rPr lang="ko-KR"/>
              <a:t>CommonModule은 device 선택과 이동을 담당하고, SentencePieceEmbedding은 tokenizer 로드와 embedding을 담당합니다.</a:t>
            </a:r>
          </a:p>
          <a:p>
            <a:r>
              <a:rPr lang="ko-KR"/>
              <a:t>PositionalEncoding, MultiHeadSelfAttention, FeedForward, TransformerBlock을 각각 독립 클래스로 작성해 shape 단위로 검증했습니다.</a:t>
            </a:r>
          </a:p>
          <a:p>
            <a:r>
              <a:rPr lang="ko-KR"/>
              <a:t>MiniGpt는 이 모듈들을 통합해 embedding, position, 여러 decoder block, output linear layer 순서로 forward를 수행합니다.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학습 전략은 </a:t>
            </a:r>
            <a:r>
              <a:rPr lang="ko-KR" dirty="0" err="1"/>
              <a:t>base</a:t>
            </a:r>
            <a:r>
              <a:rPr lang="ko-KR" dirty="0"/>
              <a:t> 학습과 도메인 전이학습으로 나누었습니다.</a:t>
            </a:r>
          </a:p>
          <a:p>
            <a:r>
              <a:rPr lang="ko-KR" dirty="0"/>
              <a:t>일반 한국어 대화로 기본 문장 패턴을 먼저 학습하고, 이후 </a:t>
            </a:r>
            <a:r>
              <a:rPr lang="ko-KR" dirty="0" err="1"/>
              <a:t>메이크업·피부</a:t>
            </a:r>
            <a:r>
              <a:rPr lang="ko-KR" dirty="0"/>
              <a:t> Q&amp;A 데이터로 도메인 표현을 추가 학습하는 구조입니다.</a:t>
            </a:r>
          </a:p>
          <a:p>
            <a:r>
              <a:rPr lang="ko-KR" dirty="0"/>
              <a:t>검증에서는 작은 데이터 </a:t>
            </a:r>
            <a:r>
              <a:rPr lang="ko-KR" dirty="0" err="1"/>
              <a:t>과적합</a:t>
            </a:r>
            <a:r>
              <a:rPr lang="ko-KR" dirty="0"/>
              <a:t> 테스트를 먼저 수행했습니다.</a:t>
            </a:r>
          </a:p>
          <a:p>
            <a:r>
              <a:rPr lang="ko-KR" dirty="0"/>
              <a:t>작은 데이터 과적합은 </a:t>
            </a:r>
            <a:r>
              <a:rPr lang="ko-KR" dirty="0" err="1"/>
              <a:t>tokenizer</a:t>
            </a:r>
            <a:r>
              <a:rPr lang="ko-KR" dirty="0"/>
              <a:t>, </a:t>
            </a:r>
            <a:r>
              <a:rPr lang="ko-KR" dirty="0" err="1"/>
              <a:t>x</a:t>
            </a:r>
            <a:r>
              <a:rPr lang="ko-KR" dirty="0"/>
              <a:t>/</a:t>
            </a:r>
            <a:r>
              <a:rPr lang="ko-KR" dirty="0" err="1"/>
              <a:t>y</a:t>
            </a:r>
            <a:r>
              <a:rPr lang="ko-KR" dirty="0"/>
              <a:t> </a:t>
            </a:r>
            <a:r>
              <a:rPr lang="ko-KR" dirty="0" err="1"/>
              <a:t>shift</a:t>
            </a:r>
            <a:r>
              <a:rPr lang="ko-KR" dirty="0"/>
              <a:t>, </a:t>
            </a:r>
            <a:r>
              <a:rPr lang="ko-KR" dirty="0" err="1"/>
              <a:t>causal</a:t>
            </a:r>
            <a:r>
              <a:rPr lang="ko-KR" dirty="0"/>
              <a:t> </a:t>
            </a:r>
            <a:r>
              <a:rPr lang="ko-KR" dirty="0" err="1"/>
              <a:t>mask</a:t>
            </a:r>
            <a:r>
              <a:rPr lang="ko-KR" dirty="0"/>
              <a:t>, </a:t>
            </a:r>
            <a:r>
              <a:rPr lang="ko-KR" dirty="0" err="1"/>
              <a:t>loss</a:t>
            </a:r>
            <a:r>
              <a:rPr lang="ko-KR" dirty="0"/>
              <a:t>, </a:t>
            </a:r>
            <a:r>
              <a:rPr lang="ko-KR" dirty="0" err="1"/>
              <a:t>backward</a:t>
            </a:r>
            <a:r>
              <a:rPr lang="ko-KR" dirty="0"/>
              <a:t>, </a:t>
            </a:r>
            <a:r>
              <a:rPr lang="ko-KR" dirty="0" err="1"/>
              <a:t>optimizer</a:t>
            </a:r>
            <a:r>
              <a:rPr lang="ko-KR" dirty="0"/>
              <a:t>, </a:t>
            </a:r>
            <a:r>
              <a:rPr lang="ko-KR" dirty="0" err="1"/>
              <a:t>checkpoint</a:t>
            </a:r>
            <a:r>
              <a:rPr lang="ko-KR" dirty="0"/>
              <a:t> 저장이 정상인지 확인하는 목적입니다.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확인 결과, tokenizer 생성과 token 변환, embedding 변환, MiniGPT forward, loss 계산, backward, Adam update, checkpoint 저장이 정상 동작했습니다.</a:t>
            </a:r>
          </a:p>
          <a:p>
            <a:r>
              <a:rPr lang="ko-KR"/>
              <a:t>9개 문장 과적합 테스트에서는 epoch 160 근처에서 train loss가 약 0.034, train accuracy가 약 0.9905까지 도달했습니다.</a:t>
            </a:r>
          </a:p>
          <a:p>
            <a:r>
              <a:rPr lang="ko-KR"/>
              <a:t>이 결과는 모델이 작은 데이터를 거의 암기할 수 있음을 의미합니다.</a:t>
            </a:r>
          </a:p>
          <a:p>
            <a:r>
              <a:rPr lang="ko-KR"/>
              <a:t>다만 이것은 학습 파이프라인 정상성 검증이지, 새로운 질문에 대한 답변 품질 보장은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현재 한계는 크게 세 가지입니다.</a:t>
            </a:r>
          </a:p>
          <a:p>
            <a:r>
              <a:rPr lang="ko-KR"/>
              <a:t>첫째, 메이크업 데이터의 긴 문장이 context_length 512를 넘으면 답변 일부가 잘릴 수 있습니다.</a:t>
            </a:r>
          </a:p>
          <a:p>
            <a:r>
              <a:rPr lang="ko-KR"/>
              <a:t>둘째, 태그가 너무 많으면 작은 모델이 답변보다 태그 순서를 먼저 외울 수 있습니다.</a:t>
            </a:r>
          </a:p>
          <a:p>
            <a:r>
              <a:rPr lang="ko-KR"/>
              <a:t>셋째, 과적합 성공은 일반화 성능과 동일하지 않습니다.</a:t>
            </a:r>
          </a:p>
          <a:p>
            <a:r>
              <a:rPr lang="ko-KR"/>
              <a:t>개선 방향은 token 길이 분포 분석, 문장 포맷 단순화, train과 valid 분리, 생성 샘플 평가, temperature와 greedy decoding 비교입니다.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이번 프로젝트에서는 Decoder-only SLM의 전체 개발 흐름을 직접 구현하고 검증했습니다.</a:t>
            </a:r>
          </a:p>
          <a:p>
            <a:r>
              <a:rPr lang="ko-KR"/>
              <a:t>핵심 성과는 데이터 전처리, SentencePiece tokenizer, embedding, positional encoding, masked multi-head attention, feed forward, decoder block, 학습 루프를 하나의 파이프라인으로 연결한 점입니다.</a:t>
            </a:r>
          </a:p>
          <a:p>
            <a:r>
              <a:rPr lang="ko-KR"/>
              <a:t>다음 단계에서는 데이터 품질 개선, full dataset 학습, 생성 품질 평가를 진행하고, 이후 RAG, Agent, 멀티모달 기능으로 확장할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65196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Decoder-only SLM Project</a:t>
            </a:r>
            <a:endParaRPr lang="en-US" sz="700"/>
          </a:p>
        </p:txBody>
      </p:sp>
      <p:sp>
        <p:nvSpPr>
          <p:cNvPr id="4" name="Text 2"/>
          <p:cNvSpPr/>
          <p:nvPr/>
        </p:nvSpPr>
        <p:spPr>
          <a:xfrm>
            <a:off x="10515600" y="6519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2026.06.25</a:t>
            </a:r>
            <a:endParaRPr lang="en-US" sz="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메이크업·피부 데이터 기반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713232" y="1572768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Decoder-only SLM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프로젝트</a:t>
            </a:r>
            <a:endParaRPr lang="en-US" sz="3800"/>
          </a:p>
        </p:txBody>
      </p:sp>
      <p:sp>
        <p:nvSpPr>
          <p:cNvPr id="4" name="Text 2"/>
          <p:cNvSpPr/>
          <p:nvPr/>
        </p:nvSpPr>
        <p:spPr>
          <a:xfrm>
            <a:off x="749808" y="309067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Tokenizer · Embedding · Masked Multi-Head Attention · 학습 파이프라인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749808" y="553212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143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86968" y="565099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mijeong.roh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2560320" y="5650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2026.06.15–06.25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8549640" y="1143000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686800" y="1261872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IDs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9573768" y="1572768"/>
            <a:ext cx="0" cy="155448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549640" y="1801368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0" y="1920240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9573768" y="2231136"/>
            <a:ext cx="0" cy="155448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549640" y="2459736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686800" y="2578608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9573768" y="2889504"/>
            <a:ext cx="0" cy="155448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549640" y="3118104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686800" y="3236976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Masked MHA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9573768" y="3547872"/>
            <a:ext cx="0" cy="155448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549640" y="3776472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686800" y="3895344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FFN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9573768" y="4206240"/>
            <a:ext cx="0" cy="155448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549640" y="4434840"/>
            <a:ext cx="2057400" cy="41148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686800" y="4553712"/>
            <a:ext cx="1783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Logits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한눈에 보기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11일 동안 Decoder-only SLM의 핵심 구성요소를 직접 구현하고 검증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01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Overview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143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057400" y="1444752"/>
            <a:ext cx="8778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334155"/>
                </a:solidFill>
              </a:rPr>
              <a:t>뷰티·메이크업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en-US" sz="1500" dirty="0" err="1">
                <a:solidFill>
                  <a:srgbClr val="334155"/>
                </a:solidFill>
              </a:rPr>
              <a:t>콘텐츠는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en-US" sz="1500" dirty="0" err="1">
                <a:solidFill>
                  <a:srgbClr val="334155"/>
                </a:solidFill>
              </a:rPr>
              <a:t>대부분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en-US" sz="1500" dirty="0" err="1">
                <a:solidFill>
                  <a:srgbClr val="334155"/>
                </a:solidFill>
              </a:rPr>
              <a:t>단방향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ko-KR" altLang="en-US" sz="1500" dirty="0">
                <a:solidFill>
                  <a:srgbClr val="334155"/>
                </a:solidFill>
              </a:rPr>
              <a:t>정보를 주입하는 형태라서 실시간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en-US" sz="1500" dirty="0" err="1">
                <a:solidFill>
                  <a:srgbClr val="334155"/>
                </a:solidFill>
              </a:rPr>
              <a:t>피부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en-US" sz="1500" dirty="0" err="1">
                <a:solidFill>
                  <a:srgbClr val="334155"/>
                </a:solidFill>
              </a:rPr>
              <a:t>상태</a:t>
            </a:r>
            <a:r>
              <a:rPr lang="ko-KR" altLang="en-US" sz="1500" dirty="0">
                <a:solidFill>
                  <a:srgbClr val="334155"/>
                </a:solidFill>
              </a:rPr>
              <a:t>와 얼굴 윤곽에 따른 메이크업 방법 과</a:t>
            </a:r>
            <a:r>
              <a:rPr lang="en-US" altLang="ko-KR" sz="1500" dirty="0">
                <a:solidFill>
                  <a:srgbClr val="334155"/>
                </a:solidFill>
              </a:rPr>
              <a:t> </a:t>
            </a:r>
            <a:r>
              <a:rPr lang="en-US" sz="1500" dirty="0" err="1">
                <a:solidFill>
                  <a:srgbClr val="334155"/>
                </a:solidFill>
              </a:rPr>
              <a:t>고민을</a:t>
            </a:r>
            <a:r>
              <a:rPr lang="en-US" sz="1500" dirty="0">
                <a:solidFill>
                  <a:srgbClr val="334155"/>
                </a:solidFill>
              </a:rPr>
              <a:t> </a:t>
            </a:r>
            <a:r>
              <a:rPr lang="ko-KR" altLang="en-US" sz="1500" dirty="0">
                <a:solidFill>
                  <a:srgbClr val="334155"/>
                </a:solidFill>
              </a:rPr>
              <a:t>반영하고 피드백 받기 </a:t>
            </a:r>
            <a:r>
              <a:rPr lang="en-US" sz="1500" dirty="0" err="1">
                <a:solidFill>
                  <a:srgbClr val="334155"/>
                </a:solidFill>
              </a:rPr>
              <a:t>어렵다</a:t>
            </a:r>
            <a:r>
              <a:rPr lang="en-US" sz="1500" dirty="0">
                <a:solidFill>
                  <a:srgbClr val="334155"/>
                </a:solidFill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226771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2057400" y="2176272"/>
            <a:ext cx="940003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334155"/>
                </a:solidFill>
              </a:rPr>
              <a:t>이 문제는 거울이 실시간 그대로 얼굴을 보여주듯이 실시간으로 얼굴 인식과 </a:t>
            </a:r>
            <a:r>
              <a:rPr lang="en-US" sz="1500" dirty="0" err="1">
                <a:solidFill>
                  <a:srgbClr val="334155"/>
                </a:solidFill>
              </a:rPr>
              <a:t>코칭</a:t>
            </a:r>
            <a:r>
              <a:rPr lang="ko-KR" altLang="en-US" sz="1500" dirty="0">
                <a:solidFill>
                  <a:srgbClr val="334155"/>
                </a:solidFill>
              </a:rPr>
              <a:t> 함으로써 </a:t>
            </a:r>
            <a:r>
              <a:rPr lang="ko-KR" altLang="en-US" sz="1500" dirty="0" err="1">
                <a:solidFill>
                  <a:srgbClr val="334155"/>
                </a:solidFill>
              </a:rPr>
              <a:t>해결가능하며</a:t>
            </a:r>
            <a:r>
              <a:rPr lang="en-US" altLang="ko-KR" sz="1500" dirty="0">
                <a:solidFill>
                  <a:srgbClr val="334155"/>
                </a:solidFill>
              </a:rPr>
              <a:t>,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rgbClr val="334155"/>
                </a:solidFill>
              </a:rPr>
              <a:t>이 프로젝트에서는 그중 일부분인 코칭 문장을 생성하는 </a:t>
            </a:r>
            <a:r>
              <a:rPr lang="en-US" altLang="ko-KR" sz="1500" dirty="0">
                <a:solidFill>
                  <a:srgbClr val="334155"/>
                </a:solidFill>
              </a:rPr>
              <a:t>Small Language Model </a:t>
            </a:r>
            <a:r>
              <a:rPr lang="ko-KR" altLang="en-US" sz="1500" dirty="0">
                <a:solidFill>
                  <a:srgbClr val="334155"/>
                </a:solidFill>
              </a:rPr>
              <a:t>개발한다</a:t>
            </a:r>
            <a:r>
              <a:rPr lang="en-US" sz="1500" dirty="0">
                <a:solidFill>
                  <a:srgbClr val="334155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88036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99923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057400" y="29077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</a:rPr>
              <a:t>데이터 전처리, SentencePiece tokenizer, embedding, positional encoding, attention, decoder block, 학습·추론까지 포함한다.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868680" y="4251960"/>
            <a:ext cx="16916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3708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Tokenizer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2560320" y="457200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907792" y="4251960"/>
            <a:ext cx="1691640" cy="64008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044952" y="43708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MiniGPT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99432" y="457200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946904" y="4251960"/>
            <a:ext cx="16916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84064" y="43708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Loop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6638544" y="457200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986016" y="4251960"/>
            <a:ext cx="1691640" cy="64008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23176" y="43708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8677656" y="4572000"/>
            <a:ext cx="25603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025128" y="4251960"/>
            <a:ext cx="16916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162288" y="43708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Inference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8686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</a:rPr>
              <a:t>핵심 산출물</a:t>
            </a:r>
            <a:endParaRPr lang="en-US" sz="130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성공 기준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관점에서 구현 완료 여부와 학습 가능성을 검증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02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Goals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</a:rPr>
              <a:t>SMART 목표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1206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메이크업·피부 데이터 기반 Decoder-only SLM 구현
• Tokenizer, Decoder Block, 학습 루프, 추론 기능 구현
• Loss 감소와 텍스트 생성 가능 여부 확인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</a:rPr>
              <a:t>필수 성공 기준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6446520" y="18196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48272" y="1783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데이터 수집·전처리</a:t>
            </a:r>
            <a:endParaRPr lang="en-US" sz="1450"/>
          </a:p>
        </p:txBody>
      </p:sp>
      <p:sp>
        <p:nvSpPr>
          <p:cNvPr id="11" name="Shape 9"/>
          <p:cNvSpPr/>
          <p:nvPr/>
        </p:nvSpPr>
        <p:spPr>
          <a:xfrm>
            <a:off x="6446520" y="232257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748272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Tokenizer 구축</a:t>
            </a:r>
            <a:endParaRPr lang="en-US" sz="1450"/>
          </a:p>
        </p:txBody>
      </p:sp>
      <p:sp>
        <p:nvSpPr>
          <p:cNvPr id="13" name="Shape 11"/>
          <p:cNvSpPr/>
          <p:nvPr/>
        </p:nvSpPr>
        <p:spPr>
          <a:xfrm>
            <a:off x="6446520" y="28254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748272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Decoder-only Transformer 구현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6446520" y="332841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748272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학습 루프 구현</a:t>
            </a:r>
            <a:endParaRPr lang="en-US" sz="1450"/>
          </a:p>
        </p:txBody>
      </p:sp>
      <p:sp>
        <p:nvSpPr>
          <p:cNvPr id="17" name="Shape 15"/>
          <p:cNvSpPr/>
          <p:nvPr/>
        </p:nvSpPr>
        <p:spPr>
          <a:xfrm>
            <a:off x="6446520" y="38313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48272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모델 저장·로드</a:t>
            </a:r>
            <a:endParaRPr lang="en-US" sz="1450"/>
          </a:p>
        </p:txBody>
      </p:sp>
      <p:sp>
        <p:nvSpPr>
          <p:cNvPr id="19" name="Shape 17"/>
          <p:cNvSpPr/>
          <p:nvPr/>
        </p:nvSpPr>
        <p:spPr>
          <a:xfrm>
            <a:off x="6446520" y="43342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48272" y="4297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텍스트 생성</a:t>
            </a:r>
            <a:endParaRPr lang="en-US" sz="1450"/>
          </a:p>
        </p:txBody>
      </p:sp>
      <p:sp>
        <p:nvSpPr>
          <p:cNvPr id="21" name="Shape 19"/>
          <p:cNvSpPr/>
          <p:nvPr/>
        </p:nvSpPr>
        <p:spPr>
          <a:xfrm>
            <a:off x="777240" y="5111496"/>
            <a:ext cx="103327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22960" y="49560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94360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6/15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457200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34155"/>
                </a:solidFill>
              </a:rPr>
              <a:t>설계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395728" y="49560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167128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6/17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2029968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34155"/>
                </a:solidFill>
              </a:rPr>
              <a:t>데이터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3968496" y="49560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739896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6/19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3602736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34155"/>
                </a:solidFill>
              </a:rPr>
              <a:t>Tokenizer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541264" y="49560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312664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6/20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5175504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34155"/>
                </a:solidFill>
              </a:rPr>
              <a:t>SLM 구현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7114032" y="49560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885432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6/23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48272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34155"/>
                </a:solidFill>
              </a:rPr>
              <a:t>학습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8686800" y="4956048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8458200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6/24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8321040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>
                <a:solidFill>
                  <a:srgbClr val="334155"/>
                </a:solidFill>
              </a:rPr>
              <a:t>추론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10259568" y="4956048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0030968" y="5349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6/25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9893808" y="5596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>
                <a:solidFill>
                  <a:srgbClr val="2563EB"/>
                </a:solidFill>
              </a:rPr>
              <a:t>발표</a:t>
            </a:r>
            <a:endParaRPr lang="en-US" sz="95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구성과 문장 포맷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한국어 대화와 메이크업 도메인 데이터를 하나의 LM 문장으로 변환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03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Data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423160" cy="822960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536192"/>
            <a:ext cx="2148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한국어 대화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31,128 Q&amp;A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3566160" y="1417320"/>
            <a:ext cx="2697480" cy="822960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03320" y="1536192"/>
            <a:ext cx="2423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문제성 피부 메이크업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10,043 Q&amp;A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3200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91072" y="1828800"/>
            <a:ext cx="521208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903720" y="1417320"/>
            <a:ext cx="2514600" cy="82296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040880" y="1536192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corpus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41,000 Q&amp;A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77240" y="2720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문장 구조 예시</a:t>
            </a:r>
            <a:endParaRPr lang="en-US" sz="1800"/>
          </a:p>
        </p:txBody>
      </p:sp>
      <p:sp>
        <p:nvSpPr>
          <p:cNvPr id="15" name="Shape 13"/>
          <p:cNvSpPr/>
          <p:nvPr/>
        </p:nvSpPr>
        <p:spPr>
          <a:xfrm>
            <a:off x="791528" y="4393686"/>
            <a:ext cx="10652760" cy="65265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74408" y="4360538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&lt;SOS&gt; &lt;</a:t>
            </a:r>
            <a:r>
              <a:rPr lang="en-US" sz="1400" dirty="0" err="1">
                <a:solidFill>
                  <a:srgbClr val="334155"/>
                </a:solidFill>
              </a:rPr>
              <a:t>도메인</a:t>
            </a:r>
            <a:r>
              <a:rPr lang="en-US" sz="1400" dirty="0">
                <a:solidFill>
                  <a:srgbClr val="334155"/>
                </a:solidFill>
              </a:rPr>
              <a:t>&gt; </a:t>
            </a:r>
            <a:r>
              <a:rPr lang="en-US" sz="1400" dirty="0" err="1">
                <a:solidFill>
                  <a:srgbClr val="334155"/>
                </a:solidFill>
              </a:rPr>
              <a:t>피부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메이크업</a:t>
            </a:r>
            <a:r>
              <a:rPr lang="en-US" sz="1400" dirty="0">
                <a:solidFill>
                  <a:srgbClr val="334155"/>
                </a:solidFill>
              </a:rPr>
              <a:t> &lt;</a:t>
            </a:r>
            <a:r>
              <a:rPr lang="en-US" sz="1400" dirty="0" err="1">
                <a:solidFill>
                  <a:srgbClr val="334155"/>
                </a:solidFill>
              </a:rPr>
              <a:t>질문</a:t>
            </a:r>
            <a:r>
              <a:rPr lang="en-US" sz="1400" dirty="0">
                <a:solidFill>
                  <a:srgbClr val="334155"/>
                </a:solidFill>
              </a:rPr>
              <a:t>&gt; </a:t>
            </a:r>
            <a:r>
              <a:rPr lang="en-US" sz="1400" dirty="0" err="1">
                <a:solidFill>
                  <a:srgbClr val="334155"/>
                </a:solidFill>
              </a:rPr>
              <a:t>건성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피부에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맞는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파운데이션은</a:t>
            </a:r>
            <a:r>
              <a:rPr lang="en-US" sz="1400" dirty="0">
                <a:solidFill>
                  <a:srgbClr val="334155"/>
                </a:solidFill>
              </a:rPr>
              <a:t>? &lt;</a:t>
            </a:r>
            <a:r>
              <a:rPr lang="en-US" sz="1400" dirty="0" err="1">
                <a:solidFill>
                  <a:srgbClr val="334155"/>
                </a:solidFill>
              </a:rPr>
              <a:t>답변</a:t>
            </a:r>
            <a:r>
              <a:rPr lang="en-US" sz="1400" dirty="0">
                <a:solidFill>
                  <a:srgbClr val="334155"/>
                </a:solidFill>
              </a:rPr>
              <a:t>&gt; </a:t>
            </a:r>
            <a:r>
              <a:rPr lang="en-US" sz="1400" dirty="0" err="1">
                <a:solidFill>
                  <a:srgbClr val="334155"/>
                </a:solidFill>
              </a:rPr>
              <a:t>수분감이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높은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제품을</a:t>
            </a:r>
            <a:r>
              <a:rPr lang="en-US" sz="1400" dirty="0">
                <a:solidFill>
                  <a:srgbClr val="334155"/>
                </a:solidFill>
              </a:rPr>
              <a:t> </a:t>
            </a:r>
            <a:r>
              <a:rPr lang="en-US" sz="1400" dirty="0" err="1">
                <a:solidFill>
                  <a:srgbClr val="334155"/>
                </a:solidFill>
              </a:rPr>
              <a:t>추천합니다</a:t>
            </a:r>
            <a:r>
              <a:rPr lang="en-US" sz="1400" dirty="0">
                <a:solidFill>
                  <a:srgbClr val="334155"/>
                </a:solidFill>
              </a:rPr>
              <a:t>. &lt;EOS&gt;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32067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핵심 판단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2103120" y="5274950"/>
            <a:ext cx="9052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모델에서는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많으면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• 1차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질문→답변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생성이면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&lt;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&gt;, &lt;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&gt;, &lt;EOS&gt;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• &lt;EOS&gt;는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시점을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학습시키기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위해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F42B98CF-26AB-7596-B5C6-052964AAF323}"/>
              </a:ext>
            </a:extLst>
          </p:cNvPr>
          <p:cNvSpPr/>
          <p:nvPr/>
        </p:nvSpPr>
        <p:spPr>
          <a:xfrm>
            <a:off x="801049" y="3166476"/>
            <a:ext cx="10652760" cy="1005469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r>
              <a:rPr lang="en-US" altLang="ko-KR" sz="1600" dirty="0">
                <a:solidFill>
                  <a:srgbClr val="334155"/>
                </a:solidFill>
              </a:rPr>
              <a:t>&lt;SOS&gt; &lt;</a:t>
            </a:r>
            <a:r>
              <a:rPr lang="en-US" altLang="ko-KR" sz="1600" dirty="0" err="1">
                <a:solidFill>
                  <a:srgbClr val="334155"/>
                </a:solidFill>
              </a:rPr>
              <a:t>도메인</a:t>
            </a:r>
            <a:r>
              <a:rPr lang="en-US" altLang="ko-KR" sz="1600" dirty="0">
                <a:solidFill>
                  <a:srgbClr val="334155"/>
                </a:solidFill>
              </a:rPr>
              <a:t>&gt; </a:t>
            </a:r>
            <a:r>
              <a:rPr lang="en-US" altLang="ko-KR" sz="1600" dirty="0" err="1">
                <a:solidFill>
                  <a:srgbClr val="334155"/>
                </a:solidFill>
              </a:rPr>
              <a:t>피부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메이크업</a:t>
            </a:r>
            <a:r>
              <a:rPr lang="en-US" altLang="ko-KR" sz="1600" dirty="0">
                <a:solidFill>
                  <a:srgbClr val="334155"/>
                </a:solidFill>
              </a:rPr>
              <a:t> &lt;</a:t>
            </a:r>
            <a:r>
              <a:rPr lang="ko-KR" altLang="en-US" sz="1600" dirty="0">
                <a:solidFill>
                  <a:srgbClr val="334155"/>
                </a:solidFill>
              </a:rPr>
              <a:t>주제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성별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연령대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메이크업빈도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사용제품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중요속성</a:t>
            </a:r>
            <a:r>
              <a:rPr lang="en-US" altLang="ko-KR" sz="1600" dirty="0">
                <a:solidFill>
                  <a:srgbClr val="334155"/>
                </a:solidFill>
              </a:rPr>
              <a:t>&gt;</a:t>
            </a:r>
          </a:p>
          <a:p>
            <a:r>
              <a:rPr lang="en-US" altLang="ko-KR" sz="1600" dirty="0">
                <a:solidFill>
                  <a:srgbClr val="334155"/>
                </a:solidFill>
              </a:rPr>
              <a:t>&lt;</a:t>
            </a:r>
            <a:r>
              <a:rPr lang="ko-KR" altLang="en-US" sz="1600" dirty="0">
                <a:solidFill>
                  <a:srgbClr val="334155"/>
                </a:solidFill>
              </a:rPr>
              <a:t>목적</a:t>
            </a:r>
            <a:r>
              <a:rPr lang="en-US" altLang="ko-KR" sz="1600" dirty="0">
                <a:solidFill>
                  <a:srgbClr val="334155"/>
                </a:solidFill>
              </a:rPr>
              <a:t>&gt; &lt;</a:t>
            </a:r>
            <a:r>
              <a:rPr lang="ko-KR" altLang="en-US" sz="1600" dirty="0">
                <a:solidFill>
                  <a:srgbClr val="334155"/>
                </a:solidFill>
              </a:rPr>
              <a:t>피부고민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고민상황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>
                <a:solidFill>
                  <a:srgbClr val="334155"/>
                </a:solidFill>
              </a:rPr>
              <a:t>피부상태</a:t>
            </a:r>
            <a:r>
              <a:rPr lang="en-US" altLang="ko-KR" sz="1600" dirty="0">
                <a:solidFill>
                  <a:srgbClr val="334155"/>
                </a:solidFill>
              </a:rPr>
              <a:t>&gt;&lt;</a:t>
            </a:r>
            <a:r>
              <a:rPr lang="ko-KR" altLang="en-US" sz="1600" dirty="0" err="1">
                <a:solidFill>
                  <a:srgbClr val="334155"/>
                </a:solidFill>
              </a:rPr>
              <a:t>피부밝기</a:t>
            </a:r>
            <a:r>
              <a:rPr lang="en-US" altLang="ko-KR" sz="1600" dirty="0">
                <a:solidFill>
                  <a:srgbClr val="334155"/>
                </a:solidFill>
              </a:rPr>
              <a:t>&gt; &lt;</a:t>
            </a:r>
            <a:r>
              <a:rPr lang="en-US" altLang="ko-KR" sz="1600" dirty="0" err="1">
                <a:solidFill>
                  <a:srgbClr val="334155"/>
                </a:solidFill>
              </a:rPr>
              <a:t>질문</a:t>
            </a:r>
            <a:r>
              <a:rPr lang="en-US" altLang="ko-KR" sz="1600" dirty="0">
                <a:solidFill>
                  <a:srgbClr val="334155"/>
                </a:solidFill>
              </a:rPr>
              <a:t>&gt; </a:t>
            </a:r>
            <a:r>
              <a:rPr lang="en-US" altLang="ko-KR" sz="1600" dirty="0" err="1">
                <a:solidFill>
                  <a:srgbClr val="334155"/>
                </a:solidFill>
              </a:rPr>
              <a:t>건성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피부에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맞는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파운데이션은</a:t>
            </a:r>
            <a:r>
              <a:rPr lang="en-US" altLang="ko-KR" sz="1600" dirty="0">
                <a:solidFill>
                  <a:srgbClr val="334155"/>
                </a:solidFill>
              </a:rPr>
              <a:t>? &lt;</a:t>
            </a:r>
            <a:r>
              <a:rPr lang="en-US" altLang="ko-KR" sz="1600" dirty="0" err="1">
                <a:solidFill>
                  <a:srgbClr val="334155"/>
                </a:solidFill>
              </a:rPr>
              <a:t>답변</a:t>
            </a:r>
            <a:r>
              <a:rPr lang="en-US" altLang="ko-KR" sz="1600" dirty="0">
                <a:solidFill>
                  <a:srgbClr val="334155"/>
                </a:solidFill>
              </a:rPr>
              <a:t>&gt; </a:t>
            </a:r>
            <a:r>
              <a:rPr lang="en-US" altLang="ko-KR" sz="1600" dirty="0" err="1">
                <a:solidFill>
                  <a:srgbClr val="334155"/>
                </a:solidFill>
              </a:rPr>
              <a:t>수분감이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높은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제품을</a:t>
            </a:r>
            <a:r>
              <a:rPr lang="en-US" altLang="ko-KR" sz="1600" dirty="0">
                <a:solidFill>
                  <a:srgbClr val="334155"/>
                </a:solidFill>
              </a:rPr>
              <a:t> </a:t>
            </a:r>
            <a:r>
              <a:rPr lang="en-US" altLang="ko-KR" sz="1600" dirty="0" err="1">
                <a:solidFill>
                  <a:srgbClr val="334155"/>
                </a:solidFill>
              </a:rPr>
              <a:t>추천합니다</a:t>
            </a:r>
            <a:r>
              <a:rPr lang="en-US" altLang="ko-KR" sz="1600" dirty="0">
                <a:solidFill>
                  <a:srgbClr val="334155"/>
                </a:solidFill>
              </a:rPr>
              <a:t>. &lt;EOS&gt;</a:t>
            </a:r>
            <a:endParaRPr lang="en-US" altLang="ko-KR" sz="1600" dirty="0"/>
          </a:p>
          <a:p>
            <a:endParaRPr lang="ko-KR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구조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 다음 token 예측까지 이어지는 end-to-end 파이프라인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04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Architecture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Data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/ FINAL_SENTENCE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2194560" y="2240280"/>
            <a:ext cx="30175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D1FAE5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697480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Tokenizer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SentencePiece BPE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4069080" y="2240280"/>
            <a:ext cx="30175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0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IDs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x/y shift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943600" y="2240280"/>
            <a:ext cx="30175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EDE9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46520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</a:rPr>
              <a:t>+ Positional 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18120" y="2240280"/>
            <a:ext cx="30175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83880" y="18288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321040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 Blocks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Masked MHA + FFN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9692640" y="2240280"/>
            <a:ext cx="30175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058400" y="18288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95560" y="1947672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Logits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token score</a:t>
            </a:r>
            <a:endParaRPr lang="en-US" sz="1250"/>
          </a:p>
        </p:txBody>
      </p:sp>
      <p:sp>
        <p:nvSpPr>
          <p:cNvPr id="23" name="Shape 21"/>
          <p:cNvSpPr/>
          <p:nvPr/>
        </p:nvSpPr>
        <p:spPr>
          <a:xfrm>
            <a:off x="914400" y="3840480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14300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563EB"/>
                </a:solidFill>
              </a:rPr>
              <a:t>학습 흐름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1143000" y="4407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>
                <a:solidFill>
                  <a:srgbClr val="334155"/>
                </a:solidFill>
              </a:rPr>
              <a:t>전체 위치의 logits 계산 → CrossEntropyLoss → backward → Adam update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6400800" y="3840480"/>
            <a:ext cx="4480560" cy="1188720"/>
          </a:xfrm>
          <a:prstGeom prst="roundRect">
            <a:avLst>
              <a:gd name="adj" fmla="val 384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2940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59669"/>
                </a:solidFill>
              </a:rPr>
              <a:t>추론 흐름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6629400" y="44074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 err="1">
                <a:solidFill>
                  <a:srgbClr val="334155"/>
                </a:solidFill>
              </a:rPr>
              <a:t>마지막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위치의</a:t>
            </a:r>
            <a:r>
              <a:rPr lang="en-US" sz="1300" dirty="0">
                <a:solidFill>
                  <a:srgbClr val="334155"/>
                </a:solidFill>
              </a:rPr>
              <a:t> logits </a:t>
            </a:r>
            <a:r>
              <a:rPr lang="en-US" sz="1300" dirty="0" err="1">
                <a:solidFill>
                  <a:srgbClr val="334155"/>
                </a:solidFill>
              </a:rPr>
              <a:t>사용</a:t>
            </a:r>
            <a:r>
              <a:rPr lang="en-US" sz="1300" dirty="0">
                <a:solidFill>
                  <a:srgbClr val="334155"/>
                </a:solidFill>
              </a:rPr>
              <a:t> → token </a:t>
            </a:r>
            <a:r>
              <a:rPr lang="en-US" sz="1300" dirty="0" err="1">
                <a:solidFill>
                  <a:srgbClr val="334155"/>
                </a:solidFill>
              </a:rPr>
              <a:t>생성</a:t>
            </a:r>
            <a:r>
              <a:rPr lang="en-US" sz="1300" dirty="0">
                <a:solidFill>
                  <a:srgbClr val="334155"/>
                </a:solidFill>
              </a:rPr>
              <a:t> → </a:t>
            </a:r>
            <a:r>
              <a:rPr lang="en-US" sz="1300" dirty="0" err="1">
                <a:solidFill>
                  <a:srgbClr val="334155"/>
                </a:solidFill>
              </a:rPr>
              <a:t>입력에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붙임</a:t>
            </a:r>
            <a:r>
              <a:rPr lang="en-US" sz="1300" dirty="0">
                <a:solidFill>
                  <a:srgbClr val="334155"/>
                </a:solidFill>
              </a:rPr>
              <a:t> → &lt;EOS&gt;</a:t>
            </a:r>
            <a:r>
              <a:rPr lang="en-US" sz="1300" dirty="0" err="1">
                <a:solidFill>
                  <a:srgbClr val="334155"/>
                </a:solidFill>
              </a:rPr>
              <a:t>까지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반복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Tokenizer와 Embedding 구현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SentencePiece BPE로 한국어 subword를 만들고 embedding vector로 변환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05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Tokenizer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536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FINAL_SENTENCE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1828800" y="2002536"/>
            <a:ext cx="0" cy="22860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404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Corpus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저장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1828800" y="2871216"/>
            <a:ext cx="0" cy="22860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SentencePiece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BPE 학습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1828800" y="3739896"/>
            <a:ext cx="0" cy="22860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4023360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1422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model/vocab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encode·decode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46177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Embedding shape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1993392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x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(batch_size, context_length)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995160" y="222199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498080" y="1874520"/>
            <a:ext cx="3246120" cy="6858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635240" y="1993392"/>
            <a:ext cx="2971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 출력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(batch_size, context_length, embed_size)</a:t>
            </a:r>
            <a:endParaRPr lang="en-US" sz="1250"/>
          </a:p>
        </p:txBody>
      </p:sp>
      <p:sp>
        <p:nvSpPr>
          <p:cNvPr id="23" name="Text 21"/>
          <p:cNvSpPr/>
          <p:nvPr/>
        </p:nvSpPr>
        <p:spPr>
          <a:xfrm>
            <a:off x="461772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구현 포인트</a:t>
            </a:r>
            <a:endParaRPr lang="en-US" sz="1700"/>
          </a:p>
        </p:txBody>
      </p:sp>
      <p:sp>
        <p:nvSpPr>
          <p:cNvPr id="24" name="Text 22"/>
          <p:cNvSpPr/>
          <p:nvPr/>
        </p:nvSpPr>
        <p:spPr>
          <a:xfrm>
            <a:off x="4663440" y="3566160"/>
            <a:ext cx="585216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35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`train_tokenizer=True`: CSV를 읽어 tokenizer를 새로 학습
• `train_tokenizer=False`: 저장된 `.model`을 로드
• `actual_vocab_size` 기준으로 `nn.Embedding` 생성
• `encode_sentence()`: x_ids, y_ids shift 생성</a:t>
            </a:r>
            <a:endParaRPr lang="en-US" sz="13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정보와 Causal Mask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Decoder-only 모델은 순서 정보와 미래 token 차단이 필요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06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Position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F172A"/>
                </a:solidFill>
              </a:rPr>
              <a:t>Positional Encoding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143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2194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 table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(context_length, embed_size)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337560" y="2176272"/>
            <a:ext cx="5486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931920" y="1783080"/>
            <a:ext cx="2240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069080" y="1901952"/>
            <a:ext cx="1965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짝수 index: sin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홀수 index: cos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217920" y="2176272"/>
            <a:ext cx="5486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12280" y="178308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949440" y="1901952"/>
            <a:ext cx="22860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+ 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(batch, </a:t>
            </a:r>
            <a:r>
              <a:rPr lang="en-US" sz="13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seq_len</a:t>
            </a: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3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embed_size</a:t>
            </a: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F172A"/>
                </a:solidFill>
              </a:rPr>
              <a:t>Causal Mask</a:t>
            </a:r>
            <a:endParaRPr lang="en-US" sz="190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33856" y="4206240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444752" y="4206240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755648" y="4206240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066544" y="4206240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4517136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133856" y="4517136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444752" y="4517136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755648" y="4517136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066544" y="4517136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22960" y="4828032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133856" y="4828032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444752" y="4828032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55648" y="4828032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066544" y="4828032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22960" y="5138928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33856" y="5138928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444752" y="5138928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755648" y="5138928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066544" y="5138928"/>
            <a:ext cx="310896" cy="310896"/>
          </a:xfrm>
          <a:prstGeom prst="rect">
            <a:avLst/>
          </a:prstGeom>
          <a:solidFill>
            <a:srgbClr val="E5E7EB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22960" y="5449824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33856" y="5449824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444752" y="5449824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755648" y="5449824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066544" y="5449824"/>
            <a:ext cx="310896" cy="31089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651760" y="4343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True 영역: 현재·과거 token 참조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2651760" y="4800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영역: 미래 token 차단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6720840" y="4343400"/>
            <a:ext cx="29260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858000" y="446227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 shape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(1, 1, seq_len, seq_len)</a:t>
            </a:r>
            <a:endParaRPr lang="en-US" sz="130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Masked Multi-Head Self-Attention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 sequence에서 Q, K, V를 만들고 head별 관계를 병렬 계산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07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Attention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1325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 + Position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2377440" y="217627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80360" y="1645920"/>
            <a:ext cx="1645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17520" y="1764792"/>
            <a:ext cx="1371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= XWq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= XWk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 = XWv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4526280" y="217627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029200" y="1828800"/>
            <a:ext cx="1600200" cy="6858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1947672"/>
            <a:ext cx="1325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heads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× 32 dim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629400" y="217627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132320" y="1645920"/>
            <a:ext cx="1645920" cy="1051560"/>
          </a:xfrm>
          <a:prstGeom prst="roundRect">
            <a:avLst>
              <a:gd name="adj" fmla="val 4348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69480" y="1764792"/>
            <a:ext cx="13716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QKᵀ / √dₖ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mask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8778240" y="217627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281160" y="1645920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143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418320" y="1764792"/>
            <a:ext cx="1645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 · V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output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Shape 예시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868680" y="434340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446227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(1, 13, 128)</a:t>
            </a:r>
            <a:endParaRPr lang="en-US" sz="1250"/>
          </a:p>
        </p:txBody>
      </p:sp>
      <p:sp>
        <p:nvSpPr>
          <p:cNvPr id="23" name="Shape 21"/>
          <p:cNvSpPr/>
          <p:nvPr/>
        </p:nvSpPr>
        <p:spPr>
          <a:xfrm>
            <a:off x="3429000" y="434340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566160" y="446227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Q/K/V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(1, 4, 13, 32)</a:t>
            </a:r>
            <a:endParaRPr lang="en-US" sz="1250"/>
          </a:p>
        </p:txBody>
      </p:sp>
      <p:sp>
        <p:nvSpPr>
          <p:cNvPr id="25" name="Shape 23"/>
          <p:cNvSpPr/>
          <p:nvPr/>
        </p:nvSpPr>
        <p:spPr>
          <a:xfrm>
            <a:off x="5989320" y="434340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126480" y="446227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(1, 4, 13, 13)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8549640" y="434340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686800" y="446227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(1, 13, 128)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868680" y="55321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4155"/>
                </a:solidFill>
              </a:rPr>
              <a:t>4개 head는 서로 다른 기준으로 token 관계를 계산한 뒤 concat 및 Wo projection으로 합친다.</a:t>
            </a:r>
            <a:endParaRPr lang="en-US" sz="140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 Block 구현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Attention, Add &amp; Norm, Feed Forward를 하나의 decoder block으로 구성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08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Block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960120" y="1463040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158191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X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(batch, seq, embed)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2240280" y="2066544"/>
            <a:ext cx="0" cy="1463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60120" y="2286000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40487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Masked MHA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update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2240280" y="2889504"/>
            <a:ext cx="0" cy="1463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60120" y="3108960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322783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 &amp; Norm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+ Attention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2240280" y="3712464"/>
            <a:ext cx="0" cy="1463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3931920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405079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 Forward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 → 512 → 128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2240280" y="4535424"/>
            <a:ext cx="0" cy="146304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60120" y="4754880"/>
            <a:ext cx="2560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97280" y="4873752"/>
            <a:ext cx="2286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 &amp; Norm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residual output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461772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</a:rPr>
              <a:t>Residual + LayerNorm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466344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563EB"/>
                </a:solidFill>
              </a:rPr>
              <a:t>Output = LayerNorm(X + Attention(X))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4663440" y="2514600"/>
            <a:ext cx="62179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원래 token 정보 X를 버리지 않고 문맥 정보 A를 더함
• LayerNorm으로 각 token vector의 scale을 안정화
• FFN은 token별 feature를 비선형 변환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46177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F172A"/>
                </a:solidFill>
              </a:rPr>
              <a:t>Feed Forward</a:t>
            </a:r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4663440" y="457200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00600" y="469087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 → 512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6309360" y="4864608"/>
            <a:ext cx="32004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675120" y="4572000"/>
            <a:ext cx="1143000" cy="594360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12280" y="4690872"/>
            <a:ext cx="868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GELU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7818120" y="4864608"/>
            <a:ext cx="320040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83880" y="457200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321040" y="4690872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 → 128</a:t>
            </a:r>
            <a:endParaRPr lang="en-US" sz="120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타원 21">
            <a:extLst>
              <a:ext uri="{FF2B5EF4-FFF2-40B4-BE49-F238E27FC236}">
                <a16:creationId xmlns:a16="http://schemas.microsoft.com/office/drawing/2014/main" id="{FE197F92-624B-7FAA-946C-29EB86C97840}"/>
              </a:ext>
            </a:extLst>
          </p:cNvPr>
          <p:cNvSpPr/>
          <p:nvPr/>
        </p:nvSpPr>
        <p:spPr>
          <a:xfrm>
            <a:off x="5499100" y="4267200"/>
            <a:ext cx="800100" cy="8509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모듈 구조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기능을 독립 모듈로 분리하여 학습·테스트·재사용 가능하도록 구성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09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Code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536192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CommonModule.py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 </a:t>
            </a:r>
            <a:r>
              <a:rPr lang="en-US" sz="122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선택·이동</a:t>
            </a:r>
            <a:endParaRPr lang="en-US" sz="1220" b="1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(GPU, CPU)</a:t>
            </a:r>
          </a:p>
          <a:p>
            <a:pPr marL="0" indent="0" algn="ctr">
              <a:buNone/>
            </a:pP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063240" y="1417320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0" y="1536192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SentencePieceEmbedding.py</a:t>
            </a:r>
            <a:endParaRPr lang="en-US" sz="1220"/>
          </a:p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Tokenizer + Embedding</a:t>
            </a:r>
            <a:endParaRPr lang="en-US" sz="1220"/>
          </a:p>
        </p:txBody>
      </p:sp>
      <p:sp>
        <p:nvSpPr>
          <p:cNvPr id="10" name="Shape 8"/>
          <p:cNvSpPr/>
          <p:nvPr/>
        </p:nvSpPr>
        <p:spPr>
          <a:xfrm>
            <a:off x="5623560" y="1417320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143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760720" y="1536192"/>
            <a:ext cx="2057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PositionalEncoding.py</a:t>
            </a:r>
            <a:endParaRPr lang="en-US" sz="1220"/>
          </a:p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sin/cos 위치 정보</a:t>
            </a:r>
            <a:endParaRPr lang="en-US" sz="122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21040" y="153619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MultiHeadSelfAttention.py</a:t>
            </a:r>
            <a:endParaRPr lang="en-US" sz="1220"/>
          </a:p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QKᵀ + mask + softmax</a:t>
            </a:r>
            <a:endParaRPr lang="en-US" sz="1220"/>
          </a:p>
        </p:txBody>
      </p:sp>
      <p:sp>
        <p:nvSpPr>
          <p:cNvPr id="14" name="Shape 12"/>
          <p:cNvSpPr/>
          <p:nvPr/>
        </p:nvSpPr>
        <p:spPr>
          <a:xfrm>
            <a:off x="1920240" y="2880360"/>
            <a:ext cx="2286000" cy="6858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057400" y="2999232"/>
            <a:ext cx="2011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FeedForward.py</a:t>
            </a:r>
            <a:endParaRPr lang="en-US" sz="1220"/>
          </a:p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Linear-GELU-Linear</a:t>
            </a:r>
            <a:endParaRPr lang="en-US" sz="1220"/>
          </a:p>
        </p:txBody>
      </p:sp>
      <p:sp>
        <p:nvSpPr>
          <p:cNvPr id="16" name="Shape 14"/>
          <p:cNvSpPr/>
          <p:nvPr/>
        </p:nvSpPr>
        <p:spPr>
          <a:xfrm>
            <a:off x="4480560" y="2880360"/>
            <a:ext cx="25603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2999232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TransformerBlock.py</a:t>
            </a:r>
            <a:endParaRPr lang="en-US" sz="1220"/>
          </a:p>
          <a:p>
            <a:pPr marL="0" indent="0" algn="ctr">
              <a:buNone/>
            </a:pPr>
            <a:r>
              <a:rPr lang="en-US" sz="122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MHA + Add&amp;Norm + FFN</a:t>
            </a:r>
            <a:endParaRPr lang="en-US" sz="1220"/>
          </a:p>
        </p:txBody>
      </p:sp>
      <p:sp>
        <p:nvSpPr>
          <p:cNvPr id="18" name="Shape 16"/>
          <p:cNvSpPr/>
          <p:nvPr/>
        </p:nvSpPr>
        <p:spPr>
          <a:xfrm>
            <a:off x="7315200" y="2880360"/>
            <a:ext cx="2560320" cy="68580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52360" y="2999232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MiniGpt.py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Decoder Blocks + Linear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Repository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251460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20">
                <a:solidFill>
                  <a:srgbClr val="334155"/>
                </a:solidFill>
              </a:rPr>
              <a:t>2026ict-decoder-only-slm/   data/   docs/   models/  modules/   notebooks/  services/  tests/  tokenizers/  requirements.txt   README.md</a:t>
            </a:r>
            <a:endParaRPr lang="en-US" sz="132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miniGpt </a:t>
            </a:r>
            <a:r>
              <a:rPr lang="en-US" sz="28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전략과</a:t>
            </a: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 </a:t>
            </a:r>
            <a:r>
              <a:rPr lang="en-US" sz="28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1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</a:t>
            </a: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</a:t>
            </a: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10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Training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1432052"/>
            <a:ext cx="2194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</a:t>
            </a:r>
            <a:r>
              <a:rPr lang="en-US" sz="14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</a:t>
            </a: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</a:t>
            </a: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51860" y="132588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D1FAE5"/>
          </a:solidFill>
          <a:ln w="1143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89020" y="143205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Transfer 학습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메이크업·피부 Q&amp;A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103620" y="1697228"/>
            <a:ext cx="6400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789420" y="132588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926580" y="1432052"/>
            <a:ext cx="21945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Loss·정확도·추론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868680" y="239496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&gt; 과적합 테스트 목적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868680" y="2600960"/>
            <a:ext cx="56692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2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아주 작은 데이터에서 모델이 암기 가능한지 확인
• x/y shift, causal mask, loss, backward, optimizer 정상 여부 점검
• 실제 생성 품질이나 일반화 성능은 별도 평가 필요</a:t>
            </a:r>
            <a:endParaRPr lang="en-US" sz="1420"/>
          </a:p>
        </p:txBody>
      </p:sp>
      <p:sp>
        <p:nvSpPr>
          <p:cNvPr id="16" name="Shape 14"/>
          <p:cNvSpPr/>
          <p:nvPr/>
        </p:nvSpPr>
        <p:spPr>
          <a:xfrm>
            <a:off x="7516368" y="3969512"/>
            <a:ext cx="34747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516368" y="3906012"/>
            <a:ext cx="3127248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16368" y="31744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9개 문장 과적합 결과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7516368" y="36042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34155"/>
                </a:solidFill>
              </a:rPr>
              <a:t>epoch 160 · train_loss 0.0341 · train_acc 0.9905</a:t>
            </a:r>
            <a:endParaRPr lang="en-US" sz="1350"/>
          </a:p>
        </p:txBody>
      </p:sp>
      <p:sp>
        <p:nvSpPr>
          <p:cNvPr id="20" name="Text 18"/>
          <p:cNvSpPr/>
          <p:nvPr/>
        </p:nvSpPr>
        <p:spPr>
          <a:xfrm>
            <a:off x="8385048" y="41427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99.05% train accuracy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B191982-4359-7E0A-4BDF-DD94AA8DCA20}"/>
              </a:ext>
            </a:extLst>
          </p:cNvPr>
          <p:cNvSpPr/>
          <p:nvPr/>
        </p:nvSpPr>
        <p:spPr>
          <a:xfrm>
            <a:off x="970280" y="3744468"/>
            <a:ext cx="2839720" cy="427736"/>
          </a:xfrm>
          <a:prstGeom prst="roundRect">
            <a:avLst>
              <a:gd name="adj" fmla="val 5882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r>
              <a:rPr lang="ko-KR" altLang="en-US" sz="1400"/>
              <a:t>한국어대화 </a:t>
            </a:r>
            <a:r>
              <a:rPr lang="en-US" altLang="ko-KR" sz="1400"/>
              <a:t>+ </a:t>
            </a:r>
            <a:r>
              <a:rPr lang="ko-KR" altLang="en-US" sz="1400"/>
              <a:t>메이크업</a:t>
            </a:r>
            <a:r>
              <a:rPr lang="en-US" altLang="ko-KR" sz="1400"/>
              <a:t> (9 </a:t>
            </a:r>
            <a:r>
              <a:rPr lang="ko-KR" altLang="en-US" sz="1400"/>
              <a:t>문장</a:t>
            </a:r>
            <a:r>
              <a:rPr lang="en-US" altLang="ko-KR" sz="1400"/>
              <a:t>)</a:t>
            </a:r>
            <a:endParaRPr lang="ko-KR" altLang="en-US" sz="140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4CB41D3-65A0-AF37-36B2-044F2F3ED641}"/>
              </a:ext>
            </a:extLst>
          </p:cNvPr>
          <p:cNvSpPr/>
          <p:nvPr/>
        </p:nvSpPr>
        <p:spPr>
          <a:xfrm flipV="1">
            <a:off x="3810000" y="3942587"/>
            <a:ext cx="35509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6DA56D6F-844D-FE6F-143D-1220F63F6A9A}"/>
              </a:ext>
            </a:extLst>
          </p:cNvPr>
          <p:cNvSpPr/>
          <p:nvPr/>
        </p:nvSpPr>
        <p:spPr>
          <a:xfrm>
            <a:off x="970280" y="4437634"/>
            <a:ext cx="266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&gt; Small Dataset </a:t>
            </a:r>
            <a:r>
              <a:rPr lang="ko-KR" altLang="en-US" b="1" dirty="0"/>
              <a:t>테스트</a:t>
            </a:r>
            <a:endParaRPr lang="en-US" sz="1800" b="1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E24356D1-9C8A-B0A8-98BC-6AEFE95B54E4}"/>
              </a:ext>
            </a:extLst>
          </p:cNvPr>
          <p:cNvSpPr/>
          <p:nvPr/>
        </p:nvSpPr>
        <p:spPr>
          <a:xfrm>
            <a:off x="906780" y="4832858"/>
            <a:ext cx="2839720" cy="915162"/>
          </a:xfrm>
          <a:prstGeom prst="roundRect">
            <a:avLst>
              <a:gd name="adj" fmla="val 5882"/>
            </a:avLst>
          </a:prstGeom>
          <a:solidFill>
            <a:srgbClr val="E0F2FE"/>
          </a:solidFill>
          <a:ln w="11430">
            <a:solidFill>
              <a:srgbClr val="7DD3FC"/>
            </a:solidFill>
            <a:prstDash val="solid"/>
          </a:ln>
        </p:spPr>
        <p:txBody>
          <a:bodyPr/>
          <a:lstStyle/>
          <a:p>
            <a:r>
              <a:rPr lang="ko-KR" altLang="en-US" sz="1400" dirty="0"/>
              <a:t>한국어대화 </a:t>
            </a:r>
            <a:r>
              <a:rPr lang="en-US" altLang="ko-KR" sz="1400" dirty="0"/>
              <a:t>+ </a:t>
            </a:r>
            <a:r>
              <a:rPr lang="ko-KR" altLang="en-US" sz="1400" dirty="0"/>
              <a:t>메이크업</a:t>
            </a:r>
            <a:r>
              <a:rPr lang="en-US" altLang="ko-KR" sz="1400" dirty="0"/>
              <a:t> </a:t>
            </a:r>
          </a:p>
          <a:p>
            <a:endParaRPr lang="en-US" altLang="ko-KR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학습 </a:t>
            </a:r>
            <a:r>
              <a:rPr lang="ko-KR" altLang="ko-KR" sz="1400" dirty="0"/>
              <a:t>512</a:t>
            </a:r>
            <a:r>
              <a:rPr lang="en-US" altLang="ko-KR" sz="1400" dirty="0"/>
              <a:t> </a:t>
            </a:r>
            <a:r>
              <a:rPr lang="ko-KR" altLang="en-US" sz="1400" dirty="0"/>
              <a:t>문장</a:t>
            </a:r>
            <a:r>
              <a:rPr lang="ko-KR" altLang="ko-KR" sz="1400" dirty="0"/>
              <a:t>,</a:t>
            </a:r>
            <a:r>
              <a:rPr lang="en-US" altLang="ko-KR" sz="1400" dirty="0"/>
              <a:t> </a:t>
            </a:r>
            <a:r>
              <a:rPr lang="ko-KR" altLang="en-US" sz="1400" dirty="0"/>
              <a:t>검증 </a:t>
            </a:r>
            <a:r>
              <a:rPr lang="ko-KR" altLang="ko-KR" sz="1400" dirty="0"/>
              <a:t>128</a:t>
            </a:r>
            <a:r>
              <a:rPr lang="en-US" altLang="ko-KR" sz="1400" dirty="0"/>
              <a:t> </a:t>
            </a:r>
            <a:r>
              <a:rPr lang="ko-KR" altLang="en-US" sz="1400" dirty="0"/>
              <a:t>문장</a:t>
            </a:r>
            <a:r>
              <a:rPr lang="en-US" altLang="ko-KR" sz="1400" dirty="0"/>
              <a:t>)</a:t>
            </a:r>
            <a:endParaRPr lang="ko-KR" altLang="ko-KR" sz="1400" dirty="0"/>
          </a:p>
          <a:p>
            <a:endParaRPr lang="ko-KR" altLang="en-US" sz="14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8E6CB4C0-AD5E-0EE8-6594-D9B2EAD36001}"/>
              </a:ext>
            </a:extLst>
          </p:cNvPr>
          <p:cNvSpPr/>
          <p:nvPr/>
        </p:nvSpPr>
        <p:spPr>
          <a:xfrm flipV="1">
            <a:off x="3756660" y="5276087"/>
            <a:ext cx="36042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86576CFF-FD29-4146-7CE6-BE52BFD3EB8E}"/>
              </a:ext>
            </a:extLst>
          </p:cNvPr>
          <p:cNvSpPr/>
          <p:nvPr/>
        </p:nvSpPr>
        <p:spPr>
          <a:xfrm>
            <a:off x="7490968" y="5353812"/>
            <a:ext cx="34747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CC76A99-0899-9772-7C3C-3A1D5A4925CA}"/>
              </a:ext>
            </a:extLst>
          </p:cNvPr>
          <p:cNvSpPr/>
          <p:nvPr/>
        </p:nvSpPr>
        <p:spPr>
          <a:xfrm>
            <a:off x="7490968" y="5341112"/>
            <a:ext cx="272288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AE728543-7368-74AE-7201-74B250B51FCA}"/>
              </a:ext>
            </a:extLst>
          </p:cNvPr>
          <p:cNvSpPr/>
          <p:nvPr/>
        </p:nvSpPr>
        <p:spPr>
          <a:xfrm>
            <a:off x="7490968" y="4609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 Small Dataset </a:t>
            </a:r>
            <a:r>
              <a:rPr lang="en-US" sz="1800" b="1" dirty="0" err="1">
                <a:solidFill>
                  <a:srgbClr val="0F172A"/>
                </a:solidFill>
              </a:rPr>
              <a:t>결과</a:t>
            </a:r>
            <a:endParaRPr lang="en-US" sz="18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E3FD4E6B-278A-6532-4708-BD11FC99E4B5}"/>
              </a:ext>
            </a:extLst>
          </p:cNvPr>
          <p:cNvSpPr/>
          <p:nvPr/>
        </p:nvSpPr>
        <p:spPr>
          <a:xfrm>
            <a:off x="7490968" y="5077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34155"/>
                </a:solidFill>
              </a:rPr>
              <a:t>epoch 61 · </a:t>
            </a:r>
            <a:r>
              <a:rPr lang="en-US" sz="1350" err="1">
                <a:solidFill>
                  <a:srgbClr val="334155"/>
                </a:solidFill>
              </a:rPr>
              <a:t>train_loss</a:t>
            </a:r>
            <a:r>
              <a:rPr lang="en-US" sz="1350">
                <a:solidFill>
                  <a:srgbClr val="334155"/>
                </a:solidFill>
              </a:rPr>
              <a:t> 0.958 · </a:t>
            </a:r>
            <a:r>
              <a:rPr lang="en-US" sz="1350" err="1">
                <a:solidFill>
                  <a:srgbClr val="334155"/>
                </a:solidFill>
              </a:rPr>
              <a:t>train_acc</a:t>
            </a:r>
            <a:r>
              <a:rPr lang="en-US" sz="1350">
                <a:solidFill>
                  <a:srgbClr val="334155"/>
                </a:solidFill>
              </a:rPr>
              <a:t> 0.7994</a:t>
            </a:r>
            <a:endParaRPr lang="en-US" sz="135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18418DD8-4DB1-9840-BD2E-66B4E9074367}"/>
              </a:ext>
            </a:extLst>
          </p:cNvPr>
          <p:cNvSpPr/>
          <p:nvPr/>
        </p:nvSpPr>
        <p:spPr>
          <a:xfrm>
            <a:off x="8430768" y="55194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79.94% train accuracy</a:t>
            </a:r>
            <a:endParaRPr lang="en-US" sz="130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5455FF11-CA6C-55AB-B629-55ED74D912CE}"/>
              </a:ext>
            </a:extLst>
          </p:cNvPr>
          <p:cNvSpPr/>
          <p:nvPr/>
        </p:nvSpPr>
        <p:spPr>
          <a:xfrm>
            <a:off x="7516368" y="5976112"/>
            <a:ext cx="3474720" cy="16459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890C7860-2107-0A1B-059F-6F01CD3D13E3}"/>
              </a:ext>
            </a:extLst>
          </p:cNvPr>
          <p:cNvSpPr/>
          <p:nvPr/>
        </p:nvSpPr>
        <p:spPr>
          <a:xfrm>
            <a:off x="7516368" y="5963412"/>
            <a:ext cx="2554732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8F91178F-0644-3A53-D08A-E14088383C2E}"/>
              </a:ext>
            </a:extLst>
          </p:cNvPr>
          <p:cNvSpPr/>
          <p:nvPr/>
        </p:nvSpPr>
        <p:spPr>
          <a:xfrm>
            <a:off x="7516368" y="5699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334155"/>
                </a:solidFill>
              </a:rPr>
              <a:t>epoch 61 · </a:t>
            </a:r>
            <a:r>
              <a:rPr lang="en-US" sz="1350" err="1">
                <a:solidFill>
                  <a:srgbClr val="334155"/>
                </a:solidFill>
              </a:rPr>
              <a:t>valid_loss</a:t>
            </a:r>
            <a:r>
              <a:rPr lang="en-US" sz="1350">
                <a:solidFill>
                  <a:srgbClr val="334155"/>
                </a:solidFill>
              </a:rPr>
              <a:t> 2.1846 · </a:t>
            </a:r>
            <a:r>
              <a:rPr lang="en-US" sz="1350" err="1">
                <a:solidFill>
                  <a:srgbClr val="334155"/>
                </a:solidFill>
              </a:rPr>
              <a:t>valid_acc</a:t>
            </a:r>
            <a:r>
              <a:rPr lang="en-US" sz="1350">
                <a:solidFill>
                  <a:srgbClr val="334155"/>
                </a:solidFill>
              </a:rPr>
              <a:t> 0.7288</a:t>
            </a:r>
            <a:endParaRPr lang="en-US" sz="135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E07EF0CF-62CD-10AD-DF5B-BCEFBD045AF7}"/>
              </a:ext>
            </a:extLst>
          </p:cNvPr>
          <p:cNvSpPr/>
          <p:nvPr/>
        </p:nvSpPr>
        <p:spPr>
          <a:xfrm>
            <a:off x="8456168" y="614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72.88% valid accuracy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확인된 사항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정상 동작은 확인, 품질 개선은 다음 단계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11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Results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868680" y="1444752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16152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Tokenizer 정상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868680" y="210312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16152" y="2075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Embedding 정상</a:t>
            </a:r>
            <a:endParaRPr lang="en-US" sz="1450"/>
          </a:p>
        </p:txBody>
      </p:sp>
      <p:sp>
        <p:nvSpPr>
          <p:cNvPr id="10" name="Shape 8"/>
          <p:cNvSpPr/>
          <p:nvPr/>
        </p:nvSpPr>
        <p:spPr>
          <a:xfrm>
            <a:off x="868680" y="2761488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16152" y="2734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334155"/>
                </a:solidFill>
              </a:rPr>
              <a:t>MiniGPT</a:t>
            </a:r>
            <a:r>
              <a:rPr lang="en-US" sz="1450" dirty="0">
                <a:solidFill>
                  <a:srgbClr val="334155"/>
                </a:solidFill>
              </a:rPr>
              <a:t> Forward </a:t>
            </a:r>
            <a:r>
              <a:rPr lang="en-US" sz="1450" dirty="0" err="1">
                <a:solidFill>
                  <a:srgbClr val="334155"/>
                </a:solidFill>
              </a:rPr>
              <a:t>정상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3419856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16152" y="3392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Loss 계산 정상</a:t>
            </a:r>
            <a:endParaRPr lang="en-US" sz="1450"/>
          </a:p>
        </p:txBody>
      </p:sp>
      <p:sp>
        <p:nvSpPr>
          <p:cNvPr id="14" name="Shape 12"/>
          <p:cNvSpPr/>
          <p:nvPr/>
        </p:nvSpPr>
        <p:spPr>
          <a:xfrm>
            <a:off x="6035040" y="1444752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82512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Backward 정상</a:t>
            </a:r>
            <a:endParaRPr lang="en-US" sz="145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82512" y="2075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Adam update 정상</a:t>
            </a:r>
            <a:endParaRPr lang="en-US" sz="1450"/>
          </a:p>
        </p:txBody>
      </p:sp>
      <p:sp>
        <p:nvSpPr>
          <p:cNvPr id="18" name="Shape 16"/>
          <p:cNvSpPr/>
          <p:nvPr/>
        </p:nvSpPr>
        <p:spPr>
          <a:xfrm>
            <a:off x="6035040" y="2761488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82512" y="2734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Checkpoint 저장 정상</a:t>
            </a:r>
            <a:endParaRPr lang="en-US" sz="145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82512" y="3392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DataLoader 반복 학습 정상</a:t>
            </a:r>
            <a:endParaRPr lang="en-US" sz="145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확인된 결론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2788920" y="460857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334155"/>
                </a:solidFill>
              </a:rPr>
              <a:t>MiniGPT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학습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파이프라인은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정상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동작하며</a:t>
            </a:r>
            <a:r>
              <a:rPr lang="en-US" sz="1450" dirty="0">
                <a:solidFill>
                  <a:srgbClr val="334155"/>
                </a:solidFill>
              </a:rPr>
              <a:t>, 9개 </a:t>
            </a:r>
            <a:r>
              <a:rPr lang="en-US" sz="1450" dirty="0" err="1">
                <a:solidFill>
                  <a:srgbClr val="334155"/>
                </a:solidFill>
              </a:rPr>
              <a:t>문장에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대해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거의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완전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암기에</a:t>
            </a:r>
            <a:r>
              <a:rPr lang="en-US" sz="1450" dirty="0">
                <a:solidFill>
                  <a:srgbClr val="334155"/>
                </a:solidFill>
              </a:rPr>
              <a:t> </a:t>
            </a:r>
            <a:r>
              <a:rPr lang="en-US" sz="1450" dirty="0" err="1">
                <a:solidFill>
                  <a:srgbClr val="334155"/>
                </a:solidFill>
              </a:rPr>
              <a:t>성공했다</a:t>
            </a:r>
            <a:r>
              <a:rPr lang="en-US" sz="1450" dirty="0">
                <a:solidFill>
                  <a:srgbClr val="334155"/>
                </a:solidFill>
              </a:rPr>
              <a:t>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5303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아직 불확실한 부분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3291840" y="534009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334155"/>
                </a:solidFill>
              </a:rPr>
              <a:t>새로운 질문 대응 성능, 실제 문장 생성 품질, 장문 context 손실 영향은 추가 평가가 필요하다.</a:t>
            </a:r>
            <a:endParaRPr lang="en-US" sz="145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한계점과 개선 방향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21792" y="86868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포맷, context_length, 학습 규모가 생성 품질에 직접 영향</a:t>
            </a:r>
            <a:endParaRPr lang="en-US" sz="1150"/>
          </a:p>
        </p:txBody>
      </p:sp>
      <p:sp>
        <p:nvSpPr>
          <p:cNvPr id="4" name="Text 2"/>
          <p:cNvSpPr/>
          <p:nvPr/>
        </p:nvSpPr>
        <p:spPr>
          <a:xfrm>
            <a:off x="10561320" y="3657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563EB"/>
                </a:solidFill>
              </a:rPr>
              <a:t>12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0314432" y="8046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4748B"/>
                </a:solidFill>
              </a:rPr>
              <a:t>Next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143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153619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1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메이크업 문장 일부는 512 token을 초과할 수 있음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길이 분포 분석 후 context_length 조정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4160520" y="1874520"/>
            <a:ext cx="365760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274320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620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2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태그가 많으면 작은 모델이 태그 순서를 외울 수 있음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86207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&lt;질문&gt;, &lt;답변&gt;, &lt;EOS&gt; 중심으로 단순화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4160520" y="3200400"/>
            <a:ext cx="3657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143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18795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3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 성공은 일반화 성능을 보장하지 않음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4572000" y="4069080"/>
            <a:ext cx="32004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9160" y="418795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1250"/>
          </a:p>
          <a:p>
            <a:pPr marL="0" indent="0" algn="ctr">
              <a:buNone/>
            </a:pPr>
            <a:r>
              <a:rPr lang="en-US" sz="1250" b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train/valid 분리, 생성 샘플 평가, temperature 비교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4160520" y="4526280"/>
            <a:ext cx="3657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54964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확장 방향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8577072" y="1874520"/>
            <a:ext cx="256032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2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RAG 연동
• Vector DB 구축
• 이미지 분류 모델 연동
• 도메인 Fine-tuning
• 추론 품질 평가 자동화</a:t>
            </a:r>
            <a:endParaRPr lang="en-US" sz="142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804672" y="14173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Decoder-only SLM을 직접 구현하면서 데이터 → tokenizer → embedding → attention → 학습 → 추론의 전체 흐름을 검증했습니다.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914400" y="30632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318211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Transformer block을 PyTorch로 직접 작성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480560" y="30632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617720" y="318211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데이터 과적합으로 학습 파이프라인 확인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8046720" y="3063240"/>
            <a:ext cx="292608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143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183880" y="318211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E0F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RAG·Agent·멀티모달 기반으로 확장 가능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68680" y="5669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93C5FD"/>
                </a:solidFill>
              </a:rPr>
              <a:t>Thank you</a:t>
            </a:r>
            <a:endParaRPr lang="en-US" sz="2300"/>
          </a:p>
        </p:txBody>
      </p:sp>
      <p:sp>
        <p:nvSpPr>
          <p:cNvPr id="11" name="Text 9"/>
          <p:cNvSpPr/>
          <p:nvPr/>
        </p:nvSpPr>
        <p:spPr>
          <a:xfrm>
            <a:off x="3429000" y="58795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BD5E1"/>
                </a:solidFill>
              </a:rPr>
              <a:t>mijeong.roh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a93e96-c3c4-48da-9cdf-4bc5881d5a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F60B090A467847AF155E90933FC242" ma:contentTypeVersion="11" ma:contentTypeDescription="Create a new document." ma:contentTypeScope="" ma:versionID="f97a3efd64616c58aef96d2c04b586c9">
  <xsd:schema xmlns:xsd="http://www.w3.org/2001/XMLSchema" xmlns:xs="http://www.w3.org/2001/XMLSchema" xmlns:p="http://schemas.microsoft.com/office/2006/metadata/properties" xmlns:ns3="daa93e96-c3c4-48da-9cdf-4bc5881d5a31" targetNamespace="http://schemas.microsoft.com/office/2006/metadata/properties" ma:root="true" ma:fieldsID="a668bfaf28ff6bb4f66b7e643df7bfaa" ns3:_="">
    <xsd:import namespace="daa93e96-c3c4-48da-9cdf-4bc5881d5a3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93e96-c3c4-48da-9cdf-4bc5881d5a3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E82C75-147C-42BF-8464-5C6EF57A0A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DCF7A3-BF8A-439B-8A81-F4AED00E1FCA}">
  <ds:schemaRefs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daa93e96-c3c4-48da-9cdf-4bc5881d5a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6B8B64-A98B-48E9-A832-A9E08DAEA8A4}">
  <ds:schemaRefs>
    <ds:schemaRef ds:uri="daa93e96-c3c4-48da-9cdf-4bc5881d5a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2310</Words>
  <Application>Microsoft Office PowerPoint</Application>
  <PresentationFormat>와이드스크린</PresentationFormat>
  <Paragraphs>345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withlion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메이크업·피부 데이터 기반 Decoder-only SLM</dc:title>
  <dc:subject>Decoder-only SLM project presentation</dc:subject>
  <dc:creator>mijeong.roh</dc:creator>
  <cp:lastModifiedBy>노미정</cp:lastModifiedBy>
  <cp:revision>8</cp:revision>
  <dcterms:created xsi:type="dcterms:W3CDTF">2026-06-25T08:19:05Z</dcterms:created>
  <dcterms:modified xsi:type="dcterms:W3CDTF">2026-09-03T15:14:55Z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0x0101000DF60B090A467847AF155E90933FC242</vt:lpwstr>
  </property>
</Properties>
</file>